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3004800" cy="9753600"/>
  <p:notesSz cx="13004800" cy="97536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>
      <p:cViewPr varScale="1">
        <p:scale>
          <a:sx n="87" d="100"/>
          <a:sy n="87" d="100"/>
        </p:scale>
        <p:origin x="1856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58" d="100"/>
          <a:sy n="58" d="100"/>
        </p:scale>
        <p:origin x="-920" y="-104"/>
      </p:cViewPr>
      <p:guideLst>
        <p:guide orient="horz" pos="3072"/>
        <p:guide pos="409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635625" cy="487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7366000" y="0"/>
            <a:ext cx="5635625" cy="487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55C1A5-C607-474E-863F-66D464E0257A}" type="datetimeFigureOut">
              <a:rPr lang="es-ES" smtClean="0"/>
              <a:t>1/3/21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264650"/>
            <a:ext cx="5635625" cy="4873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7366000" y="9264650"/>
            <a:ext cx="5635625" cy="4873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9732E2-67E4-D040-BA6A-F9B3DE9700D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04161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635625" cy="487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7366000" y="0"/>
            <a:ext cx="5635625" cy="487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0AB27-FBF3-6C4E-A3A8-899841B8C3D9}" type="datetimeFigureOut">
              <a:rPr lang="es-ES" smtClean="0"/>
              <a:t>1/3/21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0" y="731838"/>
            <a:ext cx="4876800" cy="3657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300163" y="4632325"/>
            <a:ext cx="10404475" cy="43894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5635625" cy="4873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7366000" y="9264650"/>
            <a:ext cx="5635625" cy="4873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1BF55-485C-B144-8884-D24F18AEF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1069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5360" y="3023616"/>
            <a:ext cx="1105408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5462016"/>
            <a:ext cx="910336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6C6C6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110" dirty="0"/>
              <a:t>© </a:t>
            </a:r>
            <a:r>
              <a:rPr spc="-5" dirty="0"/>
              <a:t>Imagina</a:t>
            </a:r>
            <a:r>
              <a:rPr spc="-180" dirty="0"/>
              <a:t> </a:t>
            </a:r>
            <a:r>
              <a:rPr spc="5" dirty="0"/>
              <a:t>Formación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6C6C6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110" dirty="0"/>
              <a:t>© </a:t>
            </a:r>
            <a:r>
              <a:rPr spc="-5" dirty="0"/>
              <a:t>Imagina</a:t>
            </a:r>
            <a:r>
              <a:rPr spc="-180" dirty="0"/>
              <a:t> </a:t>
            </a:r>
            <a:r>
              <a:rPr spc="5" dirty="0"/>
              <a:t>Formación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6C6C6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110" dirty="0"/>
              <a:t>© </a:t>
            </a:r>
            <a:r>
              <a:rPr spc="-5" dirty="0"/>
              <a:t>Imagina</a:t>
            </a:r>
            <a:r>
              <a:rPr spc="-180" dirty="0"/>
              <a:t> </a:t>
            </a:r>
            <a:r>
              <a:rPr spc="5" dirty="0"/>
              <a:t>Formación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6C6C6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110" dirty="0"/>
              <a:t>© </a:t>
            </a:r>
            <a:r>
              <a:rPr spc="-5" dirty="0"/>
              <a:t>Imagina</a:t>
            </a:r>
            <a:r>
              <a:rPr spc="-180" dirty="0"/>
              <a:t> </a:t>
            </a:r>
            <a:r>
              <a:rPr spc="5" dirty="0"/>
              <a:t>Formación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6C6C6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110" dirty="0"/>
              <a:t>© </a:t>
            </a:r>
            <a:r>
              <a:rPr spc="-5" dirty="0"/>
              <a:t>Imagina</a:t>
            </a:r>
            <a:r>
              <a:rPr spc="-180" dirty="0"/>
              <a:t> </a:t>
            </a:r>
            <a:r>
              <a:rPr spc="5" dirty="0"/>
              <a:t>Formación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75125" y="1104900"/>
            <a:ext cx="465455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55290" y="4104640"/>
            <a:ext cx="7094219" cy="269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496270" y="9236431"/>
            <a:ext cx="2232659" cy="292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C6C6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110" dirty="0"/>
              <a:t>© </a:t>
            </a:r>
            <a:r>
              <a:rPr spc="-5" dirty="0"/>
              <a:t>Imagina</a:t>
            </a:r>
            <a:r>
              <a:rPr spc="-180" dirty="0"/>
              <a:t> </a:t>
            </a:r>
            <a:r>
              <a:rPr spc="5" dirty="0"/>
              <a:t>Formación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63456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2400" y="3492500"/>
            <a:ext cx="525081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3600" spc="-15" dirty="0"/>
              <a:t>TypeScript</a:t>
            </a:r>
            <a:endParaRPr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8900" y="1104900"/>
            <a:ext cx="26797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15" dirty="0"/>
              <a:t>T</a:t>
            </a:r>
            <a:r>
              <a:rPr spc="50" dirty="0"/>
              <a:t>ypeScript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300" y="2520950"/>
            <a:ext cx="10389870" cy="3126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0" indent="-215900">
              <a:lnSpc>
                <a:spcPct val="100000"/>
              </a:lnSpc>
              <a:spcBef>
                <a:spcPts val="100"/>
              </a:spcBef>
              <a:buChar char="•"/>
              <a:tabLst>
                <a:tab pos="228600" algn="l"/>
              </a:tabLst>
            </a:pPr>
            <a:r>
              <a:rPr sz="2350" dirty="0">
                <a:latin typeface="Arial"/>
                <a:cs typeface="Arial"/>
              </a:rPr>
              <a:t>Como hemos </a:t>
            </a:r>
            <a:r>
              <a:rPr sz="2350" spc="-5" dirty="0">
                <a:latin typeface="Arial"/>
                <a:cs typeface="Arial"/>
              </a:rPr>
              <a:t>visto, </a:t>
            </a:r>
            <a:r>
              <a:rPr sz="2350" dirty="0">
                <a:latin typeface="Arial"/>
                <a:cs typeface="Arial"/>
              </a:rPr>
              <a:t>ES6 es la versión </a:t>
            </a:r>
            <a:r>
              <a:rPr sz="2350" spc="-5" dirty="0">
                <a:latin typeface="Arial"/>
                <a:cs typeface="Arial"/>
              </a:rPr>
              <a:t>actual </a:t>
            </a:r>
            <a:r>
              <a:rPr sz="2350" dirty="0">
                <a:latin typeface="Arial"/>
                <a:cs typeface="Arial"/>
              </a:rPr>
              <a:t>de</a:t>
            </a:r>
            <a:r>
              <a:rPr sz="2350" spc="-5" dirty="0">
                <a:latin typeface="Arial"/>
                <a:cs typeface="Arial"/>
              </a:rPr>
              <a:t> Javascript.</a:t>
            </a:r>
            <a:endParaRPr sz="2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228600" marR="5080" indent="-215900">
              <a:lnSpc>
                <a:spcPts val="2700"/>
              </a:lnSpc>
              <a:buChar char="•"/>
              <a:tabLst>
                <a:tab pos="228600" algn="l"/>
              </a:tabLst>
            </a:pPr>
            <a:r>
              <a:rPr sz="2350" spc="-15" dirty="0">
                <a:latin typeface="Arial"/>
                <a:cs typeface="Arial"/>
              </a:rPr>
              <a:t>TypeScript </a:t>
            </a:r>
            <a:r>
              <a:rPr sz="2350" dirty="0">
                <a:latin typeface="Arial"/>
                <a:cs typeface="Arial"/>
              </a:rPr>
              <a:t>es un </a:t>
            </a:r>
            <a:r>
              <a:rPr sz="2350" spc="-5" dirty="0">
                <a:latin typeface="Arial"/>
                <a:cs typeface="Arial"/>
              </a:rPr>
              <a:t>subconjunto </a:t>
            </a:r>
            <a:r>
              <a:rPr sz="2350" dirty="0">
                <a:latin typeface="Arial"/>
                <a:cs typeface="Arial"/>
              </a:rPr>
              <a:t>de ES6, lo que </a:t>
            </a:r>
            <a:r>
              <a:rPr sz="2350" spc="-5" dirty="0">
                <a:latin typeface="Arial"/>
                <a:cs typeface="Arial"/>
              </a:rPr>
              <a:t>significa </a:t>
            </a:r>
            <a:r>
              <a:rPr sz="2350" dirty="0">
                <a:latin typeface="Arial"/>
                <a:cs typeface="Arial"/>
              </a:rPr>
              <a:t>que </a:t>
            </a:r>
            <a:r>
              <a:rPr sz="2350" spc="-5" dirty="0">
                <a:latin typeface="Arial"/>
                <a:cs typeface="Arial"/>
              </a:rPr>
              <a:t>todas </a:t>
            </a:r>
            <a:r>
              <a:rPr sz="2350" dirty="0">
                <a:latin typeface="Arial"/>
                <a:cs typeface="Arial"/>
              </a:rPr>
              <a:t>las  </a:t>
            </a:r>
            <a:r>
              <a:rPr sz="2350" spc="-5" dirty="0">
                <a:latin typeface="Arial"/>
                <a:cs typeface="Arial"/>
              </a:rPr>
              <a:t>características </a:t>
            </a:r>
            <a:r>
              <a:rPr sz="2350" dirty="0">
                <a:latin typeface="Arial"/>
                <a:cs typeface="Arial"/>
              </a:rPr>
              <a:t>de ES6 se </a:t>
            </a:r>
            <a:r>
              <a:rPr sz="2350" spc="-5" dirty="0">
                <a:latin typeface="Arial"/>
                <a:cs typeface="Arial"/>
              </a:rPr>
              <a:t>encuentran implementadas </a:t>
            </a:r>
            <a:r>
              <a:rPr sz="2350" dirty="0">
                <a:latin typeface="Arial"/>
                <a:cs typeface="Arial"/>
              </a:rPr>
              <a:t>en </a:t>
            </a:r>
            <a:r>
              <a:rPr sz="2350" spc="-15" dirty="0">
                <a:latin typeface="Arial"/>
                <a:cs typeface="Arial"/>
              </a:rPr>
              <a:t>TypeScript, </a:t>
            </a:r>
            <a:r>
              <a:rPr sz="2350" dirty="0">
                <a:latin typeface="Arial"/>
                <a:cs typeface="Arial"/>
              </a:rPr>
              <a:t>pero no  </a:t>
            </a:r>
            <a:r>
              <a:rPr sz="2350" spc="-5" dirty="0">
                <a:latin typeface="Arial"/>
                <a:cs typeface="Arial"/>
              </a:rPr>
              <a:t>todas </a:t>
            </a:r>
            <a:r>
              <a:rPr sz="2350" dirty="0">
                <a:latin typeface="Arial"/>
                <a:cs typeface="Arial"/>
              </a:rPr>
              <a:t>las </a:t>
            </a:r>
            <a:r>
              <a:rPr sz="2350" spc="-5" dirty="0">
                <a:latin typeface="Arial"/>
                <a:cs typeface="Arial"/>
              </a:rPr>
              <a:t>características </a:t>
            </a:r>
            <a:r>
              <a:rPr sz="2350" dirty="0">
                <a:latin typeface="Arial"/>
                <a:cs typeface="Arial"/>
              </a:rPr>
              <a:t>de </a:t>
            </a:r>
            <a:r>
              <a:rPr sz="2350" spc="-15" dirty="0">
                <a:latin typeface="Arial"/>
                <a:cs typeface="Arial"/>
              </a:rPr>
              <a:t>TypeScript </a:t>
            </a:r>
            <a:r>
              <a:rPr sz="2350" dirty="0">
                <a:latin typeface="Arial"/>
                <a:cs typeface="Arial"/>
              </a:rPr>
              <a:t>las </a:t>
            </a:r>
            <a:r>
              <a:rPr sz="2350" spc="-5" dirty="0">
                <a:latin typeface="Arial"/>
                <a:cs typeface="Arial"/>
              </a:rPr>
              <a:t>encontramos </a:t>
            </a:r>
            <a:r>
              <a:rPr sz="2350" dirty="0">
                <a:latin typeface="Arial"/>
                <a:cs typeface="Arial"/>
              </a:rPr>
              <a:t>en</a:t>
            </a:r>
            <a:r>
              <a:rPr sz="2350" spc="-35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ES6.</a:t>
            </a:r>
            <a:endParaRPr sz="2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"/>
              <a:buChar char="•"/>
            </a:pPr>
            <a:endParaRPr sz="2300">
              <a:latin typeface="Times New Roman"/>
              <a:cs typeface="Times New Roman"/>
            </a:endParaRPr>
          </a:p>
          <a:p>
            <a:pPr marL="228600" marR="287020" indent="-215900">
              <a:lnSpc>
                <a:spcPts val="2700"/>
              </a:lnSpc>
              <a:buChar char="•"/>
              <a:tabLst>
                <a:tab pos="228600" algn="l"/>
              </a:tabLst>
            </a:pPr>
            <a:r>
              <a:rPr sz="2350" dirty="0">
                <a:latin typeface="Arial"/>
                <a:cs typeface="Arial"/>
              </a:rPr>
              <a:t>Por eso, para poder </a:t>
            </a:r>
            <a:r>
              <a:rPr sz="2350" spc="-5" dirty="0">
                <a:latin typeface="Arial"/>
                <a:cs typeface="Arial"/>
              </a:rPr>
              <a:t>trabajar </a:t>
            </a:r>
            <a:r>
              <a:rPr sz="2350" dirty="0">
                <a:latin typeface="Arial"/>
                <a:cs typeface="Arial"/>
              </a:rPr>
              <a:t>con </a:t>
            </a:r>
            <a:r>
              <a:rPr sz="2350" spc="-15" dirty="0">
                <a:latin typeface="Arial"/>
                <a:cs typeface="Arial"/>
              </a:rPr>
              <a:t>TypeScript, </a:t>
            </a:r>
            <a:r>
              <a:rPr sz="2350" dirty="0">
                <a:latin typeface="Arial"/>
                <a:cs typeface="Arial"/>
              </a:rPr>
              <a:t>debemos </a:t>
            </a:r>
            <a:r>
              <a:rPr sz="2350" spc="-5" dirty="0">
                <a:latin typeface="Arial"/>
                <a:cs typeface="Arial"/>
              </a:rPr>
              <a:t>transformar nuestro  </a:t>
            </a:r>
            <a:r>
              <a:rPr sz="2350" dirty="0">
                <a:latin typeface="Arial"/>
                <a:cs typeface="Arial"/>
              </a:rPr>
              <a:t>código a ES5, para que pueda ser </a:t>
            </a:r>
            <a:r>
              <a:rPr sz="2350" spc="-5" dirty="0">
                <a:latin typeface="Arial"/>
                <a:cs typeface="Arial"/>
              </a:rPr>
              <a:t>ejecutado </a:t>
            </a:r>
            <a:r>
              <a:rPr sz="2350" dirty="0">
                <a:latin typeface="Arial"/>
                <a:cs typeface="Arial"/>
              </a:rPr>
              <a:t>por la </a:t>
            </a:r>
            <a:r>
              <a:rPr sz="2350" spc="-5" dirty="0">
                <a:latin typeface="Arial"/>
                <a:cs typeface="Arial"/>
              </a:rPr>
              <a:t>mayoría </a:t>
            </a:r>
            <a:r>
              <a:rPr sz="2350" dirty="0">
                <a:latin typeface="Arial"/>
                <a:cs typeface="Arial"/>
              </a:rPr>
              <a:t>de los  navegadores.</a:t>
            </a:r>
            <a:endParaRPr sz="2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8900" y="1104900"/>
            <a:ext cx="26797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15" dirty="0"/>
              <a:t>T</a:t>
            </a:r>
            <a:r>
              <a:rPr spc="50" dirty="0"/>
              <a:t>ypeScript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300" y="2527300"/>
            <a:ext cx="10138410" cy="26162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41300" marR="941069" indent="-228600">
              <a:lnSpc>
                <a:spcPts val="2900"/>
              </a:lnSpc>
              <a:spcBef>
                <a:spcPts val="280"/>
              </a:spcBef>
              <a:buChar char="•"/>
              <a:tabLst>
                <a:tab pos="241300" algn="l"/>
              </a:tabLst>
            </a:pPr>
            <a:r>
              <a:rPr sz="2500" dirty="0">
                <a:latin typeface="Arial"/>
                <a:cs typeface="Arial"/>
              </a:rPr>
              <a:t>Una de las </a:t>
            </a:r>
            <a:r>
              <a:rPr sz="2500" spc="-5" dirty="0">
                <a:latin typeface="Arial"/>
                <a:cs typeface="Arial"/>
              </a:rPr>
              <a:t>características </a:t>
            </a:r>
            <a:r>
              <a:rPr sz="2500" dirty="0">
                <a:latin typeface="Arial"/>
                <a:cs typeface="Arial"/>
              </a:rPr>
              <a:t>más </a:t>
            </a:r>
            <a:r>
              <a:rPr sz="2500" spc="-5" dirty="0">
                <a:latin typeface="Arial"/>
                <a:cs typeface="Arial"/>
              </a:rPr>
              <a:t>importantes </a:t>
            </a:r>
            <a:r>
              <a:rPr sz="2500" dirty="0">
                <a:latin typeface="Arial"/>
                <a:cs typeface="Arial"/>
              </a:rPr>
              <a:t>en el desarrollo con  </a:t>
            </a:r>
            <a:r>
              <a:rPr sz="2500" spc="-15" dirty="0">
                <a:latin typeface="Arial"/>
                <a:cs typeface="Arial"/>
              </a:rPr>
              <a:t>TypeScript </a:t>
            </a:r>
            <a:r>
              <a:rPr sz="2500" dirty="0">
                <a:latin typeface="Arial"/>
                <a:cs typeface="Arial"/>
              </a:rPr>
              <a:t>es la inclusión del </a:t>
            </a:r>
            <a:r>
              <a:rPr sz="2500" spc="-5" dirty="0">
                <a:latin typeface="Arial"/>
                <a:cs typeface="Arial"/>
              </a:rPr>
              <a:t>tipo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i="1" spc="-5" dirty="0">
                <a:latin typeface="Arial"/>
                <a:cs typeface="Arial"/>
              </a:rPr>
              <a:t>information</a:t>
            </a:r>
            <a:r>
              <a:rPr sz="2500" spc="-5" dirty="0">
                <a:latin typeface="Arial"/>
                <a:cs typeface="Arial"/>
              </a:rPr>
              <a:t>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2900"/>
              </a:lnSpc>
              <a:buChar char="•"/>
              <a:tabLst>
                <a:tab pos="241300" algn="l"/>
              </a:tabLst>
            </a:pPr>
            <a:r>
              <a:rPr sz="2500" spc="-5" dirty="0">
                <a:latin typeface="Arial"/>
                <a:cs typeface="Arial"/>
              </a:rPr>
              <a:t>Este tipo permite </a:t>
            </a:r>
            <a:r>
              <a:rPr sz="2500" dirty="0">
                <a:latin typeface="Arial"/>
                <a:cs typeface="Arial"/>
              </a:rPr>
              <a:t>la creación de un código mucho más predecible y</a:t>
            </a:r>
            <a:r>
              <a:rPr sz="2500" spc="-3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de  </a:t>
            </a:r>
            <a:r>
              <a:rPr sz="2500" spc="-5" dirty="0">
                <a:latin typeface="Arial"/>
                <a:cs typeface="Arial"/>
              </a:rPr>
              <a:t>fácil lectura.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23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sz="2500" dirty="0">
                <a:latin typeface="Arial"/>
                <a:cs typeface="Arial"/>
              </a:rPr>
              <a:t>Por ejemplo, la declaración de </a:t>
            </a:r>
            <a:r>
              <a:rPr sz="2500" spc="-5" dirty="0">
                <a:latin typeface="Arial"/>
                <a:cs typeface="Arial"/>
              </a:rPr>
              <a:t>funciones </a:t>
            </a:r>
            <a:r>
              <a:rPr sz="2500" dirty="0">
                <a:latin typeface="Arial"/>
                <a:cs typeface="Arial"/>
              </a:rPr>
              <a:t>es mucho más</a:t>
            </a:r>
            <a:r>
              <a:rPr sz="2500" spc="-3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explícita.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29100" y="6098540"/>
            <a:ext cx="4415155" cy="1358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9400"/>
              </a:lnSpc>
              <a:spcBef>
                <a:spcPts val="100"/>
              </a:spcBef>
            </a:pP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function </a:t>
            </a:r>
            <a:r>
              <a:rPr sz="1600" dirty="0">
                <a:latin typeface="Courier New"/>
                <a:cs typeface="Courier New"/>
              </a:rPr>
              <a:t>add(a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: </a:t>
            </a:r>
            <a:r>
              <a:rPr sz="1600" spc="-5" dirty="0">
                <a:latin typeface="Courier New"/>
                <a:cs typeface="Courier New"/>
              </a:rPr>
              <a:t>number, </a:t>
            </a:r>
            <a:r>
              <a:rPr sz="1600" dirty="0">
                <a:latin typeface="Courier New"/>
                <a:cs typeface="Courier New"/>
              </a:rPr>
              <a:t>b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: </a:t>
            </a:r>
            <a:r>
              <a:rPr sz="1600" spc="-5" dirty="0">
                <a:latin typeface="Courier New"/>
                <a:cs typeface="Courier New"/>
              </a:rPr>
              <a:t>number)</a:t>
            </a:r>
            <a:r>
              <a:rPr sz="1600" spc="-9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{  </a:t>
            </a: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return </a:t>
            </a:r>
            <a:r>
              <a:rPr sz="1600" dirty="0">
                <a:latin typeface="Courier New"/>
                <a:cs typeface="Courier New"/>
              </a:rPr>
              <a:t>a 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+</a:t>
            </a:r>
            <a:r>
              <a:rPr sz="1600" spc="-15" dirty="0">
                <a:solidFill>
                  <a:srgbClr val="D971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b;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60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ourier New"/>
                <a:cs typeface="Courier New"/>
              </a:rPr>
              <a:t>add(</a:t>
            </a:r>
            <a:r>
              <a:rPr sz="1600" dirty="0">
                <a:solidFill>
                  <a:srgbClr val="0329D8"/>
                </a:solidFill>
                <a:latin typeface="Courier New"/>
                <a:cs typeface="Courier New"/>
              </a:rPr>
              <a:t>1</a:t>
            </a:r>
            <a:r>
              <a:rPr sz="1600" dirty="0">
                <a:latin typeface="Courier New"/>
                <a:cs typeface="Courier New"/>
              </a:rPr>
              <a:t>, </a:t>
            </a:r>
            <a:r>
              <a:rPr sz="1600" spc="-5" dirty="0">
                <a:solidFill>
                  <a:srgbClr val="0329D8"/>
                </a:solidFill>
                <a:latin typeface="Courier New"/>
                <a:cs typeface="Courier New"/>
              </a:rPr>
              <a:t>3</a:t>
            </a:r>
            <a:r>
              <a:rPr sz="1600" spc="-5" dirty="0">
                <a:latin typeface="Courier New"/>
                <a:cs typeface="Courier New"/>
              </a:rPr>
              <a:t>); </a:t>
            </a:r>
            <a:r>
              <a:rPr sz="1600" spc="-5" dirty="0">
                <a:solidFill>
                  <a:srgbClr val="A16C00"/>
                </a:solidFill>
                <a:latin typeface="Courier New"/>
                <a:cs typeface="Courier New"/>
              </a:rPr>
              <a:t>//</a:t>
            </a:r>
            <a:r>
              <a:rPr sz="1600" spc="-85" dirty="0">
                <a:solidFill>
                  <a:srgbClr val="A16C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A16C00"/>
                </a:solidFill>
                <a:latin typeface="Courier New"/>
                <a:cs typeface="Courier New"/>
              </a:rPr>
              <a:t>4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81500" y="1104900"/>
            <a:ext cx="42322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TypeScript </a:t>
            </a:r>
            <a:r>
              <a:rPr dirty="0"/>
              <a:t>-</a:t>
            </a:r>
            <a:r>
              <a:rPr spc="-55" dirty="0"/>
              <a:t> </a:t>
            </a:r>
            <a:r>
              <a:rPr spc="-165" dirty="0"/>
              <a:t>TSC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74191" y="2806700"/>
            <a:ext cx="9580880" cy="25019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36854" marR="5080" indent="-224154">
              <a:lnSpc>
                <a:spcPts val="2900"/>
              </a:lnSpc>
              <a:spcBef>
                <a:spcPts val="280"/>
              </a:spcBef>
              <a:buChar char="•"/>
              <a:tabLst>
                <a:tab pos="237490" algn="l"/>
              </a:tabLst>
            </a:pPr>
            <a:r>
              <a:rPr sz="2500" dirty="0">
                <a:latin typeface="Arial"/>
                <a:cs typeface="Arial"/>
              </a:rPr>
              <a:t>Para poder compilar </a:t>
            </a:r>
            <a:r>
              <a:rPr sz="2500" spc="-5" dirty="0">
                <a:latin typeface="Arial"/>
                <a:cs typeface="Arial"/>
              </a:rPr>
              <a:t>nuestras </a:t>
            </a:r>
            <a:r>
              <a:rPr sz="2500" dirty="0">
                <a:latin typeface="Arial"/>
                <a:cs typeface="Arial"/>
              </a:rPr>
              <a:t>aplicaciones creadas en</a:t>
            </a:r>
            <a:r>
              <a:rPr sz="2500" spc="-110" dirty="0">
                <a:latin typeface="Arial"/>
                <a:cs typeface="Arial"/>
              </a:rPr>
              <a:t> </a:t>
            </a:r>
            <a:r>
              <a:rPr sz="2500" spc="-15" dirty="0">
                <a:latin typeface="Arial"/>
                <a:cs typeface="Arial"/>
              </a:rPr>
              <a:t>TypeScript,  </a:t>
            </a:r>
            <a:r>
              <a:rPr sz="2500" spc="-5" dirty="0">
                <a:latin typeface="Arial"/>
                <a:cs typeface="Arial"/>
              </a:rPr>
              <a:t>necesitamos </a:t>
            </a:r>
            <a:r>
              <a:rPr sz="2500" dirty="0">
                <a:latin typeface="Arial"/>
                <a:cs typeface="Arial"/>
              </a:rPr>
              <a:t>usar el comando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b="1" spc="-5" dirty="0">
                <a:latin typeface="Arial"/>
                <a:cs typeface="Arial"/>
              </a:rPr>
              <a:t>tsc</a:t>
            </a:r>
            <a:r>
              <a:rPr sz="2500" spc="-5" dirty="0">
                <a:latin typeface="Arial"/>
                <a:cs typeface="Arial"/>
              </a:rPr>
              <a:t>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2350">
              <a:latin typeface="Times New Roman"/>
              <a:cs typeface="Times New Roman"/>
            </a:endParaRPr>
          </a:p>
          <a:p>
            <a:pPr marL="236854" indent="-224154">
              <a:lnSpc>
                <a:spcPct val="100000"/>
              </a:lnSpc>
              <a:buChar char="•"/>
              <a:tabLst>
                <a:tab pos="237490" algn="l"/>
              </a:tabLst>
            </a:pPr>
            <a:r>
              <a:rPr sz="2500" dirty="0">
                <a:latin typeface="Arial"/>
                <a:cs typeface="Arial"/>
              </a:rPr>
              <a:t>Podemos </a:t>
            </a:r>
            <a:r>
              <a:rPr sz="2500" spc="-5" dirty="0">
                <a:latin typeface="Arial"/>
                <a:cs typeface="Arial"/>
              </a:rPr>
              <a:t>instalarlo </a:t>
            </a:r>
            <a:r>
              <a:rPr sz="2500" dirty="0">
                <a:latin typeface="Arial"/>
                <a:cs typeface="Arial"/>
              </a:rPr>
              <a:t>para su uso local a </a:t>
            </a:r>
            <a:r>
              <a:rPr sz="2500" spc="-5" dirty="0">
                <a:latin typeface="Arial"/>
                <a:cs typeface="Arial"/>
              </a:rPr>
              <a:t>través </a:t>
            </a:r>
            <a:r>
              <a:rPr sz="2500" dirty="0">
                <a:latin typeface="Arial"/>
                <a:cs typeface="Arial"/>
              </a:rPr>
              <a:t>de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NPM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150">
              <a:latin typeface="Times New Roman"/>
              <a:cs typeface="Times New Roman"/>
            </a:endParaRPr>
          </a:p>
          <a:p>
            <a:pPr marL="3183255">
              <a:lnSpc>
                <a:spcPct val="100000"/>
              </a:lnSpc>
            </a:pPr>
            <a:r>
              <a:rPr sz="2500" b="1" spc="-5" dirty="0">
                <a:latin typeface="Arial"/>
                <a:cs typeface="Arial"/>
              </a:rPr>
              <a:t>npm install </a:t>
            </a:r>
            <a:r>
              <a:rPr sz="2500" b="1" dirty="0">
                <a:latin typeface="Arial"/>
                <a:cs typeface="Arial"/>
              </a:rPr>
              <a:t>-g</a:t>
            </a:r>
            <a:r>
              <a:rPr sz="2500" b="1" spc="-5" dirty="0">
                <a:latin typeface="Arial"/>
                <a:cs typeface="Arial"/>
              </a:rPr>
              <a:t> typescript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7300" y="6324600"/>
            <a:ext cx="9943465" cy="18161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41300" marR="5080" indent="-228600">
              <a:lnSpc>
                <a:spcPts val="2900"/>
              </a:lnSpc>
              <a:spcBef>
                <a:spcPts val="280"/>
              </a:spcBef>
              <a:buChar char="•"/>
              <a:tabLst>
                <a:tab pos="241300" algn="l"/>
              </a:tabLst>
            </a:pPr>
            <a:r>
              <a:rPr sz="2500" dirty="0">
                <a:latin typeface="Arial"/>
                <a:cs typeface="Arial"/>
              </a:rPr>
              <a:t>Si la </a:t>
            </a:r>
            <a:r>
              <a:rPr sz="2500" spc="-5" dirty="0">
                <a:latin typeface="Arial"/>
                <a:cs typeface="Arial"/>
              </a:rPr>
              <a:t>instalación </a:t>
            </a:r>
            <a:r>
              <a:rPr sz="2500" dirty="0">
                <a:latin typeface="Arial"/>
                <a:cs typeface="Arial"/>
              </a:rPr>
              <a:t>se </a:t>
            </a:r>
            <a:r>
              <a:rPr sz="2500" spc="-5" dirty="0">
                <a:latin typeface="Arial"/>
                <a:cs typeface="Arial"/>
              </a:rPr>
              <a:t>completa correctamente, </a:t>
            </a:r>
            <a:r>
              <a:rPr sz="2500" dirty="0">
                <a:latin typeface="Arial"/>
                <a:cs typeface="Arial"/>
              </a:rPr>
              <a:t>vamos a poder compilar  </a:t>
            </a:r>
            <a:r>
              <a:rPr sz="2500" spc="-5" dirty="0">
                <a:latin typeface="Arial"/>
                <a:cs typeface="Arial"/>
              </a:rPr>
              <a:t>nuestros ficheros </a:t>
            </a:r>
            <a:r>
              <a:rPr sz="2500" spc="-15" dirty="0">
                <a:latin typeface="Arial"/>
                <a:cs typeface="Arial"/>
              </a:rPr>
              <a:t>TypeScript </a:t>
            </a:r>
            <a:r>
              <a:rPr sz="2500" dirty="0">
                <a:latin typeface="Arial"/>
                <a:cs typeface="Arial"/>
              </a:rPr>
              <a:t>de la </a:t>
            </a:r>
            <a:r>
              <a:rPr sz="2500" spc="-5" dirty="0">
                <a:latin typeface="Arial"/>
                <a:cs typeface="Arial"/>
              </a:rPr>
              <a:t>siguiente</a:t>
            </a:r>
            <a:r>
              <a:rPr sz="2500" spc="-3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manera: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 marL="3213100">
              <a:lnSpc>
                <a:spcPct val="100000"/>
              </a:lnSpc>
              <a:spcBef>
                <a:spcPts val="1900"/>
              </a:spcBef>
            </a:pPr>
            <a:r>
              <a:rPr sz="2500" b="1" dirty="0">
                <a:latin typeface="Arial"/>
                <a:cs typeface="Arial"/>
              </a:rPr>
              <a:t>tsc</a:t>
            </a:r>
            <a:r>
              <a:rPr sz="2500" b="1" spc="-5" dirty="0">
                <a:latin typeface="Arial"/>
                <a:cs typeface="Arial"/>
              </a:rPr>
              <a:t> nombreFichero.ts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81500" y="1104900"/>
            <a:ext cx="42322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TypeScript </a:t>
            </a:r>
            <a:r>
              <a:rPr dirty="0"/>
              <a:t>-</a:t>
            </a:r>
            <a:r>
              <a:rPr spc="-55" dirty="0"/>
              <a:t> </a:t>
            </a:r>
            <a:r>
              <a:rPr spc="-165" dirty="0"/>
              <a:t>TSC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74191" y="2882900"/>
            <a:ext cx="10410825" cy="37211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36854" marR="403860" indent="-224154">
              <a:lnSpc>
                <a:spcPts val="2900"/>
              </a:lnSpc>
              <a:spcBef>
                <a:spcPts val="280"/>
              </a:spcBef>
              <a:buChar char="•"/>
              <a:tabLst>
                <a:tab pos="237490" algn="l"/>
              </a:tabLst>
            </a:pPr>
            <a:r>
              <a:rPr sz="2500" spc="-5" dirty="0">
                <a:latin typeface="Arial"/>
                <a:cs typeface="Arial"/>
              </a:rPr>
              <a:t>Este </a:t>
            </a:r>
            <a:r>
              <a:rPr sz="2500" dirty="0">
                <a:latin typeface="Arial"/>
                <a:cs typeface="Arial"/>
              </a:rPr>
              <a:t>proceso de compilación, no devuelve ningún </a:t>
            </a:r>
            <a:r>
              <a:rPr sz="2500" spc="-5" dirty="0">
                <a:latin typeface="Arial"/>
                <a:cs typeface="Arial"/>
              </a:rPr>
              <a:t>tipo </a:t>
            </a:r>
            <a:r>
              <a:rPr sz="2500" dirty="0">
                <a:latin typeface="Arial"/>
                <a:cs typeface="Arial"/>
              </a:rPr>
              <a:t>de mensaje</a:t>
            </a:r>
            <a:r>
              <a:rPr sz="2500" spc="-6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de  </a:t>
            </a:r>
            <a:r>
              <a:rPr sz="2500" spc="-5" dirty="0">
                <a:latin typeface="Arial"/>
                <a:cs typeface="Arial"/>
              </a:rPr>
              <a:t>confirmación </a:t>
            </a:r>
            <a:r>
              <a:rPr sz="2500" dirty="0">
                <a:latin typeface="Arial"/>
                <a:cs typeface="Arial"/>
              </a:rPr>
              <a:t>si </a:t>
            </a:r>
            <a:r>
              <a:rPr sz="2500" spc="-5" dirty="0">
                <a:latin typeface="Arial"/>
                <a:cs typeface="Arial"/>
              </a:rPr>
              <a:t>todo </a:t>
            </a:r>
            <a:r>
              <a:rPr sz="2500" dirty="0">
                <a:latin typeface="Arial"/>
                <a:cs typeface="Arial"/>
              </a:rPr>
              <a:t>ha ido</a:t>
            </a:r>
            <a:r>
              <a:rPr sz="2500" spc="1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correctamente.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236854" marR="69215" indent="-224154">
              <a:lnSpc>
                <a:spcPts val="2900"/>
              </a:lnSpc>
              <a:buChar char="•"/>
              <a:tabLst>
                <a:tab pos="237490" algn="l"/>
              </a:tabLst>
            </a:pPr>
            <a:r>
              <a:rPr sz="2500" dirty="0">
                <a:latin typeface="Arial"/>
                <a:cs typeface="Arial"/>
              </a:rPr>
              <a:t>Si </a:t>
            </a:r>
            <a:r>
              <a:rPr sz="2500" spc="-5" dirty="0">
                <a:latin typeface="Arial"/>
                <a:cs typeface="Arial"/>
              </a:rPr>
              <a:t>encuentra </a:t>
            </a:r>
            <a:r>
              <a:rPr sz="2500" dirty="0">
                <a:latin typeface="Arial"/>
                <a:cs typeface="Arial"/>
              </a:rPr>
              <a:t>cualquier </a:t>
            </a:r>
            <a:r>
              <a:rPr sz="2500" spc="-5" dirty="0">
                <a:latin typeface="Arial"/>
                <a:cs typeface="Arial"/>
              </a:rPr>
              <a:t>tipo </a:t>
            </a:r>
            <a:r>
              <a:rPr sz="2500" dirty="0">
                <a:latin typeface="Arial"/>
                <a:cs typeface="Arial"/>
              </a:rPr>
              <a:t>de error en </a:t>
            </a:r>
            <a:r>
              <a:rPr sz="2500" spc="-5" dirty="0">
                <a:latin typeface="Arial"/>
                <a:cs typeface="Arial"/>
              </a:rPr>
              <a:t>nuestro </a:t>
            </a:r>
            <a:r>
              <a:rPr sz="2500" dirty="0">
                <a:latin typeface="Arial"/>
                <a:cs typeface="Arial"/>
              </a:rPr>
              <a:t>código, </a:t>
            </a:r>
            <a:r>
              <a:rPr sz="2500" spc="-5" dirty="0">
                <a:latin typeface="Arial"/>
                <a:cs typeface="Arial"/>
              </a:rPr>
              <a:t>obtendremos </a:t>
            </a:r>
            <a:r>
              <a:rPr sz="2500" dirty="0">
                <a:latin typeface="Arial"/>
                <a:cs typeface="Arial"/>
              </a:rPr>
              <a:t>los  errores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asociados.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236854" marR="5080" indent="-224154">
              <a:lnSpc>
                <a:spcPts val="2900"/>
              </a:lnSpc>
              <a:buChar char="•"/>
              <a:tabLst>
                <a:tab pos="237490" algn="l"/>
              </a:tabLst>
            </a:pPr>
            <a:r>
              <a:rPr sz="2500" dirty="0">
                <a:latin typeface="Arial"/>
                <a:cs typeface="Arial"/>
              </a:rPr>
              <a:t>Una vez se </a:t>
            </a:r>
            <a:r>
              <a:rPr sz="2500" spc="-5" dirty="0">
                <a:latin typeface="Arial"/>
                <a:cs typeface="Arial"/>
              </a:rPr>
              <a:t>termine correctamente </a:t>
            </a:r>
            <a:r>
              <a:rPr sz="2500" dirty="0">
                <a:latin typeface="Arial"/>
                <a:cs typeface="Arial"/>
              </a:rPr>
              <a:t>el proceso de compilación,  </a:t>
            </a:r>
            <a:r>
              <a:rPr sz="2500" spc="-5" dirty="0">
                <a:latin typeface="Arial"/>
                <a:cs typeface="Arial"/>
              </a:rPr>
              <a:t>obtendremos </a:t>
            </a:r>
            <a:r>
              <a:rPr sz="2500" dirty="0">
                <a:latin typeface="Arial"/>
                <a:cs typeface="Arial"/>
              </a:rPr>
              <a:t>un </a:t>
            </a:r>
            <a:r>
              <a:rPr sz="2500" spc="-5" dirty="0">
                <a:latin typeface="Arial"/>
                <a:cs typeface="Arial"/>
              </a:rPr>
              <a:t>fichero </a:t>
            </a:r>
            <a:r>
              <a:rPr sz="2500" dirty="0">
                <a:latin typeface="Arial"/>
                <a:cs typeface="Arial"/>
              </a:rPr>
              <a:t>con </a:t>
            </a:r>
            <a:r>
              <a:rPr sz="2500" spc="-5" dirty="0">
                <a:latin typeface="Arial"/>
                <a:cs typeface="Arial"/>
              </a:rPr>
              <a:t>extensión .js </a:t>
            </a:r>
            <a:r>
              <a:rPr sz="2500" dirty="0">
                <a:latin typeface="Arial"/>
                <a:cs typeface="Arial"/>
              </a:rPr>
              <a:t>que </a:t>
            </a:r>
            <a:r>
              <a:rPr sz="2500" spc="-5" dirty="0">
                <a:latin typeface="Arial"/>
                <a:cs typeface="Arial"/>
              </a:rPr>
              <a:t>representa </a:t>
            </a:r>
            <a:r>
              <a:rPr sz="2500" dirty="0">
                <a:latin typeface="Arial"/>
                <a:cs typeface="Arial"/>
              </a:rPr>
              <a:t>la  </a:t>
            </a:r>
            <a:r>
              <a:rPr sz="2500" spc="-5" dirty="0">
                <a:latin typeface="Arial"/>
                <a:cs typeface="Arial"/>
              </a:rPr>
              <a:t>transformación </a:t>
            </a:r>
            <a:r>
              <a:rPr sz="2500" dirty="0">
                <a:latin typeface="Arial"/>
                <a:cs typeface="Arial"/>
              </a:rPr>
              <a:t>del código </a:t>
            </a:r>
            <a:r>
              <a:rPr sz="2500" spc="-5" dirty="0">
                <a:latin typeface="Arial"/>
                <a:cs typeface="Arial"/>
              </a:rPr>
              <a:t>escrito </a:t>
            </a:r>
            <a:r>
              <a:rPr sz="2500" dirty="0">
                <a:latin typeface="Arial"/>
                <a:cs typeface="Arial"/>
              </a:rPr>
              <a:t>en </a:t>
            </a:r>
            <a:r>
              <a:rPr sz="2500" spc="-15" dirty="0">
                <a:latin typeface="Arial"/>
                <a:cs typeface="Arial"/>
              </a:rPr>
              <a:t>TypeScript </a:t>
            </a:r>
            <a:r>
              <a:rPr sz="2500" dirty="0">
                <a:latin typeface="Arial"/>
                <a:cs typeface="Arial"/>
              </a:rPr>
              <a:t>a un </a:t>
            </a:r>
            <a:r>
              <a:rPr sz="2500" spc="-5" dirty="0">
                <a:latin typeface="Arial"/>
                <a:cs typeface="Arial"/>
              </a:rPr>
              <a:t>fichero </a:t>
            </a:r>
            <a:r>
              <a:rPr sz="2500" dirty="0">
                <a:latin typeface="Arial"/>
                <a:cs typeface="Arial"/>
              </a:rPr>
              <a:t>de </a:t>
            </a:r>
            <a:r>
              <a:rPr sz="2500" spc="-5" dirty="0">
                <a:latin typeface="Arial"/>
                <a:cs typeface="Arial"/>
              </a:rPr>
              <a:t>tipo </a:t>
            </a:r>
            <a:r>
              <a:rPr sz="2500" dirty="0">
                <a:latin typeface="Arial"/>
                <a:cs typeface="Arial"/>
              </a:rPr>
              <a:t>ES5  legible por la </a:t>
            </a:r>
            <a:r>
              <a:rPr sz="2500" spc="-5" dirty="0">
                <a:latin typeface="Arial"/>
                <a:cs typeface="Arial"/>
              </a:rPr>
              <a:t>mayoría </a:t>
            </a:r>
            <a:r>
              <a:rPr sz="2500" dirty="0">
                <a:latin typeface="Arial"/>
                <a:cs typeface="Arial"/>
              </a:rPr>
              <a:t>de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navegadores.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81500" y="1104900"/>
            <a:ext cx="42322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TypeScript </a:t>
            </a:r>
            <a:r>
              <a:rPr dirty="0"/>
              <a:t>-</a:t>
            </a:r>
            <a:r>
              <a:rPr spc="-55" dirty="0"/>
              <a:t> </a:t>
            </a:r>
            <a:r>
              <a:rPr spc="-165" dirty="0"/>
              <a:t>TSC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300" y="2666924"/>
            <a:ext cx="10368280" cy="335343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41300" marR="93345" indent="-228600">
              <a:lnSpc>
                <a:spcPts val="2900"/>
              </a:lnSpc>
              <a:spcBef>
                <a:spcPts val="280"/>
              </a:spcBef>
              <a:buChar char="•"/>
              <a:tabLst>
                <a:tab pos="241300" algn="l"/>
              </a:tabLst>
            </a:pPr>
            <a:r>
              <a:rPr sz="2500" dirty="0">
                <a:latin typeface="Arial"/>
                <a:cs typeface="Arial"/>
              </a:rPr>
              <a:t>En un </a:t>
            </a:r>
            <a:r>
              <a:rPr sz="2500" spc="-5" dirty="0">
                <a:latin typeface="Arial"/>
                <a:cs typeface="Arial"/>
              </a:rPr>
              <a:t>proyecto típico, </a:t>
            </a:r>
            <a:r>
              <a:rPr sz="2500" dirty="0">
                <a:latin typeface="Arial"/>
                <a:cs typeface="Arial"/>
              </a:rPr>
              <a:t>el número de </a:t>
            </a:r>
            <a:r>
              <a:rPr sz="2500" spc="-5" dirty="0">
                <a:latin typeface="Arial"/>
                <a:cs typeface="Arial"/>
              </a:rPr>
              <a:t>ficheros </a:t>
            </a:r>
            <a:r>
              <a:rPr sz="2500" dirty="0">
                <a:latin typeface="Arial"/>
                <a:cs typeface="Arial"/>
              </a:rPr>
              <a:t>a compilar es más de uno.  </a:t>
            </a:r>
            <a:r>
              <a:rPr sz="2500" spc="-95" dirty="0">
                <a:latin typeface="Arial"/>
                <a:cs typeface="Arial"/>
              </a:rPr>
              <a:t>Tsc </a:t>
            </a:r>
            <a:r>
              <a:rPr sz="2500" dirty="0">
                <a:latin typeface="Arial"/>
                <a:cs typeface="Arial"/>
              </a:rPr>
              <a:t>nos </a:t>
            </a:r>
            <a:r>
              <a:rPr sz="2500" spc="-5" dirty="0">
                <a:latin typeface="Arial"/>
                <a:cs typeface="Arial"/>
              </a:rPr>
              <a:t>permite </a:t>
            </a:r>
            <a:r>
              <a:rPr sz="2500" dirty="0">
                <a:latin typeface="Arial"/>
                <a:cs typeface="Arial"/>
              </a:rPr>
              <a:t>manejar más de un </a:t>
            </a:r>
            <a:r>
              <a:rPr sz="2500" spc="-5" dirty="0">
                <a:latin typeface="Arial"/>
                <a:cs typeface="Arial"/>
              </a:rPr>
              <a:t>fichero </a:t>
            </a:r>
            <a:r>
              <a:rPr sz="2500" dirty="0">
                <a:latin typeface="Arial"/>
                <a:cs typeface="Arial"/>
              </a:rPr>
              <a:t>a la vez, pasándoselos  como </a:t>
            </a:r>
            <a:r>
              <a:rPr sz="2500" spc="-5" dirty="0">
                <a:latin typeface="Arial"/>
                <a:cs typeface="Arial"/>
              </a:rPr>
              <a:t>argumentos </a:t>
            </a:r>
            <a:r>
              <a:rPr sz="2500" dirty="0">
                <a:latin typeface="Arial"/>
                <a:cs typeface="Arial"/>
              </a:rPr>
              <a:t>en la </a:t>
            </a:r>
            <a:r>
              <a:rPr sz="2500" spc="-5" dirty="0">
                <a:latin typeface="Arial"/>
                <a:cs typeface="Arial"/>
              </a:rPr>
              <a:t>línea </a:t>
            </a:r>
            <a:r>
              <a:rPr sz="2500" dirty="0">
                <a:latin typeface="Arial"/>
                <a:cs typeface="Arial"/>
              </a:rPr>
              <a:t>de comandos.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2900"/>
              </a:lnSpc>
              <a:buChar char="•"/>
              <a:tabLst>
                <a:tab pos="241300" algn="l"/>
              </a:tabLst>
            </a:pPr>
            <a:r>
              <a:rPr sz="2500" dirty="0">
                <a:latin typeface="Arial"/>
                <a:cs typeface="Arial"/>
              </a:rPr>
              <a:t>Para que no </a:t>
            </a:r>
            <a:r>
              <a:rPr sz="2500" spc="-5" dirty="0">
                <a:latin typeface="Arial"/>
                <a:cs typeface="Arial"/>
              </a:rPr>
              <a:t>existan </a:t>
            </a:r>
            <a:r>
              <a:rPr sz="2500" dirty="0">
                <a:latin typeface="Arial"/>
                <a:cs typeface="Arial"/>
              </a:rPr>
              <a:t>problemas en su compilación, debemos </a:t>
            </a:r>
            <a:r>
              <a:rPr sz="2500" spc="-5" dirty="0">
                <a:latin typeface="Arial"/>
                <a:cs typeface="Arial"/>
              </a:rPr>
              <a:t>especificar  </a:t>
            </a:r>
            <a:r>
              <a:rPr sz="2500" dirty="0">
                <a:latin typeface="Arial"/>
                <a:cs typeface="Arial"/>
              </a:rPr>
              <a:t>qué esquema vamos a </a:t>
            </a:r>
            <a:r>
              <a:rPr sz="2500" spc="-20" dirty="0">
                <a:latin typeface="Arial"/>
                <a:cs typeface="Arial"/>
              </a:rPr>
              <a:t>seguir. </a:t>
            </a:r>
            <a:r>
              <a:rPr sz="2500" dirty="0">
                <a:latin typeface="Arial"/>
                <a:cs typeface="Arial"/>
              </a:rPr>
              <a:t>El más común es</a:t>
            </a:r>
            <a:r>
              <a:rPr sz="2500" spc="-20" dirty="0">
                <a:latin typeface="Arial"/>
                <a:cs typeface="Arial"/>
              </a:rPr>
              <a:t> </a:t>
            </a:r>
            <a:r>
              <a:rPr sz="2500" b="1" spc="-5" dirty="0">
                <a:latin typeface="Arial"/>
                <a:cs typeface="Arial"/>
              </a:rPr>
              <a:t>commonjs</a:t>
            </a:r>
            <a:r>
              <a:rPr sz="2500" spc="-5" dirty="0">
                <a:latin typeface="Arial"/>
                <a:cs typeface="Arial"/>
              </a:rPr>
              <a:t>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241300" marR="253365" indent="-228600">
              <a:lnSpc>
                <a:spcPts val="2900"/>
              </a:lnSpc>
              <a:buChar char="•"/>
              <a:tabLst>
                <a:tab pos="241300" algn="l"/>
              </a:tabLst>
            </a:pPr>
            <a:r>
              <a:rPr sz="2500" dirty="0">
                <a:latin typeface="Arial"/>
                <a:cs typeface="Arial"/>
              </a:rPr>
              <a:t>Por lo </a:t>
            </a:r>
            <a:r>
              <a:rPr sz="2500" spc="-5" dirty="0">
                <a:latin typeface="Arial"/>
                <a:cs typeface="Arial"/>
              </a:rPr>
              <a:t>tanto, </a:t>
            </a:r>
            <a:r>
              <a:rPr sz="2500" dirty="0">
                <a:latin typeface="Arial"/>
                <a:cs typeface="Arial"/>
              </a:rPr>
              <a:t>si </a:t>
            </a:r>
            <a:r>
              <a:rPr sz="2500" spc="-5" dirty="0">
                <a:latin typeface="Arial"/>
                <a:cs typeface="Arial"/>
              </a:rPr>
              <a:t>tenemos </a:t>
            </a:r>
            <a:r>
              <a:rPr sz="2500" dirty="0">
                <a:latin typeface="Arial"/>
                <a:cs typeface="Arial"/>
              </a:rPr>
              <a:t>dos </a:t>
            </a:r>
            <a:r>
              <a:rPr sz="2500" spc="-5" dirty="0">
                <a:latin typeface="Arial"/>
                <a:cs typeface="Arial"/>
              </a:rPr>
              <a:t>ficheros a.ts </a:t>
            </a:r>
            <a:r>
              <a:rPr sz="2500" dirty="0">
                <a:latin typeface="Arial"/>
                <a:cs typeface="Arial"/>
              </a:rPr>
              <a:t>y </a:t>
            </a:r>
            <a:r>
              <a:rPr sz="2500" spc="-5" dirty="0">
                <a:latin typeface="Arial"/>
                <a:cs typeface="Arial"/>
              </a:rPr>
              <a:t>b.ts, podríamos </a:t>
            </a:r>
            <a:r>
              <a:rPr sz="2500" dirty="0">
                <a:latin typeface="Arial"/>
                <a:cs typeface="Arial"/>
              </a:rPr>
              <a:t>proceder a  su compilación de la </a:t>
            </a:r>
            <a:r>
              <a:rPr sz="2500" spc="-5" dirty="0">
                <a:latin typeface="Arial"/>
                <a:cs typeface="Arial"/>
              </a:rPr>
              <a:t>siguiente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manera: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5000" y="7010400"/>
            <a:ext cx="392493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latin typeface="Arial"/>
                <a:cs typeface="Arial"/>
              </a:rPr>
              <a:t>tsc -m </a:t>
            </a:r>
            <a:r>
              <a:rPr sz="2500" b="1" spc="-5" dirty="0">
                <a:latin typeface="Arial"/>
                <a:cs typeface="Arial"/>
              </a:rPr>
              <a:t>commonjs a.ts</a:t>
            </a:r>
            <a:r>
              <a:rPr sz="2500" b="1" spc="-50" dirty="0">
                <a:latin typeface="Arial"/>
                <a:cs typeface="Arial"/>
              </a:rPr>
              <a:t> </a:t>
            </a:r>
            <a:r>
              <a:rPr sz="2500" b="1" spc="-5" dirty="0">
                <a:latin typeface="Arial"/>
                <a:cs typeface="Arial"/>
              </a:rPr>
              <a:t>b.ts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81500" y="1104900"/>
            <a:ext cx="42322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TypeScript </a:t>
            </a:r>
            <a:r>
              <a:rPr dirty="0"/>
              <a:t>-</a:t>
            </a:r>
            <a:r>
              <a:rPr spc="-55" dirty="0"/>
              <a:t> </a:t>
            </a:r>
            <a:r>
              <a:rPr spc="-165" dirty="0"/>
              <a:t>TSC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300" y="2670365"/>
            <a:ext cx="10137775" cy="408622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241300" marR="569595" indent="-228600" algn="just">
              <a:lnSpc>
                <a:spcPct val="96200"/>
              </a:lnSpc>
              <a:spcBef>
                <a:spcPts val="210"/>
              </a:spcBef>
              <a:buChar char="•"/>
              <a:tabLst>
                <a:tab pos="241300" algn="l"/>
              </a:tabLst>
            </a:pPr>
            <a:r>
              <a:rPr sz="3750" baseline="1111" dirty="0">
                <a:latin typeface="Arial"/>
                <a:cs typeface="Arial"/>
              </a:rPr>
              <a:t>A la hora de </a:t>
            </a:r>
            <a:r>
              <a:rPr sz="3750" spc="-30" baseline="1111" dirty="0">
                <a:latin typeface="Arial"/>
                <a:cs typeface="Arial"/>
              </a:rPr>
              <a:t>compilar, </a:t>
            </a:r>
            <a:r>
              <a:rPr sz="3750" baseline="1111" dirty="0">
                <a:latin typeface="Arial"/>
                <a:cs typeface="Arial"/>
              </a:rPr>
              <a:t>podemos indicarle muchos </a:t>
            </a:r>
            <a:r>
              <a:rPr sz="3750" spc="-7" baseline="1111" dirty="0">
                <a:latin typeface="Arial"/>
                <a:cs typeface="Arial"/>
              </a:rPr>
              <a:t>modificadores</a:t>
            </a:r>
            <a:r>
              <a:rPr sz="3750" spc="-209" baseline="1111" dirty="0">
                <a:latin typeface="Arial"/>
                <a:cs typeface="Arial"/>
              </a:rPr>
              <a:t> </a:t>
            </a:r>
            <a:r>
              <a:rPr sz="3750" baseline="1111" dirty="0">
                <a:latin typeface="Arial"/>
                <a:cs typeface="Arial"/>
              </a:rPr>
              <a:t>al </a:t>
            </a:r>
            <a:r>
              <a:rPr sz="2500" dirty="0">
                <a:latin typeface="Arial"/>
                <a:cs typeface="Arial"/>
              </a:rPr>
              <a:t> comando </a:t>
            </a:r>
            <a:r>
              <a:rPr sz="2500" spc="-5" dirty="0">
                <a:latin typeface="Arial"/>
                <a:cs typeface="Arial"/>
              </a:rPr>
              <a:t>tsc </a:t>
            </a:r>
            <a:r>
              <a:rPr sz="2500" dirty="0">
                <a:latin typeface="Arial"/>
                <a:cs typeface="Arial"/>
              </a:rPr>
              <a:t>para que realice las acciones que </a:t>
            </a:r>
            <a:r>
              <a:rPr sz="2500" spc="-5" dirty="0">
                <a:latin typeface="Arial"/>
                <a:cs typeface="Arial"/>
              </a:rPr>
              <a:t>necesitamos. Esto  </a:t>
            </a:r>
            <a:r>
              <a:rPr sz="2500" dirty="0">
                <a:latin typeface="Arial"/>
                <a:cs typeface="Arial"/>
              </a:rPr>
              <a:t>puede ser una </a:t>
            </a:r>
            <a:r>
              <a:rPr sz="2500" spc="-5" dirty="0">
                <a:latin typeface="Arial"/>
                <a:cs typeface="Arial"/>
              </a:rPr>
              <a:t>tarea bastante tediosa.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24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sz="3750" baseline="1111" dirty="0">
                <a:latin typeface="Arial"/>
                <a:cs typeface="Arial"/>
              </a:rPr>
              <a:t>Por </a:t>
            </a:r>
            <a:r>
              <a:rPr sz="3750" spc="-7" baseline="1111" dirty="0">
                <a:latin typeface="Arial"/>
                <a:cs typeface="Arial"/>
              </a:rPr>
              <a:t>suerte, contamos </a:t>
            </a:r>
            <a:r>
              <a:rPr sz="3750" baseline="1111" dirty="0">
                <a:latin typeface="Arial"/>
                <a:cs typeface="Arial"/>
              </a:rPr>
              <a:t>con una manera de </a:t>
            </a:r>
            <a:r>
              <a:rPr sz="3750" spc="-7" baseline="1111" dirty="0">
                <a:latin typeface="Arial"/>
                <a:cs typeface="Arial"/>
              </a:rPr>
              <a:t>simplificar todo este</a:t>
            </a:r>
            <a:r>
              <a:rPr sz="3750" spc="112" baseline="1111" dirty="0">
                <a:latin typeface="Arial"/>
                <a:cs typeface="Arial"/>
              </a:rPr>
              <a:t> </a:t>
            </a:r>
            <a:r>
              <a:rPr sz="3750" spc="-7" baseline="1111" dirty="0">
                <a:latin typeface="Arial"/>
                <a:cs typeface="Arial"/>
              </a:rPr>
              <a:t>trabajo.</a:t>
            </a:r>
            <a:endParaRPr sz="3750" baseline="111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2600">
              <a:latin typeface="Times New Roman"/>
              <a:cs typeface="Times New Roman"/>
            </a:endParaRPr>
          </a:p>
          <a:p>
            <a:pPr marL="241300" marR="429895" indent="-228600">
              <a:lnSpc>
                <a:spcPts val="2870"/>
              </a:lnSpc>
              <a:buChar char="•"/>
              <a:tabLst>
                <a:tab pos="241300" algn="l"/>
              </a:tabLst>
            </a:pPr>
            <a:r>
              <a:rPr sz="3750" baseline="1111" dirty="0">
                <a:latin typeface="Arial"/>
                <a:cs typeface="Arial"/>
              </a:rPr>
              <a:t>Con la </a:t>
            </a:r>
            <a:r>
              <a:rPr sz="3750" spc="-7" baseline="1111" dirty="0">
                <a:latin typeface="Arial"/>
                <a:cs typeface="Arial"/>
              </a:rPr>
              <a:t>definición </a:t>
            </a:r>
            <a:r>
              <a:rPr sz="3750" baseline="1111" dirty="0">
                <a:latin typeface="Arial"/>
                <a:cs typeface="Arial"/>
              </a:rPr>
              <a:t>del </a:t>
            </a:r>
            <a:r>
              <a:rPr sz="3750" spc="-7" baseline="1111" dirty="0">
                <a:latin typeface="Arial"/>
                <a:cs typeface="Arial"/>
              </a:rPr>
              <a:t>fichero </a:t>
            </a:r>
            <a:r>
              <a:rPr sz="3750" b="1" spc="-7" baseline="1111" dirty="0">
                <a:latin typeface="Arial"/>
                <a:cs typeface="Arial"/>
              </a:rPr>
              <a:t>tsconfig.json </a:t>
            </a:r>
            <a:r>
              <a:rPr sz="3750" baseline="1111" dirty="0">
                <a:latin typeface="Arial"/>
                <a:cs typeface="Arial"/>
              </a:rPr>
              <a:t>podemos </a:t>
            </a:r>
            <a:r>
              <a:rPr sz="3750" spc="-7" baseline="1111" dirty="0">
                <a:latin typeface="Arial"/>
                <a:cs typeface="Arial"/>
              </a:rPr>
              <a:t>especificar </a:t>
            </a:r>
            <a:r>
              <a:rPr sz="3750" baseline="1111" dirty="0">
                <a:latin typeface="Arial"/>
                <a:cs typeface="Arial"/>
              </a:rPr>
              <a:t>las </a:t>
            </a:r>
            <a:r>
              <a:rPr sz="2500" dirty="0">
                <a:latin typeface="Arial"/>
                <a:cs typeface="Arial"/>
              </a:rPr>
              <a:t> condiciones que vamos a pasarle al</a:t>
            </a:r>
            <a:r>
              <a:rPr sz="2500" spc="-25" dirty="0">
                <a:latin typeface="Arial"/>
                <a:cs typeface="Arial"/>
              </a:rPr>
              <a:t> </a:t>
            </a:r>
            <a:r>
              <a:rPr sz="2500" spc="-15" dirty="0">
                <a:latin typeface="Arial"/>
                <a:cs typeface="Arial"/>
              </a:rPr>
              <a:t>compilador.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2550">
              <a:latin typeface="Times New Roman"/>
              <a:cs typeface="Times New Roman"/>
            </a:endParaRPr>
          </a:p>
          <a:p>
            <a:pPr marL="241300" marR="21590" indent="-228600">
              <a:lnSpc>
                <a:spcPts val="2870"/>
              </a:lnSpc>
              <a:buChar char="•"/>
              <a:tabLst>
                <a:tab pos="241300" algn="l"/>
              </a:tabLst>
            </a:pPr>
            <a:r>
              <a:rPr sz="3750" baseline="1111" dirty="0">
                <a:latin typeface="Arial"/>
                <a:cs typeface="Arial"/>
              </a:rPr>
              <a:t>El compilador comprueba las opciones </a:t>
            </a:r>
            <a:r>
              <a:rPr sz="3750" spc="-7" baseline="1111" dirty="0">
                <a:latin typeface="Arial"/>
                <a:cs typeface="Arial"/>
              </a:rPr>
              <a:t>definidas </a:t>
            </a:r>
            <a:r>
              <a:rPr sz="3750" baseline="1111" dirty="0">
                <a:latin typeface="Arial"/>
                <a:cs typeface="Arial"/>
              </a:rPr>
              <a:t>en dicho </a:t>
            </a:r>
            <a:r>
              <a:rPr sz="3750" spc="-7" baseline="1111" dirty="0">
                <a:latin typeface="Arial"/>
                <a:cs typeface="Arial"/>
              </a:rPr>
              <a:t>fichero </a:t>
            </a:r>
            <a:r>
              <a:rPr sz="3750" baseline="1111" dirty="0">
                <a:latin typeface="Arial"/>
                <a:cs typeface="Arial"/>
              </a:rPr>
              <a:t>para </a:t>
            </a:r>
            <a:r>
              <a:rPr sz="2500" dirty="0">
                <a:latin typeface="Arial"/>
                <a:cs typeface="Arial"/>
              </a:rPr>
              <a:t> generar a </a:t>
            </a:r>
            <a:r>
              <a:rPr sz="2500" spc="-5" dirty="0">
                <a:latin typeface="Arial"/>
                <a:cs typeface="Arial"/>
              </a:rPr>
              <a:t>partir </a:t>
            </a:r>
            <a:r>
              <a:rPr sz="2500" dirty="0">
                <a:latin typeface="Arial"/>
                <a:cs typeface="Arial"/>
              </a:rPr>
              <a:t>de ahí el código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javascript.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81500" y="1104900"/>
            <a:ext cx="42322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TypeScript </a:t>
            </a:r>
            <a:r>
              <a:rPr dirty="0"/>
              <a:t>-</a:t>
            </a:r>
            <a:r>
              <a:rPr spc="-55" dirty="0"/>
              <a:t> </a:t>
            </a:r>
            <a:r>
              <a:rPr spc="-165" dirty="0"/>
              <a:t>TSC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300" y="2578100"/>
            <a:ext cx="516128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2500" spc="-30" dirty="0">
                <a:latin typeface="Arial"/>
                <a:cs typeface="Arial"/>
              </a:rPr>
              <a:t>Vemos </a:t>
            </a:r>
            <a:r>
              <a:rPr sz="2500" dirty="0">
                <a:latin typeface="Arial"/>
                <a:cs typeface="Arial"/>
              </a:rPr>
              <a:t>un ejemplo de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tsconfig.json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92600" y="3787140"/>
            <a:ext cx="4293870" cy="40259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600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500380" marR="1224280" indent="-244475">
              <a:lnSpc>
                <a:spcPct val="109400"/>
              </a:lnSpc>
            </a:pP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"compilerOptions"</a:t>
            </a:r>
            <a:r>
              <a:rPr sz="1600" dirty="0">
                <a:latin typeface="Courier New"/>
                <a:cs typeface="Courier New"/>
              </a:rPr>
              <a:t>: {  </a:t>
            </a: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"module"</a:t>
            </a:r>
            <a:r>
              <a:rPr sz="1600" dirty="0">
                <a:latin typeface="Courier New"/>
                <a:cs typeface="Courier New"/>
              </a:rPr>
              <a:t>:</a:t>
            </a:r>
            <a:r>
              <a:rPr sz="1600" spc="-50" dirty="0"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5EA702"/>
                </a:solidFill>
                <a:latin typeface="Courier New"/>
                <a:cs typeface="Courier New"/>
              </a:rPr>
              <a:t>"commonjs"</a:t>
            </a:r>
            <a:r>
              <a:rPr sz="1600" spc="-5" dirty="0">
                <a:latin typeface="Courier New"/>
                <a:cs typeface="Courier New"/>
              </a:rPr>
              <a:t>,  </a:t>
            </a: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"target"</a:t>
            </a:r>
            <a:r>
              <a:rPr sz="1600" dirty="0">
                <a:latin typeface="Courier New"/>
                <a:cs typeface="Courier New"/>
              </a:rPr>
              <a:t>:</a:t>
            </a:r>
            <a:r>
              <a:rPr sz="1600" spc="-20" dirty="0"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5EA702"/>
                </a:solidFill>
                <a:latin typeface="Courier New"/>
                <a:cs typeface="Courier New"/>
              </a:rPr>
              <a:t>"es5"</a:t>
            </a:r>
            <a:r>
              <a:rPr sz="1600" dirty="0">
                <a:latin typeface="Courier New"/>
                <a:cs typeface="Courier New"/>
              </a:rPr>
              <a:t>,</a:t>
            </a:r>
            <a:endParaRPr sz="1600">
              <a:latin typeface="Courier New"/>
              <a:cs typeface="Courier New"/>
            </a:endParaRPr>
          </a:p>
          <a:p>
            <a:pPr marL="500380" marR="5080">
              <a:lnSpc>
                <a:spcPct val="109400"/>
              </a:lnSpc>
            </a:pPr>
            <a:r>
              <a:rPr sz="1600" spc="-5" dirty="0">
                <a:solidFill>
                  <a:srgbClr val="295E99"/>
                </a:solidFill>
                <a:latin typeface="Courier New"/>
                <a:cs typeface="Courier New"/>
              </a:rPr>
              <a:t>"emitDecoratorMetadata"</a:t>
            </a:r>
            <a:r>
              <a:rPr sz="1600" spc="-5" dirty="0">
                <a:latin typeface="Courier New"/>
                <a:cs typeface="Courier New"/>
              </a:rPr>
              <a:t>: </a:t>
            </a: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true</a:t>
            </a:r>
            <a:r>
              <a:rPr sz="1600" dirty="0">
                <a:latin typeface="Courier New"/>
                <a:cs typeface="Courier New"/>
              </a:rPr>
              <a:t>,  </a:t>
            </a:r>
            <a:r>
              <a:rPr sz="1600" spc="-5" dirty="0">
                <a:solidFill>
                  <a:srgbClr val="295E99"/>
                </a:solidFill>
                <a:latin typeface="Courier New"/>
                <a:cs typeface="Courier New"/>
              </a:rPr>
              <a:t>"experimentalDecorators"</a:t>
            </a:r>
            <a:r>
              <a:rPr sz="1600" spc="-5" dirty="0">
                <a:latin typeface="Courier New"/>
                <a:cs typeface="Courier New"/>
              </a:rPr>
              <a:t>: </a:t>
            </a: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true</a:t>
            </a:r>
            <a:r>
              <a:rPr sz="1600" dirty="0">
                <a:latin typeface="Courier New"/>
                <a:cs typeface="Courier New"/>
              </a:rPr>
              <a:t>,  </a:t>
            </a: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"noImplicitAny"</a:t>
            </a:r>
            <a:r>
              <a:rPr sz="1600" dirty="0">
                <a:latin typeface="Courier New"/>
                <a:cs typeface="Courier New"/>
              </a:rPr>
              <a:t>: </a:t>
            </a: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false</a:t>
            </a:r>
            <a:r>
              <a:rPr sz="1600" dirty="0">
                <a:latin typeface="Courier New"/>
                <a:cs typeface="Courier New"/>
              </a:rPr>
              <a:t>,  </a:t>
            </a:r>
            <a:r>
              <a:rPr sz="1600" spc="-5" dirty="0">
                <a:solidFill>
                  <a:srgbClr val="295E99"/>
                </a:solidFill>
                <a:latin typeface="Courier New"/>
                <a:cs typeface="Courier New"/>
              </a:rPr>
              <a:t>"removeComments"</a:t>
            </a:r>
            <a:r>
              <a:rPr sz="1600" spc="-5" dirty="0">
                <a:latin typeface="Courier New"/>
                <a:cs typeface="Courier New"/>
              </a:rPr>
              <a:t>: </a:t>
            </a: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false</a:t>
            </a:r>
            <a:r>
              <a:rPr sz="1600" dirty="0">
                <a:latin typeface="Courier New"/>
                <a:cs typeface="Courier New"/>
              </a:rPr>
              <a:t>,  </a:t>
            </a:r>
            <a:r>
              <a:rPr sz="1600" spc="-5" dirty="0">
                <a:solidFill>
                  <a:srgbClr val="295E99"/>
                </a:solidFill>
                <a:latin typeface="Courier New"/>
                <a:cs typeface="Courier New"/>
              </a:rPr>
              <a:t>"sourceMap"</a:t>
            </a:r>
            <a:r>
              <a:rPr sz="1600" spc="-5" dirty="0">
                <a:latin typeface="Courier New"/>
                <a:cs typeface="Courier New"/>
              </a:rPr>
              <a:t>: </a:t>
            </a: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true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180"/>
              </a:spcBef>
            </a:pPr>
            <a:r>
              <a:rPr sz="1600" dirty="0">
                <a:latin typeface="Courier New"/>
                <a:cs typeface="Courier New"/>
              </a:rPr>
              <a:t>},</a:t>
            </a:r>
            <a:endParaRPr sz="1600">
              <a:latin typeface="Courier New"/>
              <a:cs typeface="Courier New"/>
            </a:endParaRPr>
          </a:p>
          <a:p>
            <a:pPr marL="500380" marR="1955800" indent="-244475">
              <a:lnSpc>
                <a:spcPct val="109400"/>
              </a:lnSpc>
            </a:pP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"exclude"</a:t>
            </a:r>
            <a:r>
              <a:rPr sz="1600" dirty="0">
                <a:latin typeface="Courier New"/>
                <a:cs typeface="Courier New"/>
              </a:rPr>
              <a:t>: [  </a:t>
            </a:r>
            <a:r>
              <a:rPr sz="1600" dirty="0">
                <a:solidFill>
                  <a:srgbClr val="5EA702"/>
                </a:solidFill>
                <a:latin typeface="Courier New"/>
                <a:cs typeface="Courier New"/>
              </a:rPr>
              <a:t>"node_modules</a:t>
            </a:r>
            <a:r>
              <a:rPr sz="1600" spc="-5" dirty="0">
                <a:solidFill>
                  <a:srgbClr val="5EA702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latin typeface="Courier New"/>
                <a:cs typeface="Courier New"/>
              </a:rPr>
              <a:t>,  </a:t>
            </a:r>
            <a:r>
              <a:rPr sz="1600" dirty="0">
                <a:solidFill>
                  <a:srgbClr val="5EA702"/>
                </a:solidFill>
                <a:latin typeface="Courier New"/>
                <a:cs typeface="Courier New"/>
              </a:rPr>
              <a:t>"dist/"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175"/>
              </a:spcBef>
            </a:pPr>
            <a:r>
              <a:rPr sz="1600" dirty="0">
                <a:latin typeface="Courier New"/>
                <a:cs typeface="Courier New"/>
              </a:rPr>
              <a:t>]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60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81500" y="1104900"/>
            <a:ext cx="42322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TypeScript </a:t>
            </a:r>
            <a:r>
              <a:rPr dirty="0"/>
              <a:t>-</a:t>
            </a:r>
            <a:r>
              <a:rPr spc="-55" dirty="0"/>
              <a:t> </a:t>
            </a:r>
            <a:r>
              <a:rPr spc="-165" dirty="0"/>
              <a:t>TSC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300" y="2476500"/>
            <a:ext cx="10349865" cy="55626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41300" marR="5080" indent="-228600">
              <a:lnSpc>
                <a:spcPts val="2900"/>
              </a:lnSpc>
              <a:spcBef>
                <a:spcPts val="280"/>
              </a:spcBef>
              <a:buChar char="•"/>
              <a:tabLst>
                <a:tab pos="241300" algn="l"/>
              </a:tabLst>
            </a:pPr>
            <a:r>
              <a:rPr sz="2500" spc="-5" dirty="0">
                <a:latin typeface="Arial"/>
                <a:cs typeface="Arial"/>
              </a:rPr>
              <a:t>Mediante </a:t>
            </a:r>
            <a:r>
              <a:rPr sz="2500" dirty="0">
                <a:latin typeface="Arial"/>
                <a:cs typeface="Arial"/>
              </a:rPr>
              <a:t>el campo </a:t>
            </a:r>
            <a:r>
              <a:rPr sz="2500" b="1" spc="-5" dirty="0">
                <a:latin typeface="Arial"/>
                <a:cs typeface="Arial"/>
              </a:rPr>
              <a:t>target </a:t>
            </a:r>
            <a:r>
              <a:rPr sz="2500" spc="-5" dirty="0">
                <a:latin typeface="Arial"/>
                <a:cs typeface="Arial"/>
              </a:rPr>
              <a:t>estamos </a:t>
            </a:r>
            <a:r>
              <a:rPr sz="2500" dirty="0">
                <a:latin typeface="Arial"/>
                <a:cs typeface="Arial"/>
              </a:rPr>
              <a:t>indicando qué </a:t>
            </a:r>
            <a:r>
              <a:rPr sz="2500" spc="-5" dirty="0">
                <a:latin typeface="Arial"/>
                <a:cs typeface="Arial"/>
              </a:rPr>
              <a:t>tipo </a:t>
            </a:r>
            <a:r>
              <a:rPr sz="2500" dirty="0">
                <a:latin typeface="Arial"/>
                <a:cs typeface="Arial"/>
              </a:rPr>
              <a:t>de código vamos  a generar en la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compilación.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241300" marR="144780" indent="-228600">
              <a:lnSpc>
                <a:spcPts val="2900"/>
              </a:lnSpc>
              <a:buChar char="•"/>
              <a:tabLst>
                <a:tab pos="241300" algn="l"/>
              </a:tabLst>
            </a:pPr>
            <a:r>
              <a:rPr sz="2500" dirty="0">
                <a:latin typeface="Arial"/>
                <a:cs typeface="Arial"/>
              </a:rPr>
              <a:t>En </a:t>
            </a:r>
            <a:r>
              <a:rPr sz="2500" spc="-5" dirty="0">
                <a:latin typeface="Arial"/>
                <a:cs typeface="Arial"/>
              </a:rPr>
              <a:t>este </a:t>
            </a:r>
            <a:r>
              <a:rPr sz="2500" dirty="0">
                <a:latin typeface="Arial"/>
                <a:cs typeface="Arial"/>
              </a:rPr>
              <a:t>caso </a:t>
            </a:r>
            <a:r>
              <a:rPr sz="2500" spc="-5" dirty="0">
                <a:latin typeface="Arial"/>
                <a:cs typeface="Arial"/>
              </a:rPr>
              <a:t>tendremos soporte </a:t>
            </a:r>
            <a:r>
              <a:rPr sz="2500" dirty="0">
                <a:latin typeface="Arial"/>
                <a:cs typeface="Arial"/>
              </a:rPr>
              <a:t>para </a:t>
            </a:r>
            <a:r>
              <a:rPr sz="2500" spc="-5" dirty="0">
                <a:latin typeface="Arial"/>
                <a:cs typeface="Arial"/>
              </a:rPr>
              <a:t>todos </a:t>
            </a:r>
            <a:r>
              <a:rPr sz="2500" dirty="0">
                <a:latin typeface="Arial"/>
                <a:cs typeface="Arial"/>
              </a:rPr>
              <a:t>aquellos navegadores con  ES5.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241300" marR="41275" indent="-228600">
              <a:lnSpc>
                <a:spcPts val="2900"/>
              </a:lnSpc>
              <a:buChar char="•"/>
              <a:tabLst>
                <a:tab pos="241300" algn="l"/>
              </a:tabLst>
            </a:pPr>
            <a:r>
              <a:rPr sz="2500" spc="-5" dirty="0">
                <a:latin typeface="Arial"/>
                <a:cs typeface="Arial"/>
              </a:rPr>
              <a:t>Mediante </a:t>
            </a:r>
            <a:r>
              <a:rPr sz="2500" b="1" dirty="0">
                <a:latin typeface="Arial"/>
                <a:cs typeface="Arial"/>
              </a:rPr>
              <a:t>module </a:t>
            </a:r>
            <a:r>
              <a:rPr sz="2500" dirty="0">
                <a:latin typeface="Arial"/>
                <a:cs typeface="Arial"/>
              </a:rPr>
              <a:t>indicamos el esquema que vamos a usar para  </a:t>
            </a:r>
            <a:r>
              <a:rPr sz="2500" spc="-20" dirty="0">
                <a:latin typeface="Arial"/>
                <a:cs typeface="Arial"/>
              </a:rPr>
              <a:t>compilar. </a:t>
            </a:r>
            <a:r>
              <a:rPr sz="2500" dirty="0">
                <a:latin typeface="Arial"/>
                <a:cs typeface="Arial"/>
              </a:rPr>
              <a:t>En </a:t>
            </a:r>
            <a:r>
              <a:rPr sz="2500" spc="-5" dirty="0">
                <a:latin typeface="Arial"/>
                <a:cs typeface="Arial"/>
              </a:rPr>
              <a:t>este </a:t>
            </a:r>
            <a:r>
              <a:rPr sz="2500" dirty="0">
                <a:latin typeface="Arial"/>
                <a:cs typeface="Arial"/>
              </a:rPr>
              <a:t>caso, </a:t>
            </a:r>
            <a:r>
              <a:rPr sz="2500" spc="-5" dirty="0">
                <a:latin typeface="Arial"/>
                <a:cs typeface="Arial"/>
              </a:rPr>
              <a:t>utilizamos </a:t>
            </a:r>
            <a:r>
              <a:rPr sz="2500" dirty="0">
                <a:latin typeface="Arial"/>
                <a:cs typeface="Arial"/>
              </a:rPr>
              <a:t>commonjs, el cual es </a:t>
            </a:r>
            <a:r>
              <a:rPr sz="2500" spc="-5" dirty="0">
                <a:latin typeface="Arial"/>
                <a:cs typeface="Arial"/>
              </a:rPr>
              <a:t>compatible </a:t>
            </a:r>
            <a:r>
              <a:rPr sz="2500" dirty="0">
                <a:latin typeface="Arial"/>
                <a:cs typeface="Arial"/>
              </a:rPr>
              <a:t>con  NodeJS.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241300" marR="199390" indent="-228600">
              <a:lnSpc>
                <a:spcPts val="2900"/>
              </a:lnSpc>
              <a:buChar char="•"/>
              <a:tabLst>
                <a:tab pos="241300" algn="l"/>
              </a:tabLst>
            </a:pPr>
            <a:r>
              <a:rPr sz="2500" spc="-5" dirty="0">
                <a:latin typeface="Arial"/>
                <a:cs typeface="Arial"/>
              </a:rPr>
              <a:t>Activamos también todas </a:t>
            </a:r>
            <a:r>
              <a:rPr sz="2500" dirty="0">
                <a:latin typeface="Arial"/>
                <a:cs typeface="Arial"/>
              </a:rPr>
              <a:t>las opciones que nos </a:t>
            </a:r>
            <a:r>
              <a:rPr sz="2500" spc="-5" dirty="0">
                <a:latin typeface="Arial"/>
                <a:cs typeface="Arial"/>
              </a:rPr>
              <a:t>permiten activar </a:t>
            </a:r>
            <a:r>
              <a:rPr sz="2500" dirty="0">
                <a:latin typeface="Arial"/>
                <a:cs typeface="Arial"/>
              </a:rPr>
              <a:t>el uso  de Decoradores, como veremos más </a:t>
            </a:r>
            <a:r>
              <a:rPr sz="2500" spc="-5" dirty="0">
                <a:latin typeface="Arial"/>
                <a:cs typeface="Arial"/>
              </a:rPr>
              <a:t>adelante </a:t>
            </a:r>
            <a:r>
              <a:rPr sz="2500" dirty="0">
                <a:latin typeface="Arial"/>
                <a:cs typeface="Arial"/>
              </a:rPr>
              <a:t>en </a:t>
            </a:r>
            <a:r>
              <a:rPr sz="2500" spc="-5" dirty="0">
                <a:latin typeface="Arial"/>
                <a:cs typeface="Arial"/>
              </a:rPr>
              <a:t>este</a:t>
            </a:r>
            <a:r>
              <a:rPr sz="2500" spc="-2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tema.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241300" marR="746760" indent="-228600">
              <a:lnSpc>
                <a:spcPts val="2900"/>
              </a:lnSpc>
              <a:buChar char="•"/>
              <a:tabLst>
                <a:tab pos="241300" algn="l"/>
              </a:tabLst>
            </a:pPr>
            <a:r>
              <a:rPr sz="2500" dirty="0">
                <a:latin typeface="Arial"/>
                <a:cs typeface="Arial"/>
              </a:rPr>
              <a:t>Con el </a:t>
            </a:r>
            <a:r>
              <a:rPr sz="2500" spc="-5" dirty="0">
                <a:latin typeface="Arial"/>
                <a:cs typeface="Arial"/>
              </a:rPr>
              <a:t>parámetro </a:t>
            </a:r>
            <a:r>
              <a:rPr sz="2500" b="1" dirty="0">
                <a:latin typeface="Arial"/>
                <a:cs typeface="Arial"/>
              </a:rPr>
              <a:t>exclude </a:t>
            </a:r>
            <a:r>
              <a:rPr sz="2500" dirty="0">
                <a:latin typeface="Arial"/>
                <a:cs typeface="Arial"/>
              </a:rPr>
              <a:t>indicamos qué </a:t>
            </a:r>
            <a:r>
              <a:rPr sz="2500" spc="-5" dirty="0">
                <a:latin typeface="Arial"/>
                <a:cs typeface="Arial"/>
              </a:rPr>
              <a:t>directorios </a:t>
            </a:r>
            <a:r>
              <a:rPr sz="2500" dirty="0">
                <a:latin typeface="Arial"/>
                <a:cs typeface="Arial"/>
              </a:rPr>
              <a:t>no queremos  </a:t>
            </a:r>
            <a:r>
              <a:rPr sz="2500" spc="-20" dirty="0">
                <a:latin typeface="Arial"/>
                <a:cs typeface="Arial"/>
              </a:rPr>
              <a:t>compilar.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81500" y="1104900"/>
            <a:ext cx="42322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TypeScript </a:t>
            </a:r>
            <a:r>
              <a:rPr dirty="0"/>
              <a:t>-</a:t>
            </a:r>
            <a:r>
              <a:rPr spc="-55" dirty="0"/>
              <a:t> </a:t>
            </a:r>
            <a:r>
              <a:rPr spc="-165" dirty="0"/>
              <a:t>TSC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300" y="2324100"/>
            <a:ext cx="10437495" cy="590804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41300" marR="5080" indent="-228600">
              <a:lnSpc>
                <a:spcPts val="2900"/>
              </a:lnSpc>
              <a:spcBef>
                <a:spcPts val="280"/>
              </a:spcBef>
              <a:buChar char="•"/>
              <a:tabLst>
                <a:tab pos="241300" algn="l"/>
              </a:tabLst>
            </a:pPr>
            <a:r>
              <a:rPr sz="2500" dirty="0">
                <a:latin typeface="Arial"/>
                <a:cs typeface="Arial"/>
              </a:rPr>
              <a:t>Una vez </a:t>
            </a:r>
            <a:r>
              <a:rPr sz="2500" spc="-5" dirty="0">
                <a:latin typeface="Arial"/>
                <a:cs typeface="Arial"/>
              </a:rPr>
              <a:t>definido este fichero </a:t>
            </a:r>
            <a:r>
              <a:rPr sz="2500" dirty="0">
                <a:latin typeface="Arial"/>
                <a:cs typeface="Arial"/>
              </a:rPr>
              <a:t>de </a:t>
            </a:r>
            <a:r>
              <a:rPr sz="2500" spc="-5" dirty="0">
                <a:latin typeface="Arial"/>
                <a:cs typeface="Arial"/>
              </a:rPr>
              <a:t>configuración, </a:t>
            </a:r>
            <a:r>
              <a:rPr sz="2500" dirty="0">
                <a:latin typeface="Arial"/>
                <a:cs typeface="Arial"/>
              </a:rPr>
              <a:t>para compilar </a:t>
            </a:r>
            <a:r>
              <a:rPr sz="2500" spc="-5" dirty="0">
                <a:latin typeface="Arial"/>
                <a:cs typeface="Arial"/>
              </a:rPr>
              <a:t>nuestros  proyectos, únicamente tendríamos </a:t>
            </a:r>
            <a:r>
              <a:rPr sz="2500" dirty="0">
                <a:latin typeface="Arial"/>
                <a:cs typeface="Arial"/>
              </a:rPr>
              <a:t>que llamar a </a:t>
            </a:r>
            <a:r>
              <a:rPr sz="2500" b="1" dirty="0">
                <a:latin typeface="Arial"/>
                <a:cs typeface="Arial"/>
              </a:rPr>
              <a:t>tsc </a:t>
            </a:r>
            <a:r>
              <a:rPr sz="2500" dirty="0">
                <a:latin typeface="Arial"/>
                <a:cs typeface="Arial"/>
              </a:rPr>
              <a:t>sin </a:t>
            </a:r>
            <a:r>
              <a:rPr sz="2500" spc="-5" dirty="0">
                <a:latin typeface="Arial"/>
                <a:cs typeface="Arial"/>
              </a:rPr>
              <a:t>argumentos </a:t>
            </a:r>
            <a:r>
              <a:rPr sz="2500" dirty="0">
                <a:latin typeface="Arial"/>
                <a:cs typeface="Arial"/>
              </a:rPr>
              <a:t>y ya  se encarga de recoger </a:t>
            </a:r>
            <a:r>
              <a:rPr sz="2500" spc="-5" dirty="0">
                <a:latin typeface="Arial"/>
                <a:cs typeface="Arial"/>
              </a:rPr>
              <a:t>todos </a:t>
            </a:r>
            <a:r>
              <a:rPr sz="2500" dirty="0">
                <a:latin typeface="Arial"/>
                <a:cs typeface="Arial"/>
              </a:rPr>
              <a:t>los </a:t>
            </a:r>
            <a:r>
              <a:rPr sz="2500" spc="-5" dirty="0">
                <a:latin typeface="Arial"/>
                <a:cs typeface="Arial"/>
              </a:rPr>
              <a:t>ficheros </a:t>
            </a:r>
            <a:r>
              <a:rPr sz="2500" dirty="0">
                <a:latin typeface="Arial"/>
                <a:cs typeface="Arial"/>
              </a:rPr>
              <a:t>de </a:t>
            </a:r>
            <a:r>
              <a:rPr sz="2500" spc="-5" dirty="0">
                <a:latin typeface="Arial"/>
                <a:cs typeface="Arial"/>
              </a:rPr>
              <a:t>tipo .ts </a:t>
            </a:r>
            <a:r>
              <a:rPr sz="2500" dirty="0">
                <a:latin typeface="Arial"/>
                <a:cs typeface="Arial"/>
              </a:rPr>
              <a:t>que </a:t>
            </a:r>
            <a:r>
              <a:rPr sz="2500" spc="-5" dirty="0">
                <a:latin typeface="Arial"/>
                <a:cs typeface="Arial"/>
              </a:rPr>
              <a:t>encuentre </a:t>
            </a:r>
            <a:r>
              <a:rPr sz="2500" dirty="0">
                <a:latin typeface="Arial"/>
                <a:cs typeface="Arial"/>
              </a:rPr>
              <a:t>en el  mismo </a:t>
            </a:r>
            <a:r>
              <a:rPr sz="2500" spc="-5" dirty="0">
                <a:latin typeface="Arial"/>
                <a:cs typeface="Arial"/>
              </a:rPr>
              <a:t>directorio </a:t>
            </a:r>
            <a:r>
              <a:rPr sz="2500" dirty="0">
                <a:latin typeface="Arial"/>
                <a:cs typeface="Arial"/>
              </a:rPr>
              <a:t>donde se </a:t>
            </a:r>
            <a:r>
              <a:rPr sz="2500" spc="-5" dirty="0">
                <a:latin typeface="Arial"/>
                <a:cs typeface="Arial"/>
              </a:rPr>
              <a:t>encuentra </a:t>
            </a:r>
            <a:r>
              <a:rPr sz="2500" dirty="0">
                <a:latin typeface="Arial"/>
                <a:cs typeface="Arial"/>
              </a:rPr>
              <a:t>el </a:t>
            </a:r>
            <a:r>
              <a:rPr sz="2500" spc="-5" dirty="0">
                <a:latin typeface="Arial"/>
                <a:cs typeface="Arial"/>
              </a:rPr>
              <a:t>fichero </a:t>
            </a:r>
            <a:r>
              <a:rPr sz="2500" dirty="0">
                <a:latin typeface="Arial"/>
                <a:cs typeface="Arial"/>
              </a:rPr>
              <a:t>de</a:t>
            </a:r>
            <a:r>
              <a:rPr sz="2500" spc="4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configuración.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241300" marR="991869" indent="-228600">
              <a:lnSpc>
                <a:spcPts val="2900"/>
              </a:lnSpc>
              <a:buChar char="•"/>
              <a:tabLst>
                <a:tab pos="241300" algn="l"/>
              </a:tabLst>
            </a:pPr>
            <a:r>
              <a:rPr sz="2500" dirty="0">
                <a:latin typeface="Arial"/>
                <a:cs typeface="Arial"/>
              </a:rPr>
              <a:t>Podemos </a:t>
            </a:r>
            <a:r>
              <a:rPr sz="2500" spc="-5" dirty="0">
                <a:latin typeface="Arial"/>
                <a:cs typeface="Arial"/>
              </a:rPr>
              <a:t>especificar también </a:t>
            </a:r>
            <a:r>
              <a:rPr sz="2500" dirty="0">
                <a:latin typeface="Arial"/>
                <a:cs typeface="Arial"/>
              </a:rPr>
              <a:t>qué </a:t>
            </a:r>
            <a:r>
              <a:rPr sz="2500" spc="-5" dirty="0">
                <a:latin typeface="Arial"/>
                <a:cs typeface="Arial"/>
              </a:rPr>
              <a:t>ficheros </a:t>
            </a:r>
            <a:r>
              <a:rPr sz="2500" dirty="0">
                <a:latin typeface="Arial"/>
                <a:cs typeface="Arial"/>
              </a:rPr>
              <a:t>son los que queremos  compilar:</a:t>
            </a:r>
            <a:endParaRPr sz="2500">
              <a:latin typeface="Arial"/>
              <a:cs typeface="Arial"/>
            </a:endParaRPr>
          </a:p>
          <a:p>
            <a:pPr marR="2636520" algn="ctr">
              <a:lnSpc>
                <a:spcPct val="100000"/>
              </a:lnSpc>
              <a:spcBef>
                <a:spcPts val="819"/>
              </a:spcBef>
            </a:pPr>
            <a:r>
              <a:rPr sz="1600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160020" algn="ctr">
              <a:lnSpc>
                <a:spcPct val="100000"/>
              </a:lnSpc>
              <a:spcBef>
                <a:spcPts val="180"/>
              </a:spcBef>
            </a:pP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"compilerOptions"</a:t>
            </a:r>
            <a:r>
              <a:rPr sz="1600" dirty="0">
                <a:latin typeface="Courier New"/>
                <a:cs typeface="Courier New"/>
              </a:rPr>
              <a:t>: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R="1722120" algn="ctr">
              <a:lnSpc>
                <a:spcPct val="100000"/>
              </a:lnSpc>
              <a:spcBef>
                <a:spcPts val="180"/>
              </a:spcBef>
            </a:pPr>
            <a:r>
              <a:rPr sz="1600" dirty="0">
                <a:latin typeface="Courier New"/>
                <a:cs typeface="Courier New"/>
              </a:rPr>
              <a:t>…</a:t>
            </a:r>
            <a:endParaRPr sz="1600">
              <a:latin typeface="Courier New"/>
              <a:cs typeface="Courier New"/>
            </a:endParaRPr>
          </a:p>
          <a:p>
            <a:pPr marR="2026920" algn="ctr">
              <a:lnSpc>
                <a:spcPct val="100000"/>
              </a:lnSpc>
              <a:spcBef>
                <a:spcPts val="180"/>
              </a:spcBef>
            </a:pPr>
            <a:r>
              <a:rPr sz="1600" dirty="0">
                <a:latin typeface="Courier New"/>
                <a:cs typeface="Courier New"/>
              </a:rPr>
              <a:t>},</a:t>
            </a:r>
            <a:endParaRPr sz="1600">
              <a:latin typeface="Courier New"/>
              <a:cs typeface="Courier New"/>
            </a:endParaRPr>
          </a:p>
          <a:p>
            <a:pPr marR="1172845" algn="ctr">
              <a:lnSpc>
                <a:spcPct val="100000"/>
              </a:lnSpc>
              <a:spcBef>
                <a:spcPts val="180"/>
              </a:spcBef>
            </a:pP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"files"</a:t>
            </a:r>
            <a:r>
              <a:rPr sz="1600" dirty="0">
                <a:latin typeface="Courier New"/>
                <a:cs typeface="Courier New"/>
              </a:rPr>
              <a:t>:[</a:t>
            </a:r>
            <a:endParaRPr sz="1600">
              <a:latin typeface="Courier New"/>
              <a:cs typeface="Courier New"/>
            </a:endParaRPr>
          </a:p>
          <a:p>
            <a:pPr marL="4323080" marR="4764405">
              <a:lnSpc>
                <a:spcPct val="109400"/>
              </a:lnSpc>
            </a:pPr>
            <a:r>
              <a:rPr sz="1600" spc="-5" dirty="0">
                <a:solidFill>
                  <a:srgbClr val="5EA702"/>
                </a:solidFill>
                <a:latin typeface="Courier New"/>
                <a:cs typeface="Courier New"/>
              </a:rPr>
              <a:t>"test.ts"</a:t>
            </a:r>
            <a:r>
              <a:rPr sz="1600" spc="-5" dirty="0">
                <a:latin typeface="Courier New"/>
                <a:cs typeface="Courier New"/>
              </a:rPr>
              <a:t>,  </a:t>
            </a:r>
            <a:r>
              <a:rPr sz="1600" dirty="0">
                <a:solidFill>
                  <a:srgbClr val="5EA702"/>
                </a:solidFill>
                <a:latin typeface="Courier New"/>
                <a:cs typeface="Courier New"/>
              </a:rPr>
              <a:t>"prueba.ts"</a:t>
            </a:r>
            <a:endParaRPr sz="1600">
              <a:latin typeface="Courier New"/>
              <a:cs typeface="Courier New"/>
            </a:endParaRPr>
          </a:p>
          <a:p>
            <a:pPr marR="2148840" algn="ctr">
              <a:lnSpc>
                <a:spcPct val="100000"/>
              </a:lnSpc>
              <a:spcBef>
                <a:spcPts val="180"/>
              </a:spcBef>
            </a:pPr>
            <a:r>
              <a:rPr sz="1600" dirty="0">
                <a:latin typeface="Courier New"/>
                <a:cs typeface="Courier New"/>
              </a:rPr>
              <a:t>]</a:t>
            </a:r>
            <a:endParaRPr sz="1600">
              <a:latin typeface="Courier New"/>
              <a:cs typeface="Courier New"/>
            </a:endParaRPr>
          </a:p>
          <a:p>
            <a:pPr marR="807085" algn="ctr">
              <a:lnSpc>
                <a:spcPct val="100000"/>
              </a:lnSpc>
              <a:spcBef>
                <a:spcPts val="180"/>
              </a:spcBef>
            </a:pPr>
            <a:r>
              <a:rPr sz="1600" dirty="0">
                <a:solidFill>
                  <a:srgbClr val="5EA702"/>
                </a:solidFill>
                <a:latin typeface="Courier New"/>
                <a:cs typeface="Courier New"/>
              </a:rPr>
              <a:t>"exclude"</a:t>
            </a:r>
            <a:r>
              <a:rPr sz="1600" dirty="0">
                <a:latin typeface="Courier New"/>
                <a:cs typeface="Courier New"/>
              </a:rPr>
              <a:t>: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[</a:t>
            </a:r>
            <a:endParaRPr sz="1600">
              <a:latin typeface="Courier New"/>
              <a:cs typeface="Courier New"/>
            </a:endParaRPr>
          </a:p>
          <a:p>
            <a:pPr marR="1905000" algn="ctr">
              <a:lnSpc>
                <a:spcPct val="100000"/>
              </a:lnSpc>
              <a:spcBef>
                <a:spcPts val="180"/>
              </a:spcBef>
            </a:pPr>
            <a:r>
              <a:rPr sz="1600" dirty="0">
                <a:latin typeface="Courier New"/>
                <a:cs typeface="Courier New"/>
              </a:rPr>
              <a:t>…</a:t>
            </a:r>
            <a:endParaRPr sz="1600">
              <a:latin typeface="Courier New"/>
              <a:cs typeface="Courier New"/>
            </a:endParaRPr>
          </a:p>
          <a:p>
            <a:pPr marR="2148840" algn="ctr">
              <a:lnSpc>
                <a:spcPct val="100000"/>
              </a:lnSpc>
              <a:spcBef>
                <a:spcPts val="180"/>
              </a:spcBef>
            </a:pPr>
            <a:r>
              <a:rPr sz="1600" dirty="0">
                <a:latin typeface="Courier New"/>
                <a:cs typeface="Courier New"/>
              </a:rPr>
              <a:t>]</a:t>
            </a:r>
            <a:endParaRPr sz="1600">
              <a:latin typeface="Courier New"/>
              <a:cs typeface="Courier New"/>
            </a:endParaRPr>
          </a:p>
          <a:p>
            <a:pPr marR="2636520" algn="ctr">
              <a:lnSpc>
                <a:spcPct val="100000"/>
              </a:lnSpc>
              <a:spcBef>
                <a:spcPts val="180"/>
              </a:spcBef>
            </a:pPr>
            <a:r>
              <a:rPr sz="160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TypeScript </a:t>
            </a:r>
            <a:r>
              <a:rPr dirty="0"/>
              <a:t>-</a:t>
            </a:r>
            <a:r>
              <a:rPr spc="-60" dirty="0"/>
              <a:t> </a:t>
            </a:r>
            <a:r>
              <a:rPr spc="-75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300" y="2228850"/>
            <a:ext cx="10396220" cy="621284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228600" marR="586740" indent="-215900">
              <a:lnSpc>
                <a:spcPts val="2700"/>
              </a:lnSpc>
              <a:spcBef>
                <a:spcPts val="290"/>
              </a:spcBef>
              <a:buChar char="•"/>
              <a:tabLst>
                <a:tab pos="228600" algn="l"/>
              </a:tabLst>
            </a:pPr>
            <a:r>
              <a:rPr sz="2350" dirty="0">
                <a:latin typeface="Arial"/>
                <a:cs typeface="Arial"/>
              </a:rPr>
              <a:t>Aunque hayamos escuchado muchas veces la </a:t>
            </a:r>
            <a:r>
              <a:rPr sz="2350" spc="-5" dirty="0">
                <a:latin typeface="Arial"/>
                <a:cs typeface="Arial"/>
              </a:rPr>
              <a:t>frase “</a:t>
            </a:r>
            <a:r>
              <a:rPr sz="2350" i="1" spc="-5" dirty="0">
                <a:latin typeface="Arial"/>
                <a:cs typeface="Arial"/>
              </a:rPr>
              <a:t>Javascript </a:t>
            </a:r>
            <a:r>
              <a:rPr sz="2350" i="1" dirty="0">
                <a:latin typeface="Arial"/>
                <a:cs typeface="Arial"/>
              </a:rPr>
              <a:t>no </a:t>
            </a:r>
            <a:r>
              <a:rPr sz="2350" i="1" spc="-5" dirty="0">
                <a:latin typeface="Arial"/>
                <a:cs typeface="Arial"/>
              </a:rPr>
              <a:t>tiene  tipos”</a:t>
            </a:r>
            <a:r>
              <a:rPr sz="2350" spc="-5" dirty="0">
                <a:latin typeface="Arial"/>
                <a:cs typeface="Arial"/>
              </a:rPr>
              <a:t>, </a:t>
            </a:r>
            <a:r>
              <a:rPr sz="2350" dirty="0">
                <a:latin typeface="Arial"/>
                <a:cs typeface="Arial"/>
              </a:rPr>
              <a:t>no es del </a:t>
            </a:r>
            <a:r>
              <a:rPr sz="2350" spc="-5" dirty="0">
                <a:latin typeface="Arial"/>
                <a:cs typeface="Arial"/>
              </a:rPr>
              <a:t>todo</a:t>
            </a:r>
            <a:r>
              <a:rPr sz="2350" spc="-10" dirty="0">
                <a:latin typeface="Arial"/>
                <a:cs typeface="Arial"/>
              </a:rPr>
              <a:t> </a:t>
            </a:r>
            <a:r>
              <a:rPr sz="2350" spc="-5" dirty="0">
                <a:latin typeface="Arial"/>
                <a:cs typeface="Arial"/>
              </a:rPr>
              <a:t>cierto.</a:t>
            </a:r>
            <a:endParaRPr sz="2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2150">
              <a:latin typeface="Times New Roman"/>
              <a:cs typeface="Times New Roman"/>
            </a:endParaRPr>
          </a:p>
          <a:p>
            <a:pPr marL="228600" indent="-215900">
              <a:lnSpc>
                <a:spcPct val="100000"/>
              </a:lnSpc>
              <a:buChar char="•"/>
              <a:tabLst>
                <a:tab pos="228600" algn="l"/>
              </a:tabLst>
            </a:pPr>
            <a:r>
              <a:rPr sz="2350" dirty="0">
                <a:latin typeface="Arial"/>
                <a:cs typeface="Arial"/>
              </a:rPr>
              <a:t>Sí que </a:t>
            </a:r>
            <a:r>
              <a:rPr sz="2350" spc="-5" dirty="0">
                <a:latin typeface="Arial"/>
                <a:cs typeface="Arial"/>
              </a:rPr>
              <a:t>tiene tipado </a:t>
            </a:r>
            <a:r>
              <a:rPr sz="2350" dirty="0">
                <a:latin typeface="Arial"/>
                <a:cs typeface="Arial"/>
              </a:rPr>
              <a:t>pero, el desarrollador no </a:t>
            </a:r>
            <a:r>
              <a:rPr sz="2350" spc="-5" dirty="0">
                <a:latin typeface="Arial"/>
                <a:cs typeface="Arial"/>
              </a:rPr>
              <a:t>tiene </a:t>
            </a:r>
            <a:r>
              <a:rPr sz="2350" dirty="0">
                <a:latin typeface="Arial"/>
                <a:cs typeface="Arial"/>
              </a:rPr>
              <a:t>que preocuparse por</a:t>
            </a:r>
            <a:r>
              <a:rPr sz="2350" spc="-40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ellos.</a:t>
            </a:r>
            <a:endParaRPr sz="2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228600" indent="-215900">
              <a:lnSpc>
                <a:spcPct val="100000"/>
              </a:lnSpc>
              <a:buChar char="•"/>
              <a:tabLst>
                <a:tab pos="228600" algn="l"/>
              </a:tabLst>
            </a:pPr>
            <a:r>
              <a:rPr sz="2350" dirty="0">
                <a:latin typeface="Arial"/>
                <a:cs typeface="Arial"/>
              </a:rPr>
              <a:t>Los </a:t>
            </a:r>
            <a:r>
              <a:rPr sz="2350" spc="-5" dirty="0">
                <a:latin typeface="Arial"/>
                <a:cs typeface="Arial"/>
              </a:rPr>
              <a:t>tipos </a:t>
            </a:r>
            <a:r>
              <a:rPr sz="2350" dirty="0">
                <a:latin typeface="Arial"/>
                <a:cs typeface="Arial"/>
              </a:rPr>
              <a:t>de Javascript </a:t>
            </a:r>
            <a:r>
              <a:rPr sz="2350" spc="-5" dirty="0">
                <a:latin typeface="Arial"/>
                <a:cs typeface="Arial"/>
              </a:rPr>
              <a:t>también existen </a:t>
            </a:r>
            <a:r>
              <a:rPr sz="2350" dirty="0">
                <a:latin typeface="Arial"/>
                <a:cs typeface="Arial"/>
              </a:rPr>
              <a:t>en</a:t>
            </a:r>
            <a:r>
              <a:rPr sz="2350" spc="-45" dirty="0">
                <a:latin typeface="Arial"/>
                <a:cs typeface="Arial"/>
              </a:rPr>
              <a:t> </a:t>
            </a:r>
            <a:r>
              <a:rPr sz="2350" spc="-15" dirty="0">
                <a:latin typeface="Arial"/>
                <a:cs typeface="Arial"/>
              </a:rPr>
              <a:t>TypeScript:</a:t>
            </a:r>
            <a:endParaRPr sz="2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609600" lvl="1" indent="-215900">
              <a:lnSpc>
                <a:spcPct val="100000"/>
              </a:lnSpc>
              <a:buChar char="•"/>
              <a:tabLst>
                <a:tab pos="609600" algn="l"/>
              </a:tabLst>
            </a:pPr>
            <a:r>
              <a:rPr sz="2350" b="1" dirty="0">
                <a:latin typeface="Arial"/>
                <a:cs typeface="Arial"/>
              </a:rPr>
              <a:t>boolean</a:t>
            </a:r>
            <a:r>
              <a:rPr sz="2350" b="1" spc="-10" dirty="0">
                <a:latin typeface="Arial"/>
                <a:cs typeface="Arial"/>
              </a:rPr>
              <a:t> </a:t>
            </a:r>
            <a:r>
              <a:rPr sz="2350" spc="-5" dirty="0">
                <a:latin typeface="Arial"/>
                <a:cs typeface="Arial"/>
              </a:rPr>
              <a:t>(true/false)</a:t>
            </a:r>
            <a:endParaRPr sz="23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609600" lvl="1" indent="-215900">
              <a:lnSpc>
                <a:spcPct val="100000"/>
              </a:lnSpc>
              <a:buChar char="•"/>
              <a:tabLst>
                <a:tab pos="609600" algn="l"/>
              </a:tabLst>
            </a:pPr>
            <a:r>
              <a:rPr sz="2350" b="1" spc="-5" dirty="0">
                <a:latin typeface="Arial"/>
                <a:cs typeface="Arial"/>
              </a:rPr>
              <a:t>number </a:t>
            </a:r>
            <a:r>
              <a:rPr sz="2350" spc="-5" dirty="0">
                <a:latin typeface="Arial"/>
                <a:cs typeface="Arial"/>
              </a:rPr>
              <a:t>enteros, float, Infinity </a:t>
            </a:r>
            <a:r>
              <a:rPr sz="2350" dirty="0">
                <a:latin typeface="Arial"/>
                <a:cs typeface="Arial"/>
              </a:rPr>
              <a:t>y</a:t>
            </a:r>
            <a:r>
              <a:rPr sz="2350" spc="-5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NaN</a:t>
            </a:r>
            <a:endParaRPr sz="23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609600" lvl="1" indent="-215900">
              <a:lnSpc>
                <a:spcPct val="100000"/>
              </a:lnSpc>
              <a:buChar char="•"/>
              <a:tabLst>
                <a:tab pos="609600" algn="l"/>
              </a:tabLst>
            </a:pPr>
            <a:r>
              <a:rPr sz="2350" b="1" spc="-5" dirty="0">
                <a:latin typeface="Arial"/>
                <a:cs typeface="Arial"/>
              </a:rPr>
              <a:t>string </a:t>
            </a:r>
            <a:r>
              <a:rPr sz="2350" spc="-5" dirty="0">
                <a:latin typeface="Arial"/>
                <a:cs typeface="Arial"/>
              </a:rPr>
              <a:t>caracteres </a:t>
            </a:r>
            <a:r>
              <a:rPr sz="2350" dirty="0">
                <a:latin typeface="Arial"/>
                <a:cs typeface="Arial"/>
              </a:rPr>
              <a:t>y</a:t>
            </a:r>
            <a:r>
              <a:rPr sz="2350" spc="-10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cadenas</a:t>
            </a:r>
            <a:endParaRPr sz="23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609600" lvl="1" indent="-215900">
              <a:lnSpc>
                <a:spcPct val="100000"/>
              </a:lnSpc>
              <a:buChar char="•"/>
              <a:tabLst>
                <a:tab pos="609600" algn="l"/>
              </a:tabLst>
            </a:pPr>
            <a:r>
              <a:rPr sz="2350" b="1" dirty="0">
                <a:latin typeface="Arial"/>
                <a:cs typeface="Arial"/>
              </a:rPr>
              <a:t>[ ] </a:t>
            </a:r>
            <a:r>
              <a:rPr sz="2350" dirty="0">
                <a:latin typeface="Arial"/>
                <a:cs typeface="Arial"/>
              </a:rPr>
              <a:t>arrays de </a:t>
            </a:r>
            <a:r>
              <a:rPr sz="2350" spc="-5" dirty="0">
                <a:latin typeface="Arial"/>
                <a:cs typeface="Arial"/>
              </a:rPr>
              <a:t>diferentes</a:t>
            </a:r>
            <a:r>
              <a:rPr sz="2350" spc="-20" dirty="0">
                <a:latin typeface="Arial"/>
                <a:cs typeface="Arial"/>
              </a:rPr>
              <a:t> </a:t>
            </a:r>
            <a:r>
              <a:rPr sz="2350" spc="-5" dirty="0">
                <a:latin typeface="Arial"/>
                <a:cs typeface="Arial"/>
              </a:rPr>
              <a:t>tipos</a:t>
            </a:r>
            <a:endParaRPr sz="23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609600" lvl="1" indent="-215900">
              <a:lnSpc>
                <a:spcPct val="100000"/>
              </a:lnSpc>
              <a:buChar char="•"/>
              <a:tabLst>
                <a:tab pos="609600" algn="l"/>
              </a:tabLst>
            </a:pPr>
            <a:r>
              <a:rPr sz="2350" b="1" dirty="0">
                <a:latin typeface="Arial"/>
                <a:cs typeface="Arial"/>
              </a:rPr>
              <a:t>{ } </a:t>
            </a:r>
            <a:r>
              <a:rPr sz="2350" spc="-5" dirty="0">
                <a:latin typeface="Arial"/>
                <a:cs typeface="Arial"/>
              </a:rPr>
              <a:t>objetos</a:t>
            </a:r>
            <a:r>
              <a:rPr sz="2350" spc="-15" dirty="0">
                <a:latin typeface="Arial"/>
                <a:cs typeface="Arial"/>
              </a:rPr>
              <a:t> </a:t>
            </a:r>
            <a:r>
              <a:rPr sz="2350" spc="-5" dirty="0">
                <a:latin typeface="Arial"/>
                <a:cs typeface="Arial"/>
              </a:rPr>
              <a:t>literales</a:t>
            </a:r>
            <a:endParaRPr sz="23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609600" lvl="1" indent="-215900">
              <a:lnSpc>
                <a:spcPct val="100000"/>
              </a:lnSpc>
              <a:spcBef>
                <a:spcPts val="5"/>
              </a:spcBef>
              <a:buChar char="•"/>
              <a:tabLst>
                <a:tab pos="609600" algn="l"/>
              </a:tabLst>
            </a:pPr>
            <a:r>
              <a:rPr sz="2350" b="1" spc="-5" dirty="0">
                <a:latin typeface="Arial"/>
                <a:cs typeface="Arial"/>
              </a:rPr>
              <a:t>undefined </a:t>
            </a:r>
            <a:r>
              <a:rPr sz="2350" spc="-5" dirty="0">
                <a:latin typeface="Arial"/>
                <a:cs typeface="Arial"/>
              </a:rPr>
              <a:t>algo no definido.</a:t>
            </a:r>
            <a:endParaRPr sz="2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TypeScript </a:t>
            </a:r>
            <a:r>
              <a:rPr dirty="0"/>
              <a:t>-</a:t>
            </a:r>
            <a:r>
              <a:rPr spc="-60" dirty="0"/>
              <a:t> </a:t>
            </a:r>
            <a:r>
              <a:rPr spc="-75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300" y="2374900"/>
            <a:ext cx="10067290" cy="298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latin typeface="Arial"/>
                <a:cs typeface="Arial"/>
              </a:rPr>
              <a:t>number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6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2870"/>
              </a:lnSpc>
              <a:buChar char="•"/>
              <a:tabLst>
                <a:tab pos="241300" algn="l"/>
              </a:tabLst>
            </a:pPr>
            <a:r>
              <a:rPr sz="3750" baseline="1111" dirty="0">
                <a:latin typeface="Arial"/>
                <a:cs typeface="Arial"/>
              </a:rPr>
              <a:t>Como pasa en </a:t>
            </a:r>
            <a:r>
              <a:rPr sz="3750" spc="-7" baseline="1111" dirty="0">
                <a:latin typeface="Arial"/>
                <a:cs typeface="Arial"/>
              </a:rPr>
              <a:t>Javascript, todos </a:t>
            </a:r>
            <a:r>
              <a:rPr sz="3750" baseline="1111" dirty="0">
                <a:latin typeface="Arial"/>
                <a:cs typeface="Arial"/>
              </a:rPr>
              <a:t>los números que podemos </a:t>
            </a:r>
            <a:r>
              <a:rPr sz="3750" spc="-7" baseline="1111" dirty="0">
                <a:latin typeface="Arial"/>
                <a:cs typeface="Arial"/>
              </a:rPr>
              <a:t>utilizar </a:t>
            </a:r>
            <a:r>
              <a:rPr sz="3750" baseline="1111" dirty="0">
                <a:latin typeface="Arial"/>
                <a:cs typeface="Arial"/>
              </a:rPr>
              <a:t>en </a:t>
            </a:r>
            <a:r>
              <a:rPr sz="2500" dirty="0">
                <a:latin typeface="Arial"/>
                <a:cs typeface="Arial"/>
              </a:rPr>
              <a:t> </a:t>
            </a:r>
            <a:r>
              <a:rPr sz="2500" spc="-15" dirty="0">
                <a:latin typeface="Arial"/>
                <a:cs typeface="Arial"/>
              </a:rPr>
              <a:t>TypeScript </a:t>
            </a:r>
            <a:r>
              <a:rPr sz="2500" dirty="0">
                <a:latin typeface="Arial"/>
                <a:cs typeface="Arial"/>
              </a:rPr>
              <a:t>son de </a:t>
            </a:r>
            <a:r>
              <a:rPr sz="2500" spc="-5" dirty="0">
                <a:latin typeface="Arial"/>
                <a:cs typeface="Arial"/>
              </a:rPr>
              <a:t>tipo </a:t>
            </a:r>
            <a:r>
              <a:rPr sz="2500" dirty="0">
                <a:latin typeface="Arial"/>
                <a:cs typeface="Arial"/>
              </a:rPr>
              <a:t>coma</a:t>
            </a:r>
            <a:r>
              <a:rPr sz="2500" spc="1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flotante.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"/>
              <a:buChar char="•"/>
            </a:pPr>
            <a:endParaRPr sz="2450">
              <a:latin typeface="Times New Roman"/>
              <a:cs typeface="Times New Roman"/>
            </a:endParaRPr>
          </a:p>
          <a:p>
            <a:pPr marL="241300" marR="151765" indent="-228600">
              <a:lnSpc>
                <a:spcPct val="96200"/>
              </a:lnSpc>
              <a:buChar char="•"/>
              <a:tabLst>
                <a:tab pos="241300" algn="l"/>
              </a:tabLst>
            </a:pPr>
            <a:r>
              <a:rPr sz="3750" baseline="1111" dirty="0">
                <a:latin typeface="Arial"/>
                <a:cs typeface="Arial"/>
              </a:rPr>
              <a:t>Además de los números </a:t>
            </a:r>
            <a:r>
              <a:rPr sz="3750" spc="-7" baseline="1111" dirty="0">
                <a:latin typeface="Arial"/>
                <a:cs typeface="Arial"/>
              </a:rPr>
              <a:t>enteros </a:t>
            </a:r>
            <a:r>
              <a:rPr sz="3750" baseline="1111" dirty="0">
                <a:latin typeface="Arial"/>
                <a:cs typeface="Arial"/>
              </a:rPr>
              <a:t>y decimales, en </a:t>
            </a:r>
            <a:r>
              <a:rPr sz="3750" spc="-22" baseline="1111" dirty="0">
                <a:latin typeface="Arial"/>
                <a:cs typeface="Arial"/>
              </a:rPr>
              <a:t>TypeScript</a:t>
            </a:r>
            <a:r>
              <a:rPr sz="3750" spc="-157" baseline="1111" dirty="0">
                <a:latin typeface="Arial"/>
                <a:cs typeface="Arial"/>
              </a:rPr>
              <a:t> </a:t>
            </a:r>
            <a:r>
              <a:rPr sz="3750" spc="-7" baseline="1111" dirty="0">
                <a:latin typeface="Arial"/>
                <a:cs typeface="Arial"/>
              </a:rPr>
              <a:t>también 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podemos </a:t>
            </a:r>
            <a:r>
              <a:rPr sz="2500" spc="-5" dirty="0">
                <a:latin typeface="Arial"/>
                <a:cs typeface="Arial"/>
              </a:rPr>
              <a:t>trabajar </a:t>
            </a:r>
            <a:r>
              <a:rPr sz="2500" dirty="0">
                <a:latin typeface="Arial"/>
                <a:cs typeface="Arial"/>
              </a:rPr>
              <a:t>con números hexadecimales, valores binarios y  </a:t>
            </a:r>
            <a:r>
              <a:rPr sz="2500" spc="-5" dirty="0">
                <a:latin typeface="Arial"/>
                <a:cs typeface="Arial"/>
              </a:rPr>
              <a:t>octales.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11700" y="6085840"/>
            <a:ext cx="3439795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70840">
              <a:lnSpc>
                <a:spcPct val="109400"/>
              </a:lnSpc>
              <a:spcBef>
                <a:spcPts val="100"/>
              </a:spcBef>
            </a:pP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let </a:t>
            </a:r>
            <a:r>
              <a:rPr sz="1600" dirty="0">
                <a:latin typeface="Courier New"/>
                <a:cs typeface="Courier New"/>
              </a:rPr>
              <a:t>decimal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: </a:t>
            </a:r>
            <a:r>
              <a:rPr sz="1600" spc="-5" dirty="0">
                <a:latin typeface="Courier New"/>
                <a:cs typeface="Courier New"/>
              </a:rPr>
              <a:t>number 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= </a:t>
            </a:r>
            <a:r>
              <a:rPr sz="1600" dirty="0">
                <a:solidFill>
                  <a:srgbClr val="0329D8"/>
                </a:solidFill>
                <a:latin typeface="Courier New"/>
                <a:cs typeface="Courier New"/>
              </a:rPr>
              <a:t>6</a:t>
            </a:r>
            <a:r>
              <a:rPr sz="1600" dirty="0">
                <a:latin typeface="Courier New"/>
                <a:cs typeface="Courier New"/>
              </a:rPr>
              <a:t>;  </a:t>
            </a: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let </a:t>
            </a:r>
            <a:r>
              <a:rPr sz="1600" dirty="0">
                <a:latin typeface="Courier New"/>
                <a:cs typeface="Courier New"/>
              </a:rPr>
              <a:t>hex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: </a:t>
            </a:r>
            <a:r>
              <a:rPr sz="1600" spc="-5" dirty="0">
                <a:latin typeface="Courier New"/>
                <a:cs typeface="Courier New"/>
              </a:rPr>
              <a:t>number 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=</a:t>
            </a:r>
            <a:r>
              <a:rPr sz="1600" spc="-60" dirty="0">
                <a:solidFill>
                  <a:srgbClr val="D97100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0329D8"/>
                </a:solidFill>
                <a:latin typeface="Courier New"/>
                <a:cs typeface="Courier New"/>
              </a:rPr>
              <a:t>0xf00d</a:t>
            </a:r>
            <a:r>
              <a:rPr sz="1600" spc="-5" dirty="0">
                <a:latin typeface="Courier New"/>
                <a:cs typeface="Courier New"/>
              </a:rPr>
              <a:t>;</a:t>
            </a:r>
            <a:endParaRPr sz="1600" dirty="0">
              <a:latin typeface="Courier New"/>
              <a:cs typeface="Courier New"/>
            </a:endParaRPr>
          </a:p>
          <a:p>
            <a:pPr marL="12700" marR="5080">
              <a:lnSpc>
                <a:spcPct val="109400"/>
              </a:lnSpc>
            </a:pP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let </a:t>
            </a:r>
            <a:r>
              <a:rPr sz="1600" dirty="0">
                <a:latin typeface="Courier New"/>
                <a:cs typeface="Courier New"/>
              </a:rPr>
              <a:t>binary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: </a:t>
            </a:r>
            <a:r>
              <a:rPr sz="1600" spc="-5" dirty="0">
                <a:latin typeface="Courier New"/>
                <a:cs typeface="Courier New"/>
              </a:rPr>
              <a:t>number 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=</a:t>
            </a:r>
            <a:r>
              <a:rPr sz="1600" spc="-60" dirty="0">
                <a:solidFill>
                  <a:srgbClr val="D97100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0329D8"/>
                </a:solidFill>
                <a:latin typeface="Courier New"/>
                <a:cs typeface="Courier New"/>
              </a:rPr>
              <a:t>0</a:t>
            </a:r>
            <a:r>
              <a:rPr sz="1600" spc="-5" dirty="0">
                <a:latin typeface="Courier New"/>
                <a:cs typeface="Courier New"/>
              </a:rPr>
              <a:t>b1010;  </a:t>
            </a: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let </a:t>
            </a:r>
            <a:r>
              <a:rPr sz="1600" dirty="0">
                <a:latin typeface="Courier New"/>
                <a:cs typeface="Courier New"/>
              </a:rPr>
              <a:t>octal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: </a:t>
            </a:r>
            <a:r>
              <a:rPr sz="1600" spc="-5" dirty="0">
                <a:latin typeface="Courier New"/>
                <a:cs typeface="Courier New"/>
              </a:rPr>
              <a:t>number 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=</a:t>
            </a:r>
            <a:r>
              <a:rPr sz="1600" spc="-60" dirty="0">
                <a:solidFill>
                  <a:srgbClr val="D971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329D8"/>
                </a:solidFill>
                <a:latin typeface="Courier New"/>
                <a:cs typeface="Courier New"/>
              </a:rPr>
              <a:t>0</a:t>
            </a:r>
            <a:r>
              <a:rPr sz="1600" dirty="0">
                <a:latin typeface="Courier New"/>
                <a:cs typeface="Courier New"/>
              </a:rPr>
              <a:t>o744;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TypeScript </a:t>
            </a:r>
            <a:r>
              <a:rPr dirty="0"/>
              <a:t>-</a:t>
            </a:r>
            <a:r>
              <a:rPr spc="-60" dirty="0"/>
              <a:t> </a:t>
            </a:r>
            <a:r>
              <a:rPr spc="-75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300" y="2044700"/>
            <a:ext cx="10455910" cy="62790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z="2500" b="1" spc="-5" dirty="0">
                <a:latin typeface="Arial"/>
                <a:cs typeface="Arial"/>
              </a:rPr>
              <a:t>string</a:t>
            </a:r>
            <a:endParaRPr sz="25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600" dirty="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2870"/>
              </a:lnSpc>
              <a:buChar char="•"/>
              <a:tabLst>
                <a:tab pos="241300" algn="l"/>
              </a:tabLst>
            </a:pPr>
            <a:r>
              <a:rPr sz="3750" baseline="1111" dirty="0">
                <a:latin typeface="Arial"/>
                <a:cs typeface="Arial"/>
              </a:rPr>
              <a:t>Uno de los </a:t>
            </a:r>
            <a:r>
              <a:rPr sz="3750" spc="-7" baseline="1111" dirty="0">
                <a:latin typeface="Arial"/>
                <a:cs typeface="Arial"/>
              </a:rPr>
              <a:t>tipos </a:t>
            </a:r>
            <a:r>
              <a:rPr sz="3750" baseline="1111" dirty="0">
                <a:latin typeface="Arial"/>
                <a:cs typeface="Arial"/>
              </a:rPr>
              <a:t>más </a:t>
            </a:r>
            <a:r>
              <a:rPr sz="3750" spc="-7" baseline="1111" dirty="0">
                <a:latin typeface="Arial"/>
                <a:cs typeface="Arial"/>
              </a:rPr>
              <a:t>importantes </a:t>
            </a:r>
            <a:r>
              <a:rPr sz="3750" baseline="1111" dirty="0">
                <a:latin typeface="Arial"/>
                <a:cs typeface="Arial"/>
              </a:rPr>
              <a:t>para el </a:t>
            </a:r>
            <a:r>
              <a:rPr sz="3750" spc="-7" baseline="1111" dirty="0">
                <a:latin typeface="Arial"/>
                <a:cs typeface="Arial"/>
              </a:rPr>
              <a:t>trabajo </a:t>
            </a:r>
            <a:r>
              <a:rPr sz="3750" baseline="1111" dirty="0">
                <a:latin typeface="Arial"/>
                <a:cs typeface="Arial"/>
              </a:rPr>
              <a:t>con aplicaciones web o </a:t>
            </a:r>
            <a:r>
              <a:rPr sz="2500" dirty="0">
                <a:latin typeface="Arial"/>
                <a:cs typeface="Arial"/>
              </a:rPr>
              <a:t> sobre servidores es el encargado de </a:t>
            </a:r>
            <a:r>
              <a:rPr sz="2500" spc="-5" dirty="0">
                <a:latin typeface="Arial"/>
                <a:cs typeface="Arial"/>
              </a:rPr>
              <a:t>trabajar </a:t>
            </a:r>
            <a:r>
              <a:rPr sz="2500" dirty="0">
                <a:latin typeface="Arial"/>
                <a:cs typeface="Arial"/>
              </a:rPr>
              <a:t>con</a:t>
            </a:r>
            <a:r>
              <a:rPr sz="2500" spc="-2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literales.</a:t>
            </a:r>
            <a:endParaRPr sz="25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2550" dirty="0">
              <a:latin typeface="Times New Roman"/>
              <a:cs typeface="Times New Roman"/>
            </a:endParaRPr>
          </a:p>
          <a:p>
            <a:pPr marL="241300" marR="133985" indent="-228600">
              <a:lnSpc>
                <a:spcPts val="2870"/>
              </a:lnSpc>
              <a:buChar char="•"/>
              <a:tabLst>
                <a:tab pos="241300" algn="l"/>
              </a:tabLst>
            </a:pPr>
            <a:r>
              <a:rPr sz="3750" baseline="1111" dirty="0">
                <a:latin typeface="Arial"/>
                <a:cs typeface="Arial"/>
              </a:rPr>
              <a:t>Las cadenas de </a:t>
            </a:r>
            <a:r>
              <a:rPr sz="3750" spc="-7" baseline="1111" dirty="0">
                <a:latin typeface="Arial"/>
                <a:cs typeface="Arial"/>
              </a:rPr>
              <a:t>texto literales </a:t>
            </a:r>
            <a:r>
              <a:rPr sz="3750" baseline="1111" dirty="0">
                <a:latin typeface="Arial"/>
                <a:cs typeface="Arial"/>
              </a:rPr>
              <a:t>en </a:t>
            </a:r>
            <a:r>
              <a:rPr sz="3750" spc="-22" baseline="1111" dirty="0">
                <a:latin typeface="Arial"/>
                <a:cs typeface="Arial"/>
              </a:rPr>
              <a:t>TypeScript, </a:t>
            </a:r>
            <a:r>
              <a:rPr sz="3750" baseline="1111" dirty="0">
                <a:latin typeface="Arial"/>
                <a:cs typeface="Arial"/>
              </a:rPr>
              <a:t>al igual que en </a:t>
            </a:r>
            <a:r>
              <a:rPr sz="3750" spc="-7" baseline="1111" dirty="0">
                <a:latin typeface="Arial"/>
                <a:cs typeface="Arial"/>
              </a:rPr>
              <a:t>Javascript, 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las </a:t>
            </a:r>
            <a:r>
              <a:rPr sz="2500" spc="-5" dirty="0">
                <a:latin typeface="Arial"/>
                <a:cs typeface="Arial"/>
              </a:rPr>
              <a:t>definimos </a:t>
            </a:r>
            <a:r>
              <a:rPr sz="2500" dirty="0">
                <a:latin typeface="Arial"/>
                <a:cs typeface="Arial"/>
              </a:rPr>
              <a:t>a </a:t>
            </a:r>
            <a:r>
              <a:rPr sz="2500" spc="-5" dirty="0">
                <a:latin typeface="Arial"/>
                <a:cs typeface="Arial"/>
              </a:rPr>
              <a:t>partir </a:t>
            </a:r>
            <a:r>
              <a:rPr sz="2500" dirty="0">
                <a:latin typeface="Arial"/>
                <a:cs typeface="Arial"/>
              </a:rPr>
              <a:t>de comillas simples o comillas</a:t>
            </a:r>
            <a:r>
              <a:rPr sz="2500" spc="-3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dobles.</a:t>
            </a: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2450" dirty="0">
              <a:latin typeface="Times New Roman"/>
              <a:cs typeface="Times New Roman"/>
            </a:endParaRPr>
          </a:p>
          <a:p>
            <a:pPr marL="241300" marR="57785" indent="-228600">
              <a:lnSpc>
                <a:spcPct val="96200"/>
              </a:lnSpc>
              <a:buChar char="•"/>
              <a:tabLst>
                <a:tab pos="241300" algn="l"/>
              </a:tabLst>
            </a:pPr>
            <a:r>
              <a:rPr sz="3750" spc="-7" baseline="1111" dirty="0">
                <a:latin typeface="Arial"/>
                <a:cs typeface="Arial"/>
              </a:rPr>
              <a:t>Aparte, </a:t>
            </a:r>
            <a:r>
              <a:rPr sz="3750" baseline="1111" dirty="0">
                <a:latin typeface="Arial"/>
                <a:cs typeface="Arial"/>
              </a:rPr>
              <a:t>podemos </a:t>
            </a:r>
            <a:r>
              <a:rPr sz="3750" spc="-7" baseline="1111" dirty="0">
                <a:latin typeface="Arial"/>
                <a:cs typeface="Arial"/>
              </a:rPr>
              <a:t>utilizar </a:t>
            </a:r>
            <a:r>
              <a:rPr sz="3750" baseline="1111" dirty="0">
                <a:latin typeface="Arial"/>
                <a:cs typeface="Arial"/>
              </a:rPr>
              <a:t>las </a:t>
            </a:r>
            <a:r>
              <a:rPr sz="3750" spc="-7" baseline="1111" dirty="0">
                <a:latin typeface="Arial"/>
                <a:cs typeface="Arial"/>
              </a:rPr>
              <a:t>plantillas </a:t>
            </a:r>
            <a:r>
              <a:rPr sz="3750" baseline="1111" dirty="0">
                <a:latin typeface="Arial"/>
                <a:cs typeface="Arial"/>
              </a:rPr>
              <a:t>de </a:t>
            </a:r>
            <a:r>
              <a:rPr sz="3750" spc="-7" baseline="1111" dirty="0">
                <a:latin typeface="Arial"/>
                <a:cs typeface="Arial"/>
              </a:rPr>
              <a:t>string </a:t>
            </a:r>
            <a:r>
              <a:rPr sz="3750" baseline="1111" dirty="0">
                <a:latin typeface="Arial"/>
                <a:cs typeface="Arial"/>
              </a:rPr>
              <a:t>para poder expandirlas a </a:t>
            </a:r>
            <a:r>
              <a:rPr sz="2500" dirty="0">
                <a:latin typeface="Arial"/>
                <a:cs typeface="Arial"/>
              </a:rPr>
              <a:t> más de una </a:t>
            </a:r>
            <a:r>
              <a:rPr sz="2500" spc="-5" dirty="0">
                <a:latin typeface="Arial"/>
                <a:cs typeface="Arial"/>
              </a:rPr>
              <a:t>línea </a:t>
            </a:r>
            <a:r>
              <a:rPr sz="2500" dirty="0">
                <a:latin typeface="Arial"/>
                <a:cs typeface="Arial"/>
              </a:rPr>
              <a:t>e </a:t>
            </a:r>
            <a:r>
              <a:rPr sz="2500" spc="-5" dirty="0">
                <a:latin typeface="Arial"/>
                <a:cs typeface="Arial"/>
              </a:rPr>
              <a:t>intercalar cómodamente </a:t>
            </a:r>
            <a:r>
              <a:rPr sz="2500" dirty="0">
                <a:latin typeface="Arial"/>
                <a:cs typeface="Arial"/>
              </a:rPr>
              <a:t>las variables que  </a:t>
            </a:r>
            <a:r>
              <a:rPr sz="2500" spc="-5" dirty="0">
                <a:latin typeface="Arial"/>
                <a:cs typeface="Arial"/>
              </a:rPr>
              <a:t>necesitemos.</a:t>
            </a:r>
            <a:endParaRPr sz="2500" dirty="0">
              <a:latin typeface="Arial"/>
              <a:cs typeface="Arial"/>
            </a:endParaRPr>
          </a:p>
          <a:p>
            <a:pPr marL="2667000" marR="3634740">
              <a:lnSpc>
                <a:spcPts val="4200"/>
              </a:lnSpc>
              <a:spcBef>
                <a:spcPts val="140"/>
              </a:spcBef>
            </a:pP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let </a:t>
            </a:r>
            <a:r>
              <a:rPr sz="1600" dirty="0">
                <a:latin typeface="Courier New"/>
                <a:cs typeface="Courier New"/>
              </a:rPr>
              <a:t>cadena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: </a:t>
            </a:r>
            <a:r>
              <a:rPr sz="1600" spc="-5" dirty="0">
                <a:latin typeface="Courier New"/>
                <a:cs typeface="Courier New"/>
              </a:rPr>
              <a:t>string 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= </a:t>
            </a:r>
            <a:r>
              <a:rPr sz="1600" spc="-5" dirty="0">
                <a:solidFill>
                  <a:srgbClr val="5EA702"/>
                </a:solidFill>
                <a:latin typeface="Courier New"/>
                <a:cs typeface="Courier New"/>
              </a:rPr>
              <a:t>"Hola</a:t>
            </a:r>
            <a:r>
              <a:rPr sz="1600" spc="-90" dirty="0">
                <a:solidFill>
                  <a:srgbClr val="5EA702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5EA702"/>
                </a:solidFill>
                <a:latin typeface="Courier New"/>
                <a:cs typeface="Courier New"/>
              </a:rPr>
              <a:t>Mundo"</a:t>
            </a:r>
            <a:r>
              <a:rPr sz="1600" dirty="0">
                <a:latin typeface="Courier New"/>
                <a:cs typeface="Courier New"/>
              </a:rPr>
              <a:t>;  </a:t>
            </a: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let </a:t>
            </a:r>
            <a:r>
              <a:rPr sz="1600" dirty="0">
                <a:latin typeface="Courier New"/>
                <a:cs typeface="Courier New"/>
              </a:rPr>
              <a:t>nombre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: </a:t>
            </a:r>
            <a:r>
              <a:rPr sz="1600" spc="-5" dirty="0">
                <a:latin typeface="Courier New"/>
                <a:cs typeface="Courier New"/>
              </a:rPr>
              <a:t>string 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=</a:t>
            </a:r>
            <a:r>
              <a:rPr sz="1600" spc="-40" dirty="0">
                <a:solidFill>
                  <a:srgbClr val="D971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5EA702"/>
                </a:solidFill>
                <a:latin typeface="Courier New"/>
                <a:cs typeface="Courier New"/>
              </a:rPr>
              <a:t>"</a:t>
            </a:r>
            <a:r>
              <a:rPr lang="es-ES" sz="1600" dirty="0">
                <a:solidFill>
                  <a:srgbClr val="5EA702"/>
                </a:solidFill>
                <a:latin typeface="Courier New"/>
                <a:cs typeface="Courier New"/>
              </a:rPr>
              <a:t>Anabel</a:t>
            </a:r>
            <a:r>
              <a:rPr sz="1600" dirty="0">
                <a:solidFill>
                  <a:srgbClr val="5EA702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latin typeface="Courier New"/>
                <a:cs typeface="Courier New"/>
              </a:rPr>
              <a:t>;</a:t>
            </a:r>
          </a:p>
          <a:p>
            <a:pPr marL="2667000">
              <a:lnSpc>
                <a:spcPts val="1580"/>
              </a:lnSpc>
            </a:pP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let </a:t>
            </a:r>
            <a:r>
              <a:rPr sz="1600" spc="-5" dirty="0">
                <a:latin typeface="Courier New"/>
                <a:cs typeface="Courier New"/>
              </a:rPr>
              <a:t>direccion</a:t>
            </a:r>
            <a:r>
              <a:rPr sz="1600" spc="-5" dirty="0">
                <a:solidFill>
                  <a:srgbClr val="D97100"/>
                </a:solidFill>
                <a:latin typeface="Courier New"/>
                <a:cs typeface="Courier New"/>
              </a:rPr>
              <a:t>: </a:t>
            </a:r>
            <a:r>
              <a:rPr sz="1600" spc="-5" dirty="0">
                <a:latin typeface="Courier New"/>
                <a:cs typeface="Courier New"/>
              </a:rPr>
              <a:t>string 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= </a:t>
            </a:r>
            <a:r>
              <a:rPr sz="1600" spc="-5" dirty="0">
                <a:solidFill>
                  <a:srgbClr val="5EA702"/>
                </a:solidFill>
                <a:latin typeface="Courier New"/>
                <a:cs typeface="Courier New"/>
              </a:rPr>
              <a:t>"</a:t>
            </a:r>
            <a:r>
              <a:rPr lang="es-ES" sz="1600" spc="-5" dirty="0">
                <a:solidFill>
                  <a:srgbClr val="5EA702"/>
                </a:solidFill>
                <a:latin typeface="Courier New"/>
                <a:cs typeface="Courier New"/>
              </a:rPr>
              <a:t>Mayor, 7</a:t>
            </a:r>
            <a:r>
              <a:rPr sz="1600" dirty="0">
                <a:solidFill>
                  <a:srgbClr val="5EA702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latin typeface="Courier New"/>
                <a:cs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2667000" marR="3025140">
              <a:lnSpc>
                <a:spcPct val="109400"/>
              </a:lnSpc>
            </a:pP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let </a:t>
            </a:r>
            <a:r>
              <a:rPr sz="1600" dirty="0">
                <a:latin typeface="Courier New"/>
                <a:cs typeface="Courier New"/>
              </a:rPr>
              <a:t>frase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: </a:t>
            </a:r>
            <a:r>
              <a:rPr sz="1600" spc="-5" dirty="0">
                <a:latin typeface="Courier New"/>
                <a:cs typeface="Courier New"/>
              </a:rPr>
              <a:t>string 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= </a:t>
            </a:r>
            <a:r>
              <a:rPr sz="1600" spc="-5" dirty="0">
                <a:solidFill>
                  <a:srgbClr val="B51700"/>
                </a:solidFill>
                <a:latin typeface="Courier New"/>
                <a:cs typeface="Courier New"/>
              </a:rPr>
              <a:t>`</a:t>
            </a:r>
            <a:r>
              <a:rPr sz="1600" spc="-5" dirty="0">
                <a:latin typeface="Courier New"/>
                <a:cs typeface="Courier New"/>
              </a:rPr>
              <a:t>Me llamo</a:t>
            </a:r>
            <a:r>
              <a:rPr sz="1600" spc="-8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${nombre}  y </a:t>
            </a:r>
            <a:r>
              <a:rPr sz="1600" spc="-5" dirty="0">
                <a:latin typeface="Courier New"/>
                <a:cs typeface="Courier New"/>
              </a:rPr>
              <a:t>vivo en la calle</a:t>
            </a:r>
            <a:r>
              <a:rPr sz="1600" spc="-5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${direccion}</a:t>
            </a:r>
            <a:r>
              <a:rPr sz="1600" dirty="0">
                <a:solidFill>
                  <a:srgbClr val="B51700"/>
                </a:solidFill>
                <a:latin typeface="Courier New"/>
                <a:cs typeface="Courier New"/>
              </a:rPr>
              <a:t>`</a:t>
            </a:r>
            <a:r>
              <a:rPr sz="1600" dirty="0">
                <a:latin typeface="Courier New"/>
                <a:cs typeface="Courier New"/>
              </a:rPr>
              <a:t>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TypeScript </a:t>
            </a:r>
            <a:r>
              <a:rPr dirty="0"/>
              <a:t>-</a:t>
            </a:r>
            <a:r>
              <a:rPr spc="-60" dirty="0"/>
              <a:t> </a:t>
            </a:r>
            <a:r>
              <a:rPr spc="-75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300" y="2781300"/>
            <a:ext cx="9890760" cy="2616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z="2500" b="1" spc="-5" dirty="0">
                <a:latin typeface="Arial"/>
                <a:cs typeface="Arial"/>
              </a:rPr>
              <a:t>array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6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2870"/>
              </a:lnSpc>
              <a:buChar char="•"/>
              <a:tabLst>
                <a:tab pos="241300" algn="l"/>
              </a:tabLst>
            </a:pPr>
            <a:r>
              <a:rPr sz="3750" spc="-22" baseline="1111" dirty="0">
                <a:latin typeface="Arial"/>
                <a:cs typeface="Arial"/>
              </a:rPr>
              <a:t>TypeScript </a:t>
            </a:r>
            <a:r>
              <a:rPr sz="3750" spc="-7" baseline="1111" dirty="0">
                <a:latin typeface="Arial"/>
                <a:cs typeface="Arial"/>
              </a:rPr>
              <a:t>permite </a:t>
            </a:r>
            <a:r>
              <a:rPr sz="3750" baseline="1111" dirty="0">
                <a:latin typeface="Arial"/>
                <a:cs typeface="Arial"/>
              </a:rPr>
              <a:t>el </a:t>
            </a:r>
            <a:r>
              <a:rPr sz="3750" spc="-7" baseline="1111" dirty="0">
                <a:latin typeface="Arial"/>
                <a:cs typeface="Arial"/>
              </a:rPr>
              <a:t>trabajo </a:t>
            </a:r>
            <a:r>
              <a:rPr sz="3750" baseline="1111" dirty="0">
                <a:latin typeface="Arial"/>
                <a:cs typeface="Arial"/>
              </a:rPr>
              <a:t>con arrays de la misma manera que en </a:t>
            </a:r>
            <a:r>
              <a:rPr sz="250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Javascript.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2550">
              <a:latin typeface="Times New Roman"/>
              <a:cs typeface="Times New Roman"/>
            </a:endParaRPr>
          </a:p>
          <a:p>
            <a:pPr marL="241300" marR="481330" indent="-228600">
              <a:lnSpc>
                <a:spcPts val="2870"/>
              </a:lnSpc>
              <a:buChar char="•"/>
              <a:tabLst>
                <a:tab pos="241300" algn="l"/>
              </a:tabLst>
            </a:pPr>
            <a:r>
              <a:rPr sz="3750" baseline="1111" dirty="0">
                <a:latin typeface="Arial"/>
                <a:cs typeface="Arial"/>
              </a:rPr>
              <a:t>Podemos </a:t>
            </a:r>
            <a:r>
              <a:rPr sz="3750" spc="-7" baseline="1111" dirty="0">
                <a:latin typeface="Arial"/>
                <a:cs typeface="Arial"/>
              </a:rPr>
              <a:t>definir </a:t>
            </a:r>
            <a:r>
              <a:rPr sz="3750" baseline="1111" dirty="0">
                <a:latin typeface="Arial"/>
                <a:cs typeface="Arial"/>
              </a:rPr>
              <a:t>los arrays de dos maneras </a:t>
            </a:r>
            <a:r>
              <a:rPr sz="3750" spc="-7" baseline="1111" dirty="0">
                <a:latin typeface="Arial"/>
                <a:cs typeface="Arial"/>
              </a:rPr>
              <a:t>diferentes, </a:t>
            </a:r>
            <a:r>
              <a:rPr sz="3750" baseline="1111" dirty="0">
                <a:latin typeface="Arial"/>
                <a:cs typeface="Arial"/>
              </a:rPr>
              <a:t>siempre y </a:t>
            </a:r>
            <a:r>
              <a:rPr sz="2500" dirty="0">
                <a:latin typeface="Arial"/>
                <a:cs typeface="Arial"/>
              </a:rPr>
              <a:t> cuando </a:t>
            </a:r>
            <a:r>
              <a:rPr sz="2500" spc="-5" dirty="0">
                <a:latin typeface="Arial"/>
                <a:cs typeface="Arial"/>
              </a:rPr>
              <a:t>definamos </a:t>
            </a:r>
            <a:r>
              <a:rPr sz="2500" dirty="0">
                <a:latin typeface="Arial"/>
                <a:cs typeface="Arial"/>
              </a:rPr>
              <a:t>el </a:t>
            </a:r>
            <a:r>
              <a:rPr sz="2500" spc="-5" dirty="0">
                <a:latin typeface="Arial"/>
                <a:cs typeface="Arial"/>
              </a:rPr>
              <a:t>tipo </a:t>
            </a:r>
            <a:r>
              <a:rPr sz="2500" dirty="0">
                <a:latin typeface="Arial"/>
                <a:cs typeface="Arial"/>
              </a:rPr>
              <a:t>de los </a:t>
            </a:r>
            <a:r>
              <a:rPr sz="2500" spc="-5" dirty="0">
                <a:latin typeface="Arial"/>
                <a:cs typeface="Arial"/>
              </a:rPr>
              <a:t>elementos </a:t>
            </a:r>
            <a:r>
              <a:rPr sz="2500" dirty="0">
                <a:latin typeface="Arial"/>
                <a:cs typeface="Arial"/>
              </a:rPr>
              <a:t>que vamos</a:t>
            </a:r>
            <a:r>
              <a:rPr sz="2500" spc="15" dirty="0">
                <a:latin typeface="Arial"/>
                <a:cs typeface="Arial"/>
              </a:rPr>
              <a:t> </a:t>
            </a:r>
            <a:r>
              <a:rPr sz="2500" spc="-20" dirty="0">
                <a:latin typeface="Arial"/>
                <a:cs typeface="Arial"/>
              </a:rPr>
              <a:t>insertar.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29100" y="6540500"/>
            <a:ext cx="4415790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let </a:t>
            </a:r>
            <a:r>
              <a:rPr sz="1600" dirty="0">
                <a:latin typeface="Courier New"/>
                <a:cs typeface="Courier New"/>
              </a:rPr>
              <a:t>lista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: </a:t>
            </a:r>
            <a:r>
              <a:rPr sz="1600" spc="-5" dirty="0">
                <a:latin typeface="Courier New"/>
                <a:cs typeface="Courier New"/>
              </a:rPr>
              <a:t>number[] 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=</a:t>
            </a:r>
            <a:r>
              <a:rPr sz="1600" spc="-25" dirty="0">
                <a:solidFill>
                  <a:srgbClr val="D97100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[</a:t>
            </a:r>
            <a:r>
              <a:rPr sz="1600" spc="-5" dirty="0">
                <a:solidFill>
                  <a:srgbClr val="0329D8"/>
                </a:solidFill>
                <a:latin typeface="Courier New"/>
                <a:cs typeface="Courier New"/>
              </a:rPr>
              <a:t>1</a:t>
            </a:r>
            <a:r>
              <a:rPr sz="1600" spc="-5" dirty="0">
                <a:latin typeface="Courier New"/>
                <a:cs typeface="Courier New"/>
              </a:rPr>
              <a:t>,</a:t>
            </a:r>
            <a:r>
              <a:rPr sz="1600" spc="-5" dirty="0">
                <a:solidFill>
                  <a:srgbClr val="0329D8"/>
                </a:solidFill>
                <a:latin typeface="Courier New"/>
                <a:cs typeface="Courier New"/>
              </a:rPr>
              <a:t>2</a:t>
            </a:r>
            <a:r>
              <a:rPr sz="1600" spc="-5" dirty="0">
                <a:latin typeface="Courier New"/>
                <a:cs typeface="Courier New"/>
              </a:rPr>
              <a:t>,</a:t>
            </a:r>
            <a:r>
              <a:rPr sz="1600" spc="-5" dirty="0">
                <a:solidFill>
                  <a:srgbClr val="0329D8"/>
                </a:solidFill>
                <a:latin typeface="Courier New"/>
                <a:cs typeface="Courier New"/>
              </a:rPr>
              <a:t>3</a:t>
            </a:r>
            <a:r>
              <a:rPr sz="1600" spc="-5" dirty="0">
                <a:latin typeface="Courier New"/>
                <a:cs typeface="Courier New"/>
              </a:rPr>
              <a:t>];</a:t>
            </a:r>
            <a:endParaRPr sz="16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let </a:t>
            </a:r>
            <a:r>
              <a:rPr sz="1600" dirty="0">
                <a:latin typeface="Courier New"/>
                <a:cs typeface="Courier New"/>
              </a:rPr>
              <a:t>lista2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: </a:t>
            </a:r>
            <a:r>
              <a:rPr sz="1600" spc="-5" dirty="0">
                <a:solidFill>
                  <a:srgbClr val="295E99"/>
                </a:solidFill>
                <a:latin typeface="Courier New"/>
                <a:cs typeface="Courier New"/>
              </a:rPr>
              <a:t>Array</a:t>
            </a:r>
            <a:r>
              <a:rPr sz="1600" spc="-5" dirty="0">
                <a:solidFill>
                  <a:srgbClr val="D97100"/>
                </a:solidFill>
                <a:latin typeface="Courier New"/>
                <a:cs typeface="Courier New"/>
              </a:rPr>
              <a:t>&lt;</a:t>
            </a:r>
            <a:r>
              <a:rPr sz="1600" spc="-5" dirty="0">
                <a:latin typeface="Courier New"/>
                <a:cs typeface="Courier New"/>
              </a:rPr>
              <a:t>number</a:t>
            </a:r>
            <a:r>
              <a:rPr sz="1600" spc="-5" dirty="0">
                <a:solidFill>
                  <a:srgbClr val="D97100"/>
                </a:solidFill>
                <a:latin typeface="Courier New"/>
                <a:cs typeface="Courier New"/>
              </a:rPr>
              <a:t>&gt; 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D97100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[</a:t>
            </a:r>
            <a:r>
              <a:rPr sz="1600" spc="-5" dirty="0">
                <a:solidFill>
                  <a:srgbClr val="0329D8"/>
                </a:solidFill>
                <a:latin typeface="Courier New"/>
                <a:cs typeface="Courier New"/>
              </a:rPr>
              <a:t>1</a:t>
            </a:r>
            <a:r>
              <a:rPr sz="1600" spc="-5" dirty="0">
                <a:latin typeface="Courier New"/>
                <a:cs typeface="Courier New"/>
              </a:rPr>
              <a:t>,</a:t>
            </a:r>
            <a:r>
              <a:rPr sz="1600" spc="-5" dirty="0">
                <a:solidFill>
                  <a:srgbClr val="0329D8"/>
                </a:solidFill>
                <a:latin typeface="Courier New"/>
                <a:cs typeface="Courier New"/>
              </a:rPr>
              <a:t>2</a:t>
            </a:r>
            <a:r>
              <a:rPr sz="1600" spc="-5" dirty="0">
                <a:latin typeface="Courier New"/>
                <a:cs typeface="Courier New"/>
              </a:rPr>
              <a:t>,</a:t>
            </a:r>
            <a:r>
              <a:rPr sz="1600" spc="-5" dirty="0">
                <a:solidFill>
                  <a:srgbClr val="0329D8"/>
                </a:solidFill>
                <a:latin typeface="Courier New"/>
                <a:cs typeface="Courier New"/>
              </a:rPr>
              <a:t>3</a:t>
            </a:r>
            <a:r>
              <a:rPr sz="1600" spc="-5" dirty="0">
                <a:latin typeface="Courier New"/>
                <a:cs typeface="Courier New"/>
              </a:rPr>
              <a:t>];</a:t>
            </a:r>
            <a:endParaRPr sz="16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TypeScript </a:t>
            </a:r>
            <a:r>
              <a:rPr dirty="0"/>
              <a:t>-</a:t>
            </a:r>
            <a:r>
              <a:rPr spc="-60" dirty="0"/>
              <a:t> </a:t>
            </a:r>
            <a:r>
              <a:rPr spc="-75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300" y="2590800"/>
            <a:ext cx="10403205" cy="298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z="2500" b="1" spc="-5" dirty="0">
                <a:latin typeface="Arial"/>
                <a:cs typeface="Arial"/>
              </a:rPr>
              <a:t>tuplas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50">
              <a:latin typeface="Times New Roman"/>
              <a:cs typeface="Times New Roman"/>
            </a:endParaRPr>
          </a:p>
          <a:p>
            <a:pPr marL="241300" marR="287020" indent="-228600">
              <a:lnSpc>
                <a:spcPct val="96200"/>
              </a:lnSpc>
              <a:buChar char="•"/>
              <a:tabLst>
                <a:tab pos="241300" algn="l"/>
              </a:tabLst>
            </a:pPr>
            <a:r>
              <a:rPr sz="3750" baseline="1111" dirty="0">
                <a:latin typeface="Arial"/>
                <a:cs typeface="Arial"/>
              </a:rPr>
              <a:t>Las </a:t>
            </a:r>
            <a:r>
              <a:rPr sz="3750" spc="-7" baseline="1111" dirty="0">
                <a:latin typeface="Arial"/>
                <a:cs typeface="Arial"/>
              </a:rPr>
              <a:t>tuplas </a:t>
            </a:r>
            <a:r>
              <a:rPr sz="3750" baseline="1111" dirty="0">
                <a:latin typeface="Arial"/>
                <a:cs typeface="Arial"/>
              </a:rPr>
              <a:t>nos </a:t>
            </a:r>
            <a:r>
              <a:rPr sz="3750" spc="-7" baseline="1111" dirty="0">
                <a:latin typeface="Arial"/>
                <a:cs typeface="Arial"/>
              </a:rPr>
              <a:t>permiten </a:t>
            </a:r>
            <a:r>
              <a:rPr sz="3750" baseline="1111" dirty="0">
                <a:latin typeface="Arial"/>
                <a:cs typeface="Arial"/>
              </a:rPr>
              <a:t>expresar un array donde los </a:t>
            </a:r>
            <a:r>
              <a:rPr sz="3750" spc="-7" baseline="1111" dirty="0">
                <a:latin typeface="Arial"/>
                <a:cs typeface="Arial"/>
              </a:rPr>
              <a:t>tipos </a:t>
            </a:r>
            <a:r>
              <a:rPr sz="3750" baseline="1111" dirty="0">
                <a:latin typeface="Arial"/>
                <a:cs typeface="Arial"/>
              </a:rPr>
              <a:t>de los </a:t>
            </a:r>
            <a:r>
              <a:rPr sz="250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elementos </a:t>
            </a:r>
            <a:r>
              <a:rPr sz="2500" dirty="0">
                <a:latin typeface="Arial"/>
                <a:cs typeface="Arial"/>
              </a:rPr>
              <a:t>que vamos a </a:t>
            </a:r>
            <a:r>
              <a:rPr sz="2500" spc="-5" dirty="0">
                <a:latin typeface="Arial"/>
                <a:cs typeface="Arial"/>
              </a:rPr>
              <a:t>utilizar </a:t>
            </a:r>
            <a:r>
              <a:rPr sz="2500" dirty="0">
                <a:latin typeface="Arial"/>
                <a:cs typeface="Arial"/>
              </a:rPr>
              <a:t>son conocidos, pero no </a:t>
            </a:r>
            <a:r>
              <a:rPr sz="2500" spc="-5" dirty="0">
                <a:latin typeface="Arial"/>
                <a:cs typeface="Arial"/>
              </a:rPr>
              <a:t>tienen </a:t>
            </a:r>
            <a:r>
              <a:rPr sz="2500" dirty="0">
                <a:latin typeface="Arial"/>
                <a:cs typeface="Arial"/>
              </a:rPr>
              <a:t>por qué  ser el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mismo.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26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2870"/>
              </a:lnSpc>
              <a:buChar char="•"/>
              <a:tabLst>
                <a:tab pos="241300" algn="l"/>
              </a:tabLst>
            </a:pPr>
            <a:r>
              <a:rPr sz="3750" baseline="1111" dirty="0">
                <a:latin typeface="Arial"/>
                <a:cs typeface="Arial"/>
              </a:rPr>
              <a:t>Por ejemplo, podemos expresar un par de valores </a:t>
            </a:r>
            <a:r>
              <a:rPr sz="3750" spc="-7" baseline="1111" dirty="0">
                <a:latin typeface="Arial"/>
                <a:cs typeface="Arial"/>
              </a:rPr>
              <a:t>representados </a:t>
            </a:r>
            <a:r>
              <a:rPr sz="3750" baseline="1111" dirty="0">
                <a:latin typeface="Arial"/>
                <a:cs typeface="Arial"/>
              </a:rPr>
              <a:t>por</a:t>
            </a:r>
            <a:r>
              <a:rPr sz="3750" spc="-112" baseline="1111" dirty="0">
                <a:latin typeface="Arial"/>
                <a:cs typeface="Arial"/>
              </a:rPr>
              <a:t> </a:t>
            </a:r>
            <a:r>
              <a:rPr sz="3750" baseline="1111" dirty="0">
                <a:latin typeface="Arial"/>
                <a:cs typeface="Arial"/>
              </a:rPr>
              <a:t>un </a:t>
            </a:r>
            <a:r>
              <a:rPr sz="250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string </a:t>
            </a:r>
            <a:r>
              <a:rPr sz="2500" dirty="0">
                <a:latin typeface="Arial"/>
                <a:cs typeface="Arial"/>
              </a:rPr>
              <a:t>y un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número.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75200" y="6362700"/>
            <a:ext cx="3317875" cy="1336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let </a:t>
            </a:r>
            <a:r>
              <a:rPr sz="1600" dirty="0">
                <a:latin typeface="Courier New"/>
                <a:cs typeface="Courier New"/>
              </a:rPr>
              <a:t>x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: </a:t>
            </a:r>
            <a:r>
              <a:rPr sz="1600" spc="-5" dirty="0">
                <a:latin typeface="Courier New"/>
                <a:cs typeface="Courier New"/>
              </a:rPr>
              <a:t>[string,</a:t>
            </a:r>
            <a:r>
              <a:rPr sz="1600" spc="-5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number];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ourier New"/>
                <a:cs typeface="Courier New"/>
              </a:rPr>
              <a:t>x 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= </a:t>
            </a:r>
            <a:r>
              <a:rPr sz="1600" spc="-5" dirty="0">
                <a:latin typeface="Courier New"/>
                <a:cs typeface="Courier New"/>
              </a:rPr>
              <a:t>[</a:t>
            </a:r>
            <a:r>
              <a:rPr sz="1600" spc="-5" dirty="0">
                <a:solidFill>
                  <a:srgbClr val="5EA702"/>
                </a:solidFill>
                <a:latin typeface="Courier New"/>
                <a:cs typeface="Courier New"/>
              </a:rPr>
              <a:t>"cadena"</a:t>
            </a:r>
            <a:r>
              <a:rPr sz="1600" spc="-5" dirty="0">
                <a:latin typeface="Courier New"/>
                <a:cs typeface="Courier New"/>
              </a:rPr>
              <a:t>,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329D8"/>
                </a:solidFill>
                <a:latin typeface="Courier New"/>
                <a:cs typeface="Courier New"/>
              </a:rPr>
              <a:t>30</a:t>
            </a:r>
            <a:r>
              <a:rPr sz="1600" dirty="0">
                <a:latin typeface="Courier New"/>
                <a:cs typeface="Courier New"/>
              </a:rPr>
              <a:t>];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ourier New"/>
                <a:cs typeface="Courier New"/>
              </a:rPr>
              <a:t>x 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= </a:t>
            </a:r>
            <a:r>
              <a:rPr sz="1600" dirty="0">
                <a:latin typeface="Courier New"/>
                <a:cs typeface="Courier New"/>
              </a:rPr>
              <a:t>[</a:t>
            </a:r>
            <a:r>
              <a:rPr sz="1600" dirty="0">
                <a:solidFill>
                  <a:srgbClr val="0329D8"/>
                </a:solidFill>
                <a:latin typeface="Courier New"/>
                <a:cs typeface="Courier New"/>
              </a:rPr>
              <a:t>30</a:t>
            </a:r>
            <a:r>
              <a:rPr sz="1600" dirty="0">
                <a:latin typeface="Courier New"/>
                <a:cs typeface="Courier New"/>
              </a:rPr>
              <a:t>, </a:t>
            </a:r>
            <a:r>
              <a:rPr sz="1600" spc="-5" dirty="0">
                <a:solidFill>
                  <a:srgbClr val="5EA702"/>
                </a:solidFill>
                <a:latin typeface="Courier New"/>
                <a:cs typeface="Courier New"/>
              </a:rPr>
              <a:t>"cadena"</a:t>
            </a:r>
            <a:r>
              <a:rPr sz="1600" spc="-5" dirty="0">
                <a:latin typeface="Courier New"/>
                <a:cs typeface="Courier New"/>
              </a:rPr>
              <a:t>];</a:t>
            </a:r>
            <a:r>
              <a:rPr sz="1600" spc="-55" dirty="0"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A16C00"/>
                </a:solidFill>
                <a:latin typeface="Courier New"/>
                <a:cs typeface="Courier New"/>
              </a:rPr>
              <a:t>//ERROR</a:t>
            </a:r>
            <a:endParaRPr sz="16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TypeScript </a:t>
            </a:r>
            <a:r>
              <a:rPr dirty="0"/>
              <a:t>-</a:t>
            </a:r>
            <a:r>
              <a:rPr spc="-60" dirty="0"/>
              <a:t> </a:t>
            </a:r>
            <a:r>
              <a:rPr spc="-75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300" y="3051632"/>
            <a:ext cx="7353300" cy="2616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3750" spc="-7" baseline="1111" dirty="0">
                <a:latin typeface="Arial"/>
                <a:cs typeface="Arial"/>
              </a:rPr>
              <a:t>Aparte, </a:t>
            </a:r>
            <a:r>
              <a:rPr sz="3750" spc="-22" baseline="1111" dirty="0">
                <a:latin typeface="Arial"/>
                <a:cs typeface="Arial"/>
              </a:rPr>
              <a:t>TypeScript </a:t>
            </a:r>
            <a:r>
              <a:rPr sz="3750" baseline="1111" dirty="0">
                <a:latin typeface="Arial"/>
                <a:cs typeface="Arial"/>
              </a:rPr>
              <a:t>agrega los </a:t>
            </a:r>
            <a:r>
              <a:rPr sz="3750" spc="-7" baseline="1111" dirty="0">
                <a:latin typeface="Arial"/>
                <a:cs typeface="Arial"/>
              </a:rPr>
              <a:t>siguientes</a:t>
            </a:r>
            <a:r>
              <a:rPr sz="3750" spc="-67" baseline="1111" dirty="0">
                <a:latin typeface="Arial"/>
                <a:cs typeface="Arial"/>
              </a:rPr>
              <a:t> </a:t>
            </a:r>
            <a:r>
              <a:rPr sz="3750" spc="-7" baseline="1111" dirty="0">
                <a:latin typeface="Arial"/>
                <a:cs typeface="Arial"/>
              </a:rPr>
              <a:t>tipo:</a:t>
            </a:r>
            <a:endParaRPr sz="3750" baseline="111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622300" lvl="1" indent="-228600">
              <a:lnSpc>
                <a:spcPct val="100000"/>
              </a:lnSpc>
              <a:buChar char="•"/>
              <a:tabLst>
                <a:tab pos="622300" algn="l"/>
              </a:tabLst>
            </a:pPr>
            <a:r>
              <a:rPr sz="3750" b="1" spc="-7" baseline="1111" dirty="0">
                <a:latin typeface="Arial"/>
                <a:cs typeface="Arial"/>
              </a:rPr>
              <a:t>enum </a:t>
            </a:r>
            <a:r>
              <a:rPr sz="3750" baseline="1111" dirty="0">
                <a:latin typeface="Arial"/>
                <a:cs typeface="Arial"/>
              </a:rPr>
              <a:t>enumeraciones como </a:t>
            </a:r>
            <a:r>
              <a:rPr sz="3750" i="1" baseline="1111" dirty="0">
                <a:latin typeface="Arial"/>
                <a:cs typeface="Arial"/>
              </a:rPr>
              <a:t>{Rojo, </a:t>
            </a:r>
            <a:r>
              <a:rPr sz="3750" i="1" spc="-30" baseline="1111" dirty="0">
                <a:latin typeface="Arial"/>
                <a:cs typeface="Arial"/>
              </a:rPr>
              <a:t>Verde,</a:t>
            </a:r>
            <a:r>
              <a:rPr sz="3750" i="1" spc="-262" baseline="1111" dirty="0">
                <a:latin typeface="Arial"/>
                <a:cs typeface="Arial"/>
              </a:rPr>
              <a:t> </a:t>
            </a:r>
            <a:r>
              <a:rPr sz="3750" i="1" baseline="1111" dirty="0">
                <a:latin typeface="Arial"/>
                <a:cs typeface="Arial"/>
              </a:rPr>
              <a:t>Azul}</a:t>
            </a:r>
            <a:endParaRPr sz="3750" baseline="1111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622300" lvl="1" indent="-228600">
              <a:lnSpc>
                <a:spcPct val="100000"/>
              </a:lnSpc>
              <a:buChar char="•"/>
              <a:tabLst>
                <a:tab pos="622300" algn="l"/>
              </a:tabLst>
            </a:pPr>
            <a:r>
              <a:rPr sz="3750" b="1" spc="-7" baseline="1111" dirty="0">
                <a:latin typeface="Arial"/>
                <a:cs typeface="Arial"/>
              </a:rPr>
              <a:t>any </a:t>
            </a:r>
            <a:r>
              <a:rPr sz="3750" baseline="1111" dirty="0">
                <a:latin typeface="Arial"/>
                <a:cs typeface="Arial"/>
              </a:rPr>
              <a:t>posibilidad de usar cualquier</a:t>
            </a:r>
            <a:r>
              <a:rPr sz="3750" spc="-37" baseline="1111" dirty="0">
                <a:latin typeface="Arial"/>
                <a:cs typeface="Arial"/>
              </a:rPr>
              <a:t> </a:t>
            </a:r>
            <a:r>
              <a:rPr sz="3750" spc="-7" baseline="1111" dirty="0">
                <a:latin typeface="Arial"/>
                <a:cs typeface="Arial"/>
              </a:rPr>
              <a:t>tipo</a:t>
            </a:r>
            <a:endParaRPr sz="3750" baseline="1111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622300" lvl="1" indent="-228600">
              <a:lnSpc>
                <a:spcPct val="100000"/>
              </a:lnSpc>
              <a:buChar char="•"/>
              <a:tabLst>
                <a:tab pos="622300" algn="l"/>
              </a:tabLst>
            </a:pPr>
            <a:r>
              <a:rPr sz="3750" b="1" spc="-7" baseline="1111" dirty="0">
                <a:latin typeface="Arial"/>
                <a:cs typeface="Arial"/>
              </a:rPr>
              <a:t>void </a:t>
            </a:r>
            <a:r>
              <a:rPr sz="3750" baseline="1111" dirty="0">
                <a:latin typeface="Arial"/>
                <a:cs typeface="Arial"/>
              </a:rPr>
              <a:t>nada</a:t>
            </a:r>
            <a:endParaRPr sz="3750" baseline="1111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TypeScript </a:t>
            </a:r>
            <a:r>
              <a:rPr dirty="0"/>
              <a:t>-</a:t>
            </a:r>
            <a:r>
              <a:rPr spc="-60" dirty="0"/>
              <a:t> </a:t>
            </a:r>
            <a:r>
              <a:rPr spc="-75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300" y="2438400"/>
            <a:ext cx="10474960" cy="151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z="2500" b="1" spc="-5" dirty="0">
                <a:latin typeface="Arial"/>
                <a:cs typeface="Arial"/>
              </a:rPr>
              <a:t>enum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6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2870"/>
              </a:lnSpc>
              <a:buChar char="•"/>
              <a:tabLst>
                <a:tab pos="241300" algn="l"/>
              </a:tabLst>
            </a:pPr>
            <a:r>
              <a:rPr sz="3750" baseline="1111" dirty="0">
                <a:latin typeface="Arial"/>
                <a:cs typeface="Arial"/>
              </a:rPr>
              <a:t>Los </a:t>
            </a:r>
            <a:r>
              <a:rPr sz="3750" spc="-7" baseline="1111" dirty="0">
                <a:latin typeface="Arial"/>
                <a:cs typeface="Arial"/>
              </a:rPr>
              <a:t>elementos </a:t>
            </a:r>
            <a:r>
              <a:rPr sz="3750" baseline="1111" dirty="0">
                <a:latin typeface="Arial"/>
                <a:cs typeface="Arial"/>
              </a:rPr>
              <a:t>de </a:t>
            </a:r>
            <a:r>
              <a:rPr sz="3750" spc="-7" baseline="1111" dirty="0">
                <a:latin typeface="Arial"/>
                <a:cs typeface="Arial"/>
              </a:rPr>
              <a:t>tipo </a:t>
            </a:r>
            <a:r>
              <a:rPr sz="3750" baseline="1111" dirty="0">
                <a:latin typeface="Arial"/>
                <a:cs typeface="Arial"/>
              </a:rPr>
              <a:t>enum, agregan la posibilidad de asignar una</a:t>
            </a:r>
            <a:r>
              <a:rPr sz="3750" spc="-82" baseline="1111" dirty="0">
                <a:latin typeface="Arial"/>
                <a:cs typeface="Arial"/>
              </a:rPr>
              <a:t> </a:t>
            </a:r>
            <a:r>
              <a:rPr sz="3750" baseline="1111" dirty="0">
                <a:latin typeface="Arial"/>
                <a:cs typeface="Arial"/>
              </a:rPr>
              <a:t>serie </a:t>
            </a:r>
            <a:r>
              <a:rPr sz="2500" dirty="0">
                <a:latin typeface="Arial"/>
                <a:cs typeface="Arial"/>
              </a:rPr>
              <a:t> de nombres más accesibles para valores de </a:t>
            </a:r>
            <a:r>
              <a:rPr sz="2500" spc="-5" dirty="0">
                <a:latin typeface="Arial"/>
                <a:cs typeface="Arial"/>
              </a:rPr>
              <a:t>tipo</a:t>
            </a:r>
            <a:r>
              <a:rPr sz="2500" spc="-4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numérico.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33900" y="4447540"/>
            <a:ext cx="3805554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100"/>
              </a:spcBef>
            </a:pP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enum </a:t>
            </a:r>
            <a:r>
              <a:rPr sz="1600" spc="-5" dirty="0">
                <a:latin typeface="Courier New"/>
                <a:cs typeface="Courier New"/>
              </a:rPr>
              <a:t>Color {Rojo, Verde, </a:t>
            </a:r>
            <a:r>
              <a:rPr sz="1600" dirty="0">
                <a:latin typeface="Courier New"/>
                <a:cs typeface="Courier New"/>
              </a:rPr>
              <a:t>Azul};  </a:t>
            </a: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let </a:t>
            </a:r>
            <a:r>
              <a:rPr sz="1600" dirty="0">
                <a:latin typeface="Courier New"/>
                <a:cs typeface="Courier New"/>
              </a:rPr>
              <a:t>c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: </a:t>
            </a:r>
            <a:r>
              <a:rPr sz="1600" spc="-5" dirty="0">
                <a:latin typeface="Courier New"/>
                <a:cs typeface="Courier New"/>
              </a:rPr>
              <a:t>Color 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=</a:t>
            </a:r>
            <a:r>
              <a:rPr sz="1600" spc="-45" dirty="0">
                <a:solidFill>
                  <a:srgbClr val="D971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Color.Verde;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57300" y="5568632"/>
            <a:ext cx="10209530" cy="113728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41300" marR="5080" indent="-228600">
              <a:lnSpc>
                <a:spcPct val="95900"/>
              </a:lnSpc>
              <a:spcBef>
                <a:spcPts val="220"/>
              </a:spcBef>
              <a:buChar char="•"/>
              <a:tabLst>
                <a:tab pos="241300" algn="l"/>
              </a:tabLst>
            </a:pPr>
            <a:r>
              <a:rPr sz="3750" baseline="1111" dirty="0">
                <a:latin typeface="Arial"/>
                <a:cs typeface="Arial"/>
              </a:rPr>
              <a:t>Por </a:t>
            </a:r>
            <a:r>
              <a:rPr sz="3750" spc="-7" baseline="1111" dirty="0">
                <a:latin typeface="Arial"/>
                <a:cs typeface="Arial"/>
              </a:rPr>
              <a:t>defecto, </a:t>
            </a:r>
            <a:r>
              <a:rPr sz="3750" baseline="1111" dirty="0">
                <a:latin typeface="Arial"/>
                <a:cs typeface="Arial"/>
              </a:rPr>
              <a:t>los valores asignados en un enum, empiezan desde 0.</a:t>
            </a:r>
            <a:r>
              <a:rPr sz="3750" spc="-150" baseline="1111" dirty="0">
                <a:latin typeface="Arial"/>
                <a:cs typeface="Arial"/>
              </a:rPr>
              <a:t> </a:t>
            </a:r>
            <a:r>
              <a:rPr sz="3750" baseline="1111" dirty="0">
                <a:latin typeface="Arial"/>
                <a:cs typeface="Arial"/>
              </a:rPr>
              <a:t>Se </a:t>
            </a:r>
            <a:r>
              <a:rPr sz="2500" dirty="0">
                <a:latin typeface="Arial"/>
                <a:cs typeface="Arial"/>
              </a:rPr>
              <a:t> puede cambiar el valor de comienzo para los </a:t>
            </a:r>
            <a:r>
              <a:rPr sz="2500" spc="-5" dirty="0">
                <a:latin typeface="Arial"/>
                <a:cs typeface="Arial"/>
              </a:rPr>
              <a:t>elementos, </a:t>
            </a:r>
            <a:r>
              <a:rPr sz="2500" dirty="0">
                <a:latin typeface="Arial"/>
                <a:cs typeface="Arial"/>
              </a:rPr>
              <a:t>o incluso  </a:t>
            </a:r>
            <a:r>
              <a:rPr sz="2500" spc="-5" dirty="0">
                <a:latin typeface="Arial"/>
                <a:cs typeface="Arial"/>
              </a:rPr>
              <a:t>especificar </a:t>
            </a:r>
            <a:r>
              <a:rPr sz="2500" dirty="0">
                <a:latin typeface="Arial"/>
                <a:cs typeface="Arial"/>
              </a:rPr>
              <a:t>uno </a:t>
            </a:r>
            <a:r>
              <a:rPr sz="2500" spc="-5" dirty="0">
                <a:latin typeface="Arial"/>
                <a:cs typeface="Arial"/>
              </a:rPr>
              <a:t>concreto </a:t>
            </a:r>
            <a:r>
              <a:rPr sz="2500" dirty="0">
                <a:latin typeface="Arial"/>
                <a:cs typeface="Arial"/>
              </a:rPr>
              <a:t>para cada uno de ellos.</a:t>
            </a:r>
            <a:endParaRPr sz="2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51200" y="7330440"/>
            <a:ext cx="636651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100"/>
              </a:spcBef>
            </a:pP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enum </a:t>
            </a:r>
            <a:r>
              <a:rPr sz="1600" spc="-5" dirty="0">
                <a:latin typeface="Courier New"/>
                <a:cs typeface="Courier New"/>
              </a:rPr>
              <a:t>Color {Rojo 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= </a:t>
            </a:r>
            <a:r>
              <a:rPr sz="1600" spc="-5" dirty="0">
                <a:solidFill>
                  <a:srgbClr val="0329D8"/>
                </a:solidFill>
                <a:latin typeface="Courier New"/>
                <a:cs typeface="Courier New"/>
              </a:rPr>
              <a:t>1</a:t>
            </a:r>
            <a:r>
              <a:rPr sz="1600" spc="-5" dirty="0">
                <a:latin typeface="Courier New"/>
                <a:cs typeface="Courier New"/>
              </a:rPr>
              <a:t>, Verde, Azul}; </a:t>
            </a:r>
            <a:r>
              <a:rPr sz="1600" spc="-5" dirty="0">
                <a:solidFill>
                  <a:srgbClr val="A16C00"/>
                </a:solidFill>
                <a:latin typeface="Courier New"/>
                <a:cs typeface="Courier New"/>
              </a:rPr>
              <a:t>// Empieza por </a:t>
            </a:r>
            <a:r>
              <a:rPr sz="1600" dirty="0">
                <a:solidFill>
                  <a:srgbClr val="A16C00"/>
                </a:solidFill>
                <a:latin typeface="Courier New"/>
                <a:cs typeface="Courier New"/>
              </a:rPr>
              <a:t>1  </a:t>
            </a: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enum </a:t>
            </a:r>
            <a:r>
              <a:rPr sz="1600" spc="-5" dirty="0">
                <a:latin typeface="Courier New"/>
                <a:cs typeface="Courier New"/>
              </a:rPr>
              <a:t>Color {Rojo 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= </a:t>
            </a:r>
            <a:r>
              <a:rPr sz="1600" spc="-5" dirty="0">
                <a:solidFill>
                  <a:srgbClr val="0329D8"/>
                </a:solidFill>
                <a:latin typeface="Courier New"/>
                <a:cs typeface="Courier New"/>
              </a:rPr>
              <a:t>2</a:t>
            </a:r>
            <a:r>
              <a:rPr sz="1600" spc="-5" dirty="0">
                <a:latin typeface="Courier New"/>
                <a:cs typeface="Courier New"/>
              </a:rPr>
              <a:t>, Verde 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= </a:t>
            </a:r>
            <a:r>
              <a:rPr sz="1600" spc="-5" dirty="0">
                <a:solidFill>
                  <a:srgbClr val="0329D8"/>
                </a:solidFill>
                <a:latin typeface="Courier New"/>
                <a:cs typeface="Courier New"/>
              </a:rPr>
              <a:t>4</a:t>
            </a:r>
            <a:r>
              <a:rPr sz="1600" spc="-5" dirty="0">
                <a:latin typeface="Courier New"/>
                <a:cs typeface="Courier New"/>
              </a:rPr>
              <a:t>, Azul 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=</a:t>
            </a:r>
            <a:r>
              <a:rPr sz="1600" spc="-20" dirty="0">
                <a:solidFill>
                  <a:srgbClr val="D97100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0329D8"/>
                </a:solidFill>
                <a:latin typeface="Courier New"/>
                <a:cs typeface="Courier New"/>
              </a:rPr>
              <a:t>6</a:t>
            </a:r>
            <a:r>
              <a:rPr sz="1600" spc="-5" dirty="0">
                <a:latin typeface="Courier New"/>
                <a:cs typeface="Courier New"/>
              </a:rPr>
              <a:t>};</a:t>
            </a:r>
            <a:endParaRPr sz="16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TypeScript </a:t>
            </a:r>
            <a:r>
              <a:rPr dirty="0"/>
              <a:t>-</a:t>
            </a:r>
            <a:r>
              <a:rPr spc="-60" dirty="0"/>
              <a:t> </a:t>
            </a:r>
            <a:r>
              <a:rPr spc="-75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300" y="2146300"/>
            <a:ext cx="10403840" cy="2620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z="2500" b="1" spc="-5" dirty="0">
                <a:latin typeface="Arial"/>
                <a:cs typeface="Arial"/>
              </a:rPr>
              <a:t>enum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5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96200"/>
              </a:lnSpc>
              <a:buChar char="•"/>
              <a:tabLst>
                <a:tab pos="241300" algn="l"/>
              </a:tabLst>
            </a:pPr>
            <a:r>
              <a:rPr sz="3750" baseline="1111" dirty="0">
                <a:latin typeface="Arial"/>
                <a:cs typeface="Arial"/>
              </a:rPr>
              <a:t>Una de las </a:t>
            </a:r>
            <a:r>
              <a:rPr sz="3750" spc="-7" baseline="1111" dirty="0">
                <a:latin typeface="Arial"/>
                <a:cs typeface="Arial"/>
              </a:rPr>
              <a:t>características </a:t>
            </a:r>
            <a:r>
              <a:rPr sz="3750" baseline="1111" dirty="0">
                <a:latin typeface="Arial"/>
                <a:cs typeface="Arial"/>
              </a:rPr>
              <a:t>más </a:t>
            </a:r>
            <a:r>
              <a:rPr sz="3750" spc="-7" baseline="1111" dirty="0">
                <a:latin typeface="Arial"/>
                <a:cs typeface="Arial"/>
              </a:rPr>
              <a:t>útiles </a:t>
            </a:r>
            <a:r>
              <a:rPr sz="3750" baseline="1111" dirty="0">
                <a:latin typeface="Arial"/>
                <a:cs typeface="Arial"/>
              </a:rPr>
              <a:t>del </a:t>
            </a:r>
            <a:r>
              <a:rPr sz="3750" spc="-7" baseline="1111" dirty="0">
                <a:latin typeface="Arial"/>
                <a:cs typeface="Arial"/>
              </a:rPr>
              <a:t>tipo </a:t>
            </a:r>
            <a:r>
              <a:rPr sz="3750" baseline="1111" dirty="0">
                <a:latin typeface="Arial"/>
                <a:cs typeface="Arial"/>
              </a:rPr>
              <a:t>enum, es la posibilidad de </a:t>
            </a:r>
            <a:r>
              <a:rPr sz="2500" dirty="0">
                <a:latin typeface="Arial"/>
                <a:cs typeface="Arial"/>
              </a:rPr>
              <a:t> poder recuperar el nombre de cada uno de los </a:t>
            </a:r>
            <a:r>
              <a:rPr sz="2500" spc="-5" dirty="0">
                <a:latin typeface="Arial"/>
                <a:cs typeface="Arial"/>
              </a:rPr>
              <a:t>elementos contenidos </a:t>
            </a:r>
            <a:r>
              <a:rPr sz="2500" dirty="0">
                <a:latin typeface="Arial"/>
                <a:cs typeface="Arial"/>
              </a:rPr>
              <a:t>en  su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spc="-20" dirty="0">
                <a:latin typeface="Arial"/>
                <a:cs typeface="Arial"/>
              </a:rPr>
              <a:t>interior.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24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sz="3750" spc="-7" baseline="1111" dirty="0">
                <a:latin typeface="Arial"/>
                <a:cs typeface="Arial"/>
              </a:rPr>
              <a:t>Simplemente tenemos </a:t>
            </a:r>
            <a:r>
              <a:rPr sz="3750" baseline="1111" dirty="0">
                <a:latin typeface="Arial"/>
                <a:cs typeface="Arial"/>
              </a:rPr>
              <a:t>que acceder a </a:t>
            </a:r>
            <a:r>
              <a:rPr sz="3750" spc="-7" baseline="1111" dirty="0">
                <a:latin typeface="Arial"/>
                <a:cs typeface="Arial"/>
              </a:rPr>
              <a:t>través </a:t>
            </a:r>
            <a:r>
              <a:rPr sz="3750" baseline="1111" dirty="0">
                <a:latin typeface="Arial"/>
                <a:cs typeface="Arial"/>
              </a:rPr>
              <a:t>de la posición.</a:t>
            </a:r>
            <a:endParaRPr sz="3750" baseline="1111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87800" y="5435600"/>
            <a:ext cx="490283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enum </a:t>
            </a:r>
            <a:r>
              <a:rPr sz="1600" spc="-5" dirty="0">
                <a:latin typeface="Courier New"/>
                <a:cs typeface="Courier New"/>
              </a:rPr>
              <a:t>Color {Rojo 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= </a:t>
            </a:r>
            <a:r>
              <a:rPr sz="1600" spc="-5" dirty="0">
                <a:solidFill>
                  <a:srgbClr val="0329D8"/>
                </a:solidFill>
                <a:latin typeface="Courier New"/>
                <a:cs typeface="Courier New"/>
              </a:rPr>
              <a:t>1</a:t>
            </a:r>
            <a:r>
              <a:rPr sz="1600" spc="-5" dirty="0">
                <a:latin typeface="Courier New"/>
                <a:cs typeface="Courier New"/>
              </a:rPr>
              <a:t>, Verde,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Azul};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Courier New"/>
                <a:cs typeface="Courier New"/>
              </a:rPr>
              <a:t>console.log(Color[</a:t>
            </a:r>
            <a:r>
              <a:rPr sz="1600" spc="-5" dirty="0">
                <a:solidFill>
                  <a:srgbClr val="0329D8"/>
                </a:solidFill>
                <a:latin typeface="Courier New"/>
                <a:cs typeface="Courier New"/>
              </a:rPr>
              <a:t>2</a:t>
            </a:r>
            <a:r>
              <a:rPr sz="1600" spc="-5" dirty="0">
                <a:latin typeface="Courier New"/>
                <a:cs typeface="Courier New"/>
              </a:rPr>
              <a:t>]); </a:t>
            </a:r>
            <a:r>
              <a:rPr sz="1600" spc="-5" dirty="0">
                <a:solidFill>
                  <a:srgbClr val="A16C00"/>
                </a:solidFill>
                <a:latin typeface="Courier New"/>
                <a:cs typeface="Courier New"/>
              </a:rPr>
              <a:t>// Devuelve</a:t>
            </a:r>
            <a:r>
              <a:rPr sz="1600" dirty="0">
                <a:solidFill>
                  <a:srgbClr val="A16C00"/>
                </a:solidFill>
                <a:latin typeface="Courier New"/>
                <a:cs typeface="Courier New"/>
              </a:rPr>
              <a:t> Verde</a:t>
            </a:r>
            <a:endParaRPr sz="16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TypeScript </a:t>
            </a:r>
            <a:r>
              <a:rPr dirty="0"/>
              <a:t>-</a:t>
            </a:r>
            <a:r>
              <a:rPr spc="-60" dirty="0"/>
              <a:t> </a:t>
            </a:r>
            <a:r>
              <a:rPr spc="-75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300" y="2022475"/>
            <a:ext cx="10198100" cy="3602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25"/>
              </a:spcBef>
            </a:pPr>
            <a:r>
              <a:rPr sz="2450" b="1" spc="5" dirty="0">
                <a:latin typeface="Arial"/>
                <a:cs typeface="Arial"/>
              </a:rPr>
              <a:t>any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500">
              <a:latin typeface="Times New Roman"/>
              <a:cs typeface="Times New Roman"/>
            </a:endParaRPr>
          </a:p>
          <a:p>
            <a:pPr marL="241300" marR="1194435" indent="-228600">
              <a:lnSpc>
                <a:spcPts val="2770"/>
              </a:lnSpc>
              <a:buChar char="•"/>
              <a:tabLst>
                <a:tab pos="241300" algn="l"/>
              </a:tabLst>
            </a:pPr>
            <a:r>
              <a:rPr sz="3675" spc="22" baseline="1133" dirty="0">
                <a:latin typeface="Arial"/>
                <a:cs typeface="Arial"/>
              </a:rPr>
              <a:t>En </a:t>
            </a:r>
            <a:r>
              <a:rPr sz="3675" spc="15" baseline="1133" dirty="0">
                <a:latin typeface="Arial"/>
                <a:cs typeface="Arial"/>
              </a:rPr>
              <a:t>muchas ocasiones necesitamos </a:t>
            </a:r>
            <a:r>
              <a:rPr sz="3675" spc="7" baseline="1133" dirty="0">
                <a:latin typeface="Arial"/>
                <a:cs typeface="Arial"/>
              </a:rPr>
              <a:t>definir </a:t>
            </a:r>
            <a:r>
              <a:rPr sz="3675" spc="15" baseline="1133" dirty="0">
                <a:latin typeface="Arial"/>
                <a:cs typeface="Arial"/>
              </a:rPr>
              <a:t>variables de las que </a:t>
            </a:r>
            <a:r>
              <a:rPr sz="2450" spc="10" dirty="0">
                <a:latin typeface="Arial"/>
                <a:cs typeface="Arial"/>
              </a:rPr>
              <a:t> desconocemos, de primeras, </a:t>
            </a:r>
            <a:r>
              <a:rPr sz="2450" spc="5" dirty="0">
                <a:latin typeface="Arial"/>
                <a:cs typeface="Arial"/>
              </a:rPr>
              <a:t>el tipo </a:t>
            </a:r>
            <a:r>
              <a:rPr sz="2450" spc="10" dirty="0">
                <a:latin typeface="Arial"/>
                <a:cs typeface="Arial"/>
              </a:rPr>
              <a:t>que</a:t>
            </a:r>
            <a:r>
              <a:rPr sz="2450" spc="-5" dirty="0">
                <a:latin typeface="Arial"/>
                <a:cs typeface="Arial"/>
              </a:rPr>
              <a:t> </a:t>
            </a:r>
            <a:r>
              <a:rPr sz="2450" spc="10" dirty="0">
                <a:latin typeface="Arial"/>
                <a:cs typeface="Arial"/>
              </a:rPr>
              <a:t>representan.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245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2770"/>
              </a:lnSpc>
              <a:buChar char="•"/>
              <a:tabLst>
                <a:tab pos="241300" algn="l"/>
              </a:tabLst>
            </a:pPr>
            <a:r>
              <a:rPr sz="3675" spc="15" baseline="1133" dirty="0">
                <a:latin typeface="Arial"/>
                <a:cs typeface="Arial"/>
              </a:rPr>
              <a:t>Suelen ser valores obtenidos desde algún </a:t>
            </a:r>
            <a:r>
              <a:rPr sz="3675" spc="7" baseline="1133" dirty="0">
                <a:latin typeface="Arial"/>
                <a:cs typeface="Arial"/>
              </a:rPr>
              <a:t>tipo </a:t>
            </a:r>
            <a:r>
              <a:rPr sz="3675" spc="15" baseline="1133" dirty="0">
                <a:latin typeface="Arial"/>
                <a:cs typeface="Arial"/>
              </a:rPr>
              <a:t>de contenido dinámico o </a:t>
            </a:r>
            <a:r>
              <a:rPr sz="2450" spc="10" dirty="0">
                <a:latin typeface="Arial"/>
                <a:cs typeface="Arial"/>
              </a:rPr>
              <a:t> desde </a:t>
            </a:r>
            <a:r>
              <a:rPr sz="2450" spc="5" dirty="0">
                <a:latin typeface="Arial"/>
                <a:cs typeface="Arial"/>
              </a:rPr>
              <a:t>la </a:t>
            </a:r>
            <a:r>
              <a:rPr sz="2450" spc="10" dirty="0">
                <a:latin typeface="Arial"/>
                <a:cs typeface="Arial"/>
              </a:rPr>
              <a:t>carga de datos del usuario o de </a:t>
            </a:r>
            <a:r>
              <a:rPr sz="2450" spc="5" dirty="0">
                <a:latin typeface="Arial"/>
                <a:cs typeface="Arial"/>
              </a:rPr>
              <a:t>librerías </a:t>
            </a:r>
            <a:r>
              <a:rPr sz="2450" spc="10" dirty="0">
                <a:latin typeface="Arial"/>
                <a:cs typeface="Arial"/>
              </a:rPr>
              <a:t>de</a:t>
            </a:r>
            <a:r>
              <a:rPr sz="2450" spc="-25" dirty="0">
                <a:latin typeface="Arial"/>
                <a:cs typeface="Arial"/>
              </a:rPr>
              <a:t> </a:t>
            </a:r>
            <a:r>
              <a:rPr sz="2450" spc="10" dirty="0">
                <a:latin typeface="Arial"/>
                <a:cs typeface="Arial"/>
              </a:rPr>
              <a:t>terceros.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2450">
              <a:latin typeface="Times New Roman"/>
              <a:cs typeface="Times New Roman"/>
            </a:endParaRPr>
          </a:p>
          <a:p>
            <a:pPr marL="241300" marR="6985" indent="-228600">
              <a:lnSpc>
                <a:spcPts val="2770"/>
              </a:lnSpc>
              <a:spcBef>
                <a:spcPts val="5"/>
              </a:spcBef>
              <a:buChar char="•"/>
              <a:tabLst>
                <a:tab pos="241300" algn="l"/>
              </a:tabLst>
            </a:pPr>
            <a:r>
              <a:rPr sz="3675" spc="15" baseline="1133" dirty="0">
                <a:latin typeface="Arial"/>
                <a:cs typeface="Arial"/>
              </a:rPr>
              <a:t>Para estos casos, disponemos del </a:t>
            </a:r>
            <a:r>
              <a:rPr sz="3675" spc="7" baseline="1133" dirty="0">
                <a:latin typeface="Arial"/>
                <a:cs typeface="Arial"/>
              </a:rPr>
              <a:t>tipo </a:t>
            </a:r>
            <a:r>
              <a:rPr sz="3675" b="1" spc="15" baseline="1133" dirty="0">
                <a:latin typeface="Arial"/>
                <a:cs typeface="Arial"/>
              </a:rPr>
              <a:t>any</a:t>
            </a:r>
            <a:r>
              <a:rPr sz="3675" spc="15" baseline="1133" dirty="0">
                <a:latin typeface="Arial"/>
                <a:cs typeface="Arial"/>
              </a:rPr>
              <a:t>, </a:t>
            </a:r>
            <a:r>
              <a:rPr sz="3675" spc="7" baseline="1133" dirty="0">
                <a:latin typeface="Arial"/>
                <a:cs typeface="Arial"/>
              </a:rPr>
              <a:t>el </a:t>
            </a:r>
            <a:r>
              <a:rPr sz="3675" spc="15" baseline="1133" dirty="0">
                <a:latin typeface="Arial"/>
                <a:cs typeface="Arial"/>
              </a:rPr>
              <a:t>cual nos permite realizar </a:t>
            </a:r>
            <a:r>
              <a:rPr sz="2450" spc="10" dirty="0">
                <a:latin typeface="Arial"/>
                <a:cs typeface="Arial"/>
              </a:rPr>
              <a:t> las comprobaciones de </a:t>
            </a:r>
            <a:r>
              <a:rPr sz="2450" spc="5" dirty="0">
                <a:latin typeface="Arial"/>
                <a:cs typeface="Arial"/>
              </a:rPr>
              <a:t>tipo </a:t>
            </a:r>
            <a:r>
              <a:rPr sz="2450" spc="10" dirty="0">
                <a:latin typeface="Arial"/>
                <a:cs typeface="Arial"/>
              </a:rPr>
              <a:t>en tiempo de</a:t>
            </a:r>
            <a:r>
              <a:rPr sz="2450" spc="-20" dirty="0">
                <a:latin typeface="Arial"/>
                <a:cs typeface="Arial"/>
              </a:rPr>
              <a:t> </a:t>
            </a:r>
            <a:r>
              <a:rPr sz="2450" spc="10" dirty="0">
                <a:latin typeface="Arial"/>
                <a:cs typeface="Arial"/>
              </a:rPr>
              <a:t>ejecución.</a:t>
            </a:r>
            <a:endParaRPr sz="24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24300" y="6377940"/>
            <a:ext cx="5024755" cy="8255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let </a:t>
            </a:r>
            <a:r>
              <a:rPr sz="1600" dirty="0">
                <a:latin typeface="Courier New"/>
                <a:cs typeface="Courier New"/>
              </a:rPr>
              <a:t>notSure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: </a:t>
            </a:r>
            <a:r>
              <a:rPr sz="1600" spc="-5" dirty="0">
                <a:latin typeface="Courier New"/>
                <a:cs typeface="Courier New"/>
              </a:rPr>
              <a:t>any 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D97100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0329D8"/>
                </a:solidFill>
                <a:latin typeface="Courier New"/>
                <a:cs typeface="Courier New"/>
              </a:rPr>
              <a:t>4</a:t>
            </a:r>
            <a:r>
              <a:rPr sz="1600" spc="-5" dirty="0">
                <a:latin typeface="Courier New"/>
                <a:cs typeface="Courier New"/>
              </a:rPr>
              <a:t>;</a:t>
            </a:r>
            <a:endParaRPr sz="1600" dirty="0">
              <a:latin typeface="Courier New"/>
              <a:cs typeface="Courier New"/>
            </a:endParaRPr>
          </a:p>
          <a:p>
            <a:pPr marL="12700" marR="5080">
              <a:lnSpc>
                <a:spcPct val="109400"/>
              </a:lnSpc>
            </a:pPr>
            <a:r>
              <a:rPr sz="1600" spc="-5" dirty="0">
                <a:latin typeface="Courier New"/>
                <a:cs typeface="Courier New"/>
              </a:rPr>
              <a:t>notSure 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= </a:t>
            </a:r>
            <a:r>
              <a:rPr sz="1600" spc="-5" dirty="0">
                <a:solidFill>
                  <a:srgbClr val="5EA702"/>
                </a:solidFill>
                <a:latin typeface="Courier New"/>
                <a:cs typeface="Courier New"/>
              </a:rPr>
              <a:t>"podria ser una </a:t>
            </a:r>
            <a:r>
              <a:rPr sz="1600" dirty="0">
                <a:solidFill>
                  <a:srgbClr val="5EA702"/>
                </a:solidFill>
                <a:latin typeface="Courier New"/>
                <a:cs typeface="Courier New"/>
              </a:rPr>
              <a:t>cadena"</a:t>
            </a:r>
            <a:r>
              <a:rPr sz="1600" dirty="0">
                <a:latin typeface="Courier New"/>
                <a:cs typeface="Courier New"/>
              </a:rPr>
              <a:t>;  </a:t>
            </a:r>
            <a:r>
              <a:rPr sz="1600" spc="-5" dirty="0">
                <a:latin typeface="Courier New"/>
                <a:cs typeface="Courier New"/>
              </a:rPr>
              <a:t>notSure 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= </a:t>
            </a:r>
            <a:r>
              <a:rPr sz="1600" spc="-5" dirty="0">
                <a:solidFill>
                  <a:srgbClr val="295E99"/>
                </a:solidFill>
                <a:latin typeface="Courier New"/>
                <a:cs typeface="Courier New"/>
              </a:rPr>
              <a:t>false</a:t>
            </a:r>
            <a:r>
              <a:rPr sz="1600" spc="-5" dirty="0">
                <a:latin typeface="Courier New"/>
                <a:cs typeface="Courier New"/>
              </a:rPr>
              <a:t>; </a:t>
            </a:r>
            <a:r>
              <a:rPr sz="1600" spc="-5" dirty="0">
                <a:solidFill>
                  <a:srgbClr val="A16C00"/>
                </a:solidFill>
                <a:latin typeface="Courier New"/>
                <a:cs typeface="Courier New"/>
              </a:rPr>
              <a:t>// finalmente un</a:t>
            </a:r>
            <a:r>
              <a:rPr sz="1600" spc="-50" dirty="0">
                <a:solidFill>
                  <a:srgbClr val="A16C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A16C00"/>
                </a:solidFill>
                <a:latin typeface="Courier New"/>
                <a:cs typeface="Courier New"/>
              </a:rPr>
              <a:t>boolean</a:t>
            </a:r>
            <a:endParaRPr sz="16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TypeScript </a:t>
            </a:r>
            <a:r>
              <a:rPr dirty="0"/>
              <a:t>-</a:t>
            </a:r>
            <a:r>
              <a:rPr spc="-60" dirty="0"/>
              <a:t> </a:t>
            </a:r>
            <a:r>
              <a:rPr spc="-75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300" y="2336800"/>
            <a:ext cx="9961880" cy="298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z="2500" b="1" spc="-5" dirty="0">
                <a:latin typeface="Arial"/>
                <a:cs typeface="Arial"/>
              </a:rPr>
              <a:t>any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50">
              <a:latin typeface="Times New Roman"/>
              <a:cs typeface="Times New Roman"/>
            </a:endParaRPr>
          </a:p>
          <a:p>
            <a:pPr marL="241300" marR="22225" indent="-228600">
              <a:lnSpc>
                <a:spcPct val="96200"/>
              </a:lnSpc>
              <a:buChar char="•"/>
              <a:tabLst>
                <a:tab pos="241300" algn="l"/>
              </a:tabLst>
            </a:pPr>
            <a:r>
              <a:rPr sz="3750" baseline="1111" dirty="0">
                <a:latin typeface="Arial"/>
                <a:cs typeface="Arial"/>
              </a:rPr>
              <a:t>El </a:t>
            </a:r>
            <a:r>
              <a:rPr sz="3750" spc="-7" baseline="1111" dirty="0">
                <a:latin typeface="Arial"/>
                <a:cs typeface="Arial"/>
              </a:rPr>
              <a:t>tipo </a:t>
            </a:r>
            <a:r>
              <a:rPr sz="3750" baseline="1111" dirty="0">
                <a:latin typeface="Arial"/>
                <a:cs typeface="Arial"/>
              </a:rPr>
              <a:t>any </a:t>
            </a:r>
            <a:r>
              <a:rPr sz="3750" spc="-7" baseline="1111" dirty="0">
                <a:latin typeface="Arial"/>
                <a:cs typeface="Arial"/>
              </a:rPr>
              <a:t>también </a:t>
            </a:r>
            <a:r>
              <a:rPr sz="3750" baseline="1111" dirty="0">
                <a:latin typeface="Arial"/>
                <a:cs typeface="Arial"/>
              </a:rPr>
              <a:t>es </a:t>
            </a:r>
            <a:r>
              <a:rPr sz="3750" spc="-7" baseline="1111" dirty="0">
                <a:latin typeface="Arial"/>
                <a:cs typeface="Arial"/>
              </a:rPr>
              <a:t>útil </a:t>
            </a:r>
            <a:r>
              <a:rPr sz="3750" baseline="1111" dirty="0">
                <a:latin typeface="Arial"/>
                <a:cs typeface="Arial"/>
              </a:rPr>
              <a:t>cuando </a:t>
            </a:r>
            <a:r>
              <a:rPr sz="3750" spc="-7" baseline="1111" dirty="0">
                <a:latin typeface="Arial"/>
                <a:cs typeface="Arial"/>
              </a:rPr>
              <a:t>trabajamos </a:t>
            </a:r>
            <a:r>
              <a:rPr sz="3750" baseline="1111" dirty="0">
                <a:latin typeface="Arial"/>
                <a:cs typeface="Arial"/>
              </a:rPr>
              <a:t>con colecciones en las </a:t>
            </a:r>
            <a:r>
              <a:rPr sz="2500" dirty="0">
                <a:latin typeface="Arial"/>
                <a:cs typeface="Arial"/>
              </a:rPr>
              <a:t> que conocemos sólo alguno de los </a:t>
            </a:r>
            <a:r>
              <a:rPr sz="2500" spc="-5" dirty="0">
                <a:latin typeface="Arial"/>
                <a:cs typeface="Arial"/>
              </a:rPr>
              <a:t>tipos </a:t>
            </a:r>
            <a:r>
              <a:rPr sz="2500" dirty="0">
                <a:latin typeface="Arial"/>
                <a:cs typeface="Arial"/>
              </a:rPr>
              <a:t>de los </a:t>
            </a:r>
            <a:r>
              <a:rPr sz="2500" spc="-5" dirty="0">
                <a:latin typeface="Arial"/>
                <a:cs typeface="Arial"/>
              </a:rPr>
              <a:t>elementos </a:t>
            </a:r>
            <a:r>
              <a:rPr sz="2500" dirty="0">
                <a:latin typeface="Arial"/>
                <a:cs typeface="Arial"/>
              </a:rPr>
              <a:t>que las  </a:t>
            </a:r>
            <a:r>
              <a:rPr sz="2500" spc="-5" dirty="0">
                <a:latin typeface="Arial"/>
                <a:cs typeface="Arial"/>
              </a:rPr>
              <a:t>conforman.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26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2870"/>
              </a:lnSpc>
              <a:buChar char="•"/>
              <a:tabLst>
                <a:tab pos="241300" algn="l"/>
              </a:tabLst>
            </a:pPr>
            <a:r>
              <a:rPr sz="3750" baseline="1111" dirty="0">
                <a:latin typeface="Arial"/>
                <a:cs typeface="Arial"/>
              </a:rPr>
              <a:t>Por ejemplo, </a:t>
            </a:r>
            <a:r>
              <a:rPr sz="3750" spc="-7" baseline="1111" dirty="0">
                <a:latin typeface="Arial"/>
                <a:cs typeface="Arial"/>
              </a:rPr>
              <a:t>podríamos utilizarlo </a:t>
            </a:r>
            <a:r>
              <a:rPr sz="3750" baseline="1111" dirty="0">
                <a:latin typeface="Arial"/>
                <a:cs typeface="Arial"/>
              </a:rPr>
              <a:t>en un array que </a:t>
            </a:r>
            <a:r>
              <a:rPr sz="3750" spc="-7" baseline="1111" dirty="0">
                <a:latin typeface="Arial"/>
                <a:cs typeface="Arial"/>
              </a:rPr>
              <a:t>contiene diferentes </a:t>
            </a:r>
            <a:r>
              <a:rPr sz="2500" spc="-5" dirty="0">
                <a:latin typeface="Arial"/>
                <a:cs typeface="Arial"/>
              </a:rPr>
              <a:t> elementos.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24300" y="6400800"/>
            <a:ext cx="4415790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let </a:t>
            </a:r>
            <a:r>
              <a:rPr sz="1600" dirty="0">
                <a:latin typeface="Courier New"/>
                <a:cs typeface="Courier New"/>
              </a:rPr>
              <a:t>list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: </a:t>
            </a:r>
            <a:r>
              <a:rPr sz="1600" spc="-5" dirty="0">
                <a:latin typeface="Courier New"/>
                <a:cs typeface="Courier New"/>
              </a:rPr>
              <a:t>any[] 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= </a:t>
            </a:r>
            <a:r>
              <a:rPr sz="1600" spc="-5" dirty="0">
                <a:latin typeface="Courier New"/>
                <a:cs typeface="Courier New"/>
              </a:rPr>
              <a:t>[</a:t>
            </a:r>
            <a:r>
              <a:rPr sz="1600" spc="-5" dirty="0">
                <a:solidFill>
                  <a:srgbClr val="0329D8"/>
                </a:solidFill>
                <a:latin typeface="Courier New"/>
                <a:cs typeface="Courier New"/>
              </a:rPr>
              <a:t>1</a:t>
            </a:r>
            <a:r>
              <a:rPr sz="1600" spc="-5" dirty="0">
                <a:latin typeface="Courier New"/>
                <a:cs typeface="Courier New"/>
              </a:rPr>
              <a:t>, </a:t>
            </a: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true</a:t>
            </a:r>
            <a:r>
              <a:rPr sz="1600" dirty="0">
                <a:latin typeface="Courier New"/>
                <a:cs typeface="Courier New"/>
              </a:rPr>
              <a:t>,</a:t>
            </a:r>
            <a:r>
              <a:rPr sz="1600" spc="-40" dirty="0"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5EA702"/>
                </a:solidFill>
                <a:latin typeface="Courier New"/>
                <a:cs typeface="Courier New"/>
              </a:rPr>
              <a:t>"free"</a:t>
            </a:r>
            <a:r>
              <a:rPr sz="1600" spc="-5" dirty="0">
                <a:latin typeface="Courier New"/>
                <a:cs typeface="Courier New"/>
              </a:rPr>
              <a:t>];</a:t>
            </a:r>
            <a:endParaRPr sz="16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ourier New"/>
                <a:cs typeface="Courier New"/>
              </a:rPr>
              <a:t>list[</a:t>
            </a:r>
            <a:r>
              <a:rPr sz="1600" dirty="0">
                <a:solidFill>
                  <a:srgbClr val="0329D8"/>
                </a:solidFill>
                <a:latin typeface="Courier New"/>
                <a:cs typeface="Courier New"/>
              </a:rPr>
              <a:t>1</a:t>
            </a:r>
            <a:r>
              <a:rPr sz="1600" dirty="0">
                <a:latin typeface="Courier New"/>
                <a:cs typeface="Courier New"/>
              </a:rPr>
              <a:t>] 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D971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329D8"/>
                </a:solidFill>
                <a:latin typeface="Courier New"/>
                <a:cs typeface="Courier New"/>
              </a:rPr>
              <a:t>100</a:t>
            </a:r>
            <a:r>
              <a:rPr sz="1600" dirty="0">
                <a:latin typeface="Courier New"/>
                <a:cs typeface="Courier New"/>
              </a:rPr>
              <a:t>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TypeScript </a:t>
            </a:r>
            <a:r>
              <a:rPr dirty="0"/>
              <a:t>-</a:t>
            </a:r>
            <a:r>
              <a:rPr spc="-60" dirty="0"/>
              <a:t> </a:t>
            </a:r>
            <a:r>
              <a:rPr spc="-75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300" y="2159000"/>
            <a:ext cx="10191750" cy="335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z="2500" b="1" spc="-5" dirty="0">
                <a:latin typeface="Arial"/>
                <a:cs typeface="Arial"/>
              </a:rPr>
              <a:t>void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4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sz="3750" spc="-7" baseline="1111" dirty="0">
                <a:latin typeface="Arial"/>
                <a:cs typeface="Arial"/>
              </a:rPr>
              <a:t>Podríamos definir </a:t>
            </a:r>
            <a:r>
              <a:rPr sz="3750" baseline="1111" dirty="0">
                <a:latin typeface="Arial"/>
                <a:cs typeface="Arial"/>
              </a:rPr>
              <a:t>el </a:t>
            </a:r>
            <a:r>
              <a:rPr sz="3750" spc="-7" baseline="1111" dirty="0">
                <a:latin typeface="Arial"/>
                <a:cs typeface="Arial"/>
              </a:rPr>
              <a:t>tipo </a:t>
            </a:r>
            <a:r>
              <a:rPr sz="3750" baseline="1111" dirty="0">
                <a:latin typeface="Arial"/>
                <a:cs typeface="Arial"/>
              </a:rPr>
              <a:t>void como el caso </a:t>
            </a:r>
            <a:r>
              <a:rPr sz="3750" spc="-7" baseline="1111" dirty="0">
                <a:latin typeface="Arial"/>
                <a:cs typeface="Arial"/>
              </a:rPr>
              <a:t>contrario </a:t>
            </a:r>
            <a:r>
              <a:rPr sz="3750" baseline="1111" dirty="0">
                <a:latin typeface="Arial"/>
                <a:cs typeface="Arial"/>
              </a:rPr>
              <a:t>a</a:t>
            </a:r>
            <a:r>
              <a:rPr sz="3750" spc="30" baseline="1111" dirty="0">
                <a:latin typeface="Arial"/>
                <a:cs typeface="Arial"/>
              </a:rPr>
              <a:t> </a:t>
            </a:r>
            <a:r>
              <a:rPr sz="3750" spc="-75" baseline="1111" dirty="0">
                <a:latin typeface="Arial"/>
                <a:cs typeface="Arial"/>
              </a:rPr>
              <a:t>any.</a:t>
            </a:r>
            <a:endParaRPr sz="3750" baseline="111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26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2870"/>
              </a:lnSpc>
              <a:buChar char="•"/>
              <a:tabLst>
                <a:tab pos="241300" algn="l"/>
              </a:tabLst>
            </a:pPr>
            <a:r>
              <a:rPr sz="3750" baseline="1111" dirty="0">
                <a:latin typeface="Arial"/>
                <a:cs typeface="Arial"/>
              </a:rPr>
              <a:t>En </a:t>
            </a:r>
            <a:r>
              <a:rPr sz="3750" spc="-7" baseline="1111" dirty="0">
                <a:latin typeface="Arial"/>
                <a:cs typeface="Arial"/>
              </a:rPr>
              <a:t>este </a:t>
            </a:r>
            <a:r>
              <a:rPr sz="3750" baseline="1111" dirty="0">
                <a:latin typeface="Arial"/>
                <a:cs typeface="Arial"/>
              </a:rPr>
              <a:t>caso queremos </a:t>
            </a:r>
            <a:r>
              <a:rPr sz="3750" spc="-7" baseline="1111" dirty="0">
                <a:latin typeface="Arial"/>
                <a:cs typeface="Arial"/>
              </a:rPr>
              <a:t>definir </a:t>
            </a:r>
            <a:r>
              <a:rPr sz="3750" baseline="1111" dirty="0">
                <a:latin typeface="Arial"/>
                <a:cs typeface="Arial"/>
              </a:rPr>
              <a:t>la ausencia de </a:t>
            </a:r>
            <a:r>
              <a:rPr sz="3750" spc="-7" baseline="1111" dirty="0">
                <a:latin typeface="Arial"/>
                <a:cs typeface="Arial"/>
              </a:rPr>
              <a:t>tipo </a:t>
            </a:r>
            <a:r>
              <a:rPr sz="3750" baseline="1111" dirty="0">
                <a:latin typeface="Arial"/>
                <a:cs typeface="Arial"/>
              </a:rPr>
              <a:t>en la variable con</a:t>
            </a:r>
            <a:r>
              <a:rPr sz="3750" spc="-52" baseline="1111" dirty="0">
                <a:latin typeface="Arial"/>
                <a:cs typeface="Arial"/>
              </a:rPr>
              <a:t> </a:t>
            </a:r>
            <a:r>
              <a:rPr sz="3750" baseline="1111" dirty="0">
                <a:latin typeface="Arial"/>
                <a:cs typeface="Arial"/>
              </a:rPr>
              <a:t>la </a:t>
            </a:r>
            <a:r>
              <a:rPr sz="2500" dirty="0">
                <a:latin typeface="Arial"/>
                <a:cs typeface="Arial"/>
              </a:rPr>
              <a:t> que </a:t>
            </a:r>
            <a:r>
              <a:rPr sz="2500" spc="-5" dirty="0">
                <a:latin typeface="Arial"/>
                <a:cs typeface="Arial"/>
              </a:rPr>
              <a:t>estemos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trabajando.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550">
              <a:latin typeface="Times New Roman"/>
              <a:cs typeface="Times New Roman"/>
            </a:endParaRPr>
          </a:p>
          <a:p>
            <a:pPr marL="241300" marR="1099820" indent="-228600">
              <a:lnSpc>
                <a:spcPts val="2870"/>
              </a:lnSpc>
              <a:buChar char="•"/>
              <a:tabLst>
                <a:tab pos="241300" algn="l"/>
              </a:tabLst>
            </a:pPr>
            <a:r>
              <a:rPr sz="3750" baseline="1111" dirty="0">
                <a:latin typeface="Arial"/>
                <a:cs typeface="Arial"/>
              </a:rPr>
              <a:t>El lugar más común donde vamos a poder </a:t>
            </a:r>
            <a:r>
              <a:rPr sz="3750" spc="-7" baseline="1111" dirty="0">
                <a:latin typeface="Arial"/>
                <a:cs typeface="Arial"/>
              </a:rPr>
              <a:t>encontrarlo </a:t>
            </a:r>
            <a:r>
              <a:rPr sz="3750" baseline="1111" dirty="0">
                <a:latin typeface="Arial"/>
                <a:cs typeface="Arial"/>
              </a:rPr>
              <a:t>es en</a:t>
            </a:r>
            <a:r>
              <a:rPr sz="3750" spc="-104" baseline="1111" dirty="0">
                <a:latin typeface="Arial"/>
                <a:cs typeface="Arial"/>
              </a:rPr>
              <a:t> </a:t>
            </a:r>
            <a:r>
              <a:rPr sz="3750" baseline="1111" dirty="0">
                <a:latin typeface="Arial"/>
                <a:cs typeface="Arial"/>
              </a:rPr>
              <a:t>la </a:t>
            </a:r>
            <a:r>
              <a:rPr sz="250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definición </a:t>
            </a:r>
            <a:r>
              <a:rPr sz="2500" dirty="0">
                <a:latin typeface="Arial"/>
                <a:cs typeface="Arial"/>
              </a:rPr>
              <a:t>del valor de </a:t>
            </a:r>
            <a:r>
              <a:rPr sz="2500" spc="-5" dirty="0">
                <a:latin typeface="Arial"/>
                <a:cs typeface="Arial"/>
              </a:rPr>
              <a:t>retorno </a:t>
            </a:r>
            <a:r>
              <a:rPr sz="2500" dirty="0">
                <a:latin typeface="Arial"/>
                <a:cs typeface="Arial"/>
              </a:rPr>
              <a:t>en una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función.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37000" y="6022340"/>
            <a:ext cx="4415790" cy="833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6540" marR="5080" indent="-244475">
              <a:lnSpc>
                <a:spcPct val="109400"/>
              </a:lnSpc>
              <a:spcBef>
                <a:spcPts val="100"/>
              </a:spcBef>
            </a:pP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function </a:t>
            </a:r>
            <a:r>
              <a:rPr sz="1600" dirty="0">
                <a:latin typeface="Courier New"/>
                <a:cs typeface="Courier New"/>
              </a:rPr>
              <a:t>sinRetorno()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:</a:t>
            </a:r>
            <a:r>
              <a:rPr lang="es-ES_tradnl" sz="1600" dirty="0">
                <a:solidFill>
                  <a:srgbClr val="D971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void</a:t>
            </a:r>
            <a:r>
              <a:rPr sz="1600" dirty="0">
                <a:latin typeface="Courier New"/>
                <a:cs typeface="Courier New"/>
              </a:rPr>
              <a:t>{  </a:t>
            </a:r>
            <a:endParaRPr lang="es-ES_tradnl" sz="1600" dirty="0">
              <a:latin typeface="Courier New"/>
              <a:cs typeface="Courier New"/>
            </a:endParaRPr>
          </a:p>
          <a:p>
            <a:pPr marL="256540" marR="5080" indent="-244475">
              <a:lnSpc>
                <a:spcPct val="109400"/>
              </a:lnSpc>
              <a:spcBef>
                <a:spcPts val="100"/>
              </a:spcBef>
            </a:pPr>
            <a:r>
              <a:rPr lang="es-ES_tradnl" sz="1600" spc="-5" dirty="0">
                <a:latin typeface="Courier New"/>
                <a:cs typeface="Courier New"/>
              </a:rPr>
              <a:t>	</a:t>
            </a:r>
            <a:r>
              <a:rPr sz="1600" spc="-5" dirty="0">
                <a:latin typeface="Courier New"/>
                <a:cs typeface="Courier New"/>
              </a:rPr>
              <a:t>console.log(</a:t>
            </a:r>
            <a:r>
              <a:rPr sz="1600" spc="-5" dirty="0">
                <a:solidFill>
                  <a:srgbClr val="5EA702"/>
                </a:solidFill>
                <a:latin typeface="Courier New"/>
                <a:cs typeface="Courier New"/>
              </a:rPr>
              <a:t>"Función sin</a:t>
            </a:r>
            <a:r>
              <a:rPr sz="1600" spc="-35" dirty="0">
                <a:solidFill>
                  <a:srgbClr val="5EA702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5EA702"/>
                </a:solidFill>
                <a:latin typeface="Courier New"/>
                <a:cs typeface="Courier New"/>
              </a:rPr>
              <a:t>return"</a:t>
            </a:r>
            <a:r>
              <a:rPr sz="1600" dirty="0">
                <a:latin typeface="Courier New"/>
                <a:cs typeface="Courier New"/>
              </a:rPr>
              <a:t>);</a:t>
            </a: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600" dirty="0">
                <a:latin typeface="Courier New"/>
                <a:cs typeface="Courier New"/>
              </a:rPr>
              <a:t>}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57300" y="7571752"/>
            <a:ext cx="10173335" cy="77216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241300" marR="5080" indent="-228600">
              <a:lnSpc>
                <a:spcPts val="2880"/>
              </a:lnSpc>
              <a:spcBef>
                <a:spcPts val="295"/>
              </a:spcBef>
              <a:buChar char="•"/>
              <a:tabLst>
                <a:tab pos="241300" algn="l"/>
              </a:tabLst>
            </a:pPr>
            <a:r>
              <a:rPr sz="2500" dirty="0">
                <a:latin typeface="Arial"/>
                <a:cs typeface="Arial"/>
              </a:rPr>
              <a:t>Declarar variables con el </a:t>
            </a:r>
            <a:r>
              <a:rPr sz="2500" spc="-5" dirty="0">
                <a:latin typeface="Arial"/>
                <a:cs typeface="Arial"/>
              </a:rPr>
              <a:t>tipo </a:t>
            </a:r>
            <a:r>
              <a:rPr sz="2500" dirty="0">
                <a:latin typeface="Arial"/>
                <a:cs typeface="Arial"/>
              </a:rPr>
              <a:t>void no es muy </a:t>
            </a:r>
            <a:r>
              <a:rPr sz="2500" spc="-5" dirty="0">
                <a:latin typeface="Arial"/>
                <a:cs typeface="Arial"/>
              </a:rPr>
              <a:t>útil </a:t>
            </a:r>
            <a:r>
              <a:rPr sz="2500" dirty="0">
                <a:latin typeface="Arial"/>
                <a:cs typeface="Arial"/>
              </a:rPr>
              <a:t>ya que sólo</a:t>
            </a:r>
            <a:r>
              <a:rPr sz="2500" spc="-8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podemos  asignarle los valores </a:t>
            </a:r>
            <a:r>
              <a:rPr sz="2500" i="1" dirty="0">
                <a:latin typeface="Arial"/>
                <a:cs typeface="Arial"/>
              </a:rPr>
              <a:t>undefined </a:t>
            </a:r>
            <a:r>
              <a:rPr sz="2500" dirty="0">
                <a:latin typeface="Arial"/>
                <a:cs typeface="Arial"/>
              </a:rPr>
              <a:t>o</a:t>
            </a:r>
            <a:r>
              <a:rPr sz="2500" spc="-25" dirty="0">
                <a:latin typeface="Arial"/>
                <a:cs typeface="Arial"/>
              </a:rPr>
              <a:t> </a:t>
            </a:r>
            <a:r>
              <a:rPr sz="2500" i="1" spc="-5" dirty="0">
                <a:latin typeface="Arial"/>
                <a:cs typeface="Arial"/>
              </a:rPr>
              <a:t>null</a:t>
            </a:r>
            <a:r>
              <a:rPr sz="2500" spc="-5" dirty="0">
                <a:latin typeface="Arial"/>
                <a:cs typeface="Arial"/>
              </a:rPr>
              <a:t>.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TypeScript </a:t>
            </a:r>
            <a:r>
              <a:rPr dirty="0"/>
              <a:t>-</a:t>
            </a:r>
            <a:r>
              <a:rPr spc="-60" dirty="0"/>
              <a:t> </a:t>
            </a:r>
            <a:r>
              <a:rPr spc="-75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300" y="2451100"/>
            <a:ext cx="10426700" cy="4457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z="2500" b="1" spc="-50" dirty="0">
                <a:latin typeface="Arial"/>
                <a:cs typeface="Arial"/>
              </a:rPr>
              <a:t>Type</a:t>
            </a:r>
            <a:r>
              <a:rPr sz="2500" b="1" spc="-5" dirty="0">
                <a:latin typeface="Arial"/>
                <a:cs typeface="Arial"/>
              </a:rPr>
              <a:t> assertions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5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96200"/>
              </a:lnSpc>
              <a:buChar char="•"/>
              <a:tabLst>
                <a:tab pos="241300" algn="l"/>
              </a:tabLst>
            </a:pPr>
            <a:r>
              <a:rPr sz="3750" spc="-60" baseline="1111" dirty="0">
                <a:latin typeface="Arial"/>
                <a:cs typeface="Arial"/>
              </a:rPr>
              <a:t>Vamos </a:t>
            </a:r>
            <a:r>
              <a:rPr sz="3750" baseline="1111" dirty="0">
                <a:latin typeface="Arial"/>
                <a:cs typeface="Arial"/>
              </a:rPr>
              <a:t>a </a:t>
            </a:r>
            <a:r>
              <a:rPr sz="3750" spc="-7" baseline="1111" dirty="0">
                <a:latin typeface="Arial"/>
                <a:cs typeface="Arial"/>
              </a:rPr>
              <a:t>encontrarnos </a:t>
            </a:r>
            <a:r>
              <a:rPr sz="3750" baseline="1111" dirty="0">
                <a:latin typeface="Arial"/>
                <a:cs typeface="Arial"/>
              </a:rPr>
              <a:t>muchos casos, sobre </a:t>
            </a:r>
            <a:r>
              <a:rPr sz="3750" spc="-7" baseline="1111" dirty="0">
                <a:latin typeface="Arial"/>
                <a:cs typeface="Arial"/>
              </a:rPr>
              <a:t>todo </a:t>
            </a:r>
            <a:r>
              <a:rPr sz="3750" baseline="1111" dirty="0">
                <a:latin typeface="Arial"/>
                <a:cs typeface="Arial"/>
              </a:rPr>
              <a:t>al </a:t>
            </a:r>
            <a:r>
              <a:rPr sz="3750" spc="-7" baseline="1111" dirty="0">
                <a:latin typeface="Arial"/>
                <a:cs typeface="Arial"/>
              </a:rPr>
              <a:t>trabajar </a:t>
            </a:r>
            <a:r>
              <a:rPr sz="3750" baseline="1111" dirty="0">
                <a:latin typeface="Arial"/>
                <a:cs typeface="Arial"/>
              </a:rPr>
              <a:t>con </a:t>
            </a:r>
            <a:r>
              <a:rPr sz="3750" spc="-75" baseline="1111" dirty="0">
                <a:latin typeface="Arial"/>
                <a:cs typeface="Arial"/>
              </a:rPr>
              <a:t>any, </a:t>
            </a:r>
            <a:r>
              <a:rPr sz="3750" baseline="1111" dirty="0">
                <a:latin typeface="Arial"/>
                <a:cs typeface="Arial"/>
              </a:rPr>
              <a:t>en </a:t>
            </a:r>
            <a:r>
              <a:rPr sz="2500" dirty="0">
                <a:latin typeface="Arial"/>
                <a:cs typeface="Arial"/>
              </a:rPr>
              <a:t> los que </a:t>
            </a:r>
            <a:r>
              <a:rPr sz="2500" spc="-5" dirty="0">
                <a:latin typeface="Arial"/>
                <a:cs typeface="Arial"/>
              </a:rPr>
              <a:t>necesitemos justificar </a:t>
            </a:r>
            <a:r>
              <a:rPr sz="2500" dirty="0">
                <a:latin typeface="Arial"/>
                <a:cs typeface="Arial"/>
              </a:rPr>
              <a:t>qué </a:t>
            </a:r>
            <a:r>
              <a:rPr sz="2500" spc="-5" dirty="0">
                <a:latin typeface="Arial"/>
                <a:cs typeface="Arial"/>
              </a:rPr>
              <a:t>tipo tiene </a:t>
            </a:r>
            <a:r>
              <a:rPr sz="2500" dirty="0">
                <a:latin typeface="Arial"/>
                <a:cs typeface="Arial"/>
              </a:rPr>
              <a:t>alguna variable y así poder  usar los </a:t>
            </a:r>
            <a:r>
              <a:rPr sz="2500" spc="-5" dirty="0">
                <a:latin typeface="Arial"/>
                <a:cs typeface="Arial"/>
              </a:rPr>
              <a:t>métodos específicos </a:t>
            </a:r>
            <a:r>
              <a:rPr sz="2500" dirty="0">
                <a:latin typeface="Arial"/>
                <a:cs typeface="Arial"/>
              </a:rPr>
              <a:t>de ese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tipo.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2600">
              <a:latin typeface="Times New Roman"/>
              <a:cs typeface="Times New Roman"/>
            </a:endParaRPr>
          </a:p>
          <a:p>
            <a:pPr marL="241300" marR="1493520" indent="-228600">
              <a:lnSpc>
                <a:spcPts val="2870"/>
              </a:lnSpc>
              <a:buChar char="•"/>
              <a:tabLst>
                <a:tab pos="241300" algn="l"/>
              </a:tabLst>
            </a:pPr>
            <a:r>
              <a:rPr sz="3750" baseline="1111" dirty="0">
                <a:latin typeface="Arial"/>
                <a:cs typeface="Arial"/>
              </a:rPr>
              <a:t>Lo </a:t>
            </a:r>
            <a:r>
              <a:rPr sz="3750" spc="-7" baseline="1111" dirty="0">
                <a:latin typeface="Arial"/>
                <a:cs typeface="Arial"/>
              </a:rPr>
              <a:t>podríamos </a:t>
            </a:r>
            <a:r>
              <a:rPr sz="3750" baseline="1111" dirty="0">
                <a:latin typeface="Arial"/>
                <a:cs typeface="Arial"/>
              </a:rPr>
              <a:t>comparar con los </a:t>
            </a:r>
            <a:r>
              <a:rPr sz="3750" i="1" spc="-7" baseline="1111" dirty="0">
                <a:latin typeface="Arial"/>
                <a:cs typeface="Arial"/>
              </a:rPr>
              <a:t>casting </a:t>
            </a:r>
            <a:r>
              <a:rPr sz="3750" baseline="1111" dirty="0">
                <a:latin typeface="Arial"/>
                <a:cs typeface="Arial"/>
              </a:rPr>
              <a:t>de </a:t>
            </a:r>
            <a:r>
              <a:rPr sz="3750" spc="-7" baseline="1111" dirty="0">
                <a:latin typeface="Arial"/>
                <a:cs typeface="Arial"/>
              </a:rPr>
              <a:t>otros </a:t>
            </a:r>
            <a:r>
              <a:rPr sz="3750" baseline="1111" dirty="0">
                <a:latin typeface="Arial"/>
                <a:cs typeface="Arial"/>
              </a:rPr>
              <a:t>lenguajes de </a:t>
            </a:r>
            <a:r>
              <a:rPr sz="2500" dirty="0">
                <a:latin typeface="Arial"/>
                <a:cs typeface="Arial"/>
              </a:rPr>
              <a:t> programación.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"/>
              <a:buChar char="•"/>
            </a:pPr>
            <a:endParaRPr sz="2450">
              <a:latin typeface="Times New Roman"/>
              <a:cs typeface="Times New Roman"/>
            </a:endParaRPr>
          </a:p>
          <a:p>
            <a:pPr marL="241300" marR="610235" indent="-228600">
              <a:lnSpc>
                <a:spcPct val="96200"/>
              </a:lnSpc>
              <a:buChar char="•"/>
              <a:tabLst>
                <a:tab pos="241300" algn="l"/>
              </a:tabLst>
            </a:pPr>
            <a:r>
              <a:rPr sz="3750" baseline="1111" dirty="0">
                <a:latin typeface="Arial"/>
                <a:cs typeface="Arial"/>
              </a:rPr>
              <a:t>Al </a:t>
            </a:r>
            <a:r>
              <a:rPr sz="3750" spc="-7" baseline="1111" dirty="0">
                <a:latin typeface="Arial"/>
                <a:cs typeface="Arial"/>
              </a:rPr>
              <a:t>contrario </a:t>
            </a:r>
            <a:r>
              <a:rPr sz="3750" baseline="1111" dirty="0">
                <a:latin typeface="Arial"/>
                <a:cs typeface="Arial"/>
              </a:rPr>
              <a:t>que </a:t>
            </a:r>
            <a:r>
              <a:rPr sz="3750" spc="-7" baseline="1111" dirty="0">
                <a:latin typeface="Arial"/>
                <a:cs typeface="Arial"/>
              </a:rPr>
              <a:t>otros </a:t>
            </a:r>
            <a:r>
              <a:rPr sz="3750" baseline="1111" dirty="0">
                <a:latin typeface="Arial"/>
                <a:cs typeface="Arial"/>
              </a:rPr>
              <a:t>lenguajes, </a:t>
            </a:r>
            <a:r>
              <a:rPr sz="3750" spc="-7" baseline="1111" dirty="0">
                <a:latin typeface="Arial"/>
                <a:cs typeface="Arial"/>
              </a:rPr>
              <a:t>este tipo </a:t>
            </a:r>
            <a:r>
              <a:rPr sz="3750" baseline="1111" dirty="0">
                <a:latin typeface="Arial"/>
                <a:cs typeface="Arial"/>
              </a:rPr>
              <a:t>de comprobaciones son a </a:t>
            </a:r>
            <a:r>
              <a:rPr sz="2500" dirty="0">
                <a:latin typeface="Arial"/>
                <a:cs typeface="Arial"/>
              </a:rPr>
              <a:t> nivel de compilador y no </a:t>
            </a:r>
            <a:r>
              <a:rPr sz="2500" spc="-5" dirty="0">
                <a:latin typeface="Arial"/>
                <a:cs typeface="Arial"/>
              </a:rPr>
              <a:t>tienen </a:t>
            </a:r>
            <a:r>
              <a:rPr sz="2500" dirty="0">
                <a:latin typeface="Arial"/>
                <a:cs typeface="Arial"/>
              </a:rPr>
              <a:t>ninguna repercusión en </a:t>
            </a:r>
            <a:r>
              <a:rPr sz="2500" spc="-5" dirty="0">
                <a:latin typeface="Arial"/>
                <a:cs typeface="Arial"/>
              </a:rPr>
              <a:t>tiempo </a:t>
            </a:r>
            <a:r>
              <a:rPr sz="2500" dirty="0">
                <a:latin typeface="Arial"/>
                <a:cs typeface="Arial"/>
              </a:rPr>
              <a:t>de  ejecución.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TypeScript </a:t>
            </a:r>
            <a:r>
              <a:rPr dirty="0"/>
              <a:t>-</a:t>
            </a:r>
            <a:r>
              <a:rPr spc="-60" dirty="0"/>
              <a:t> </a:t>
            </a:r>
            <a:r>
              <a:rPr spc="-75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300" y="2273300"/>
            <a:ext cx="9890760" cy="1146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z="2500" b="1" spc="-50" dirty="0">
                <a:latin typeface="Arial"/>
                <a:cs typeface="Arial"/>
              </a:rPr>
              <a:t>Type</a:t>
            </a:r>
            <a:r>
              <a:rPr sz="2500" b="1" spc="-5" dirty="0">
                <a:latin typeface="Arial"/>
                <a:cs typeface="Arial"/>
              </a:rPr>
              <a:t> assertions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4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sz="3750" spc="-60" baseline="1111" dirty="0">
                <a:latin typeface="Arial"/>
                <a:cs typeface="Arial"/>
              </a:rPr>
              <a:t>Tenemos </a:t>
            </a:r>
            <a:r>
              <a:rPr sz="3750" baseline="1111" dirty="0">
                <a:latin typeface="Arial"/>
                <a:cs typeface="Arial"/>
              </a:rPr>
              <a:t>dos maneras para poder llevar a cabo </a:t>
            </a:r>
            <a:r>
              <a:rPr sz="3750" spc="-7" baseline="1111" dirty="0">
                <a:latin typeface="Arial"/>
                <a:cs typeface="Arial"/>
              </a:rPr>
              <a:t>este tipo </a:t>
            </a:r>
            <a:r>
              <a:rPr sz="3750" baseline="1111" dirty="0">
                <a:latin typeface="Arial"/>
                <a:cs typeface="Arial"/>
              </a:rPr>
              <a:t>de</a:t>
            </a:r>
            <a:r>
              <a:rPr sz="3750" spc="-30" baseline="1111" dirty="0">
                <a:latin typeface="Arial"/>
                <a:cs typeface="Arial"/>
              </a:rPr>
              <a:t> </a:t>
            </a:r>
            <a:r>
              <a:rPr sz="3750" i="1" spc="-7" baseline="1111" dirty="0">
                <a:latin typeface="Arial"/>
                <a:cs typeface="Arial"/>
              </a:rPr>
              <a:t>casting</a:t>
            </a:r>
            <a:r>
              <a:rPr sz="3750" spc="-7" baseline="1111" dirty="0">
                <a:latin typeface="Arial"/>
                <a:cs typeface="Arial"/>
              </a:rPr>
              <a:t>.</a:t>
            </a:r>
            <a:endParaRPr sz="3750" baseline="1111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409950" y="4356100"/>
          <a:ext cx="6038215" cy="132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8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R="20955" algn="ctr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rgbClr val="295E99"/>
                          </a:solidFill>
                          <a:latin typeface="Courier New"/>
                          <a:cs typeface="Courier New"/>
                        </a:rPr>
                        <a:t>let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valor</a:t>
                      </a:r>
                      <a:r>
                        <a:rPr sz="1600" dirty="0">
                          <a:solidFill>
                            <a:srgbClr val="D97100"/>
                          </a:solidFill>
                          <a:latin typeface="Courier New"/>
                          <a:cs typeface="Courier New"/>
                        </a:rPr>
                        <a:t>:</a:t>
                      </a:r>
                      <a:r>
                        <a:rPr sz="1600" spc="-70" dirty="0">
                          <a:solidFill>
                            <a:srgbClr val="D971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" dirty="0">
                          <a:latin typeface="Courier New"/>
                          <a:cs typeface="Courier New"/>
                        </a:rPr>
                        <a:t>any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rgbClr val="D97100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sz="1600" spc="-5" dirty="0">
                          <a:solidFill>
                            <a:srgbClr val="5EA702"/>
                          </a:solidFill>
                          <a:latin typeface="Courier New"/>
                          <a:cs typeface="Courier New"/>
                        </a:rPr>
                        <a:t>"Esto es un</a:t>
                      </a:r>
                      <a:r>
                        <a:rPr sz="1600" spc="-30" dirty="0">
                          <a:solidFill>
                            <a:srgbClr val="5EA702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solidFill>
                            <a:srgbClr val="5EA702"/>
                          </a:solidFill>
                          <a:latin typeface="Courier New"/>
                          <a:cs typeface="Courier New"/>
                        </a:rPr>
                        <a:t>string"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R="2095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600" dirty="0">
                          <a:solidFill>
                            <a:srgbClr val="295E99"/>
                          </a:solidFill>
                          <a:latin typeface="Courier New"/>
                          <a:cs typeface="Courier New"/>
                        </a:rPr>
                        <a:t>let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600" spc="-5" dirty="0">
                          <a:latin typeface="Courier New"/>
                          <a:cs typeface="Courier New"/>
                        </a:rPr>
                        <a:t>strLength</a:t>
                      </a:r>
                      <a:r>
                        <a:rPr sz="1600" spc="-5" dirty="0">
                          <a:solidFill>
                            <a:srgbClr val="D97100"/>
                          </a:solidFill>
                          <a:latin typeface="Courier New"/>
                          <a:cs typeface="Courier New"/>
                        </a:rPr>
                        <a:t>: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600" spc="-5" dirty="0">
                          <a:latin typeface="Courier New"/>
                          <a:cs typeface="Courier New"/>
                        </a:rPr>
                        <a:t>number </a:t>
                      </a:r>
                      <a:r>
                        <a:rPr sz="1600" dirty="0">
                          <a:solidFill>
                            <a:srgbClr val="D9710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600" spc="10" dirty="0">
                          <a:solidFill>
                            <a:srgbClr val="D971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" dirty="0"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600" spc="-5" dirty="0">
                          <a:solidFill>
                            <a:srgbClr val="D97100"/>
                          </a:solidFill>
                          <a:latin typeface="Courier New"/>
                          <a:cs typeface="Courier New"/>
                        </a:rPr>
                        <a:t>&lt;</a:t>
                      </a:r>
                      <a:r>
                        <a:rPr sz="1600" spc="-5" dirty="0">
                          <a:latin typeface="Courier New"/>
                          <a:cs typeface="Courier New"/>
                        </a:rPr>
                        <a:t>string</a:t>
                      </a:r>
                      <a:r>
                        <a:rPr sz="1600" spc="-5" dirty="0">
                          <a:solidFill>
                            <a:srgbClr val="D97100"/>
                          </a:solidFill>
                          <a:latin typeface="Courier New"/>
                          <a:cs typeface="Courier New"/>
                        </a:rPr>
                        <a:t>&gt;</a:t>
                      </a:r>
                      <a:r>
                        <a:rPr sz="1600" spc="-5" dirty="0">
                          <a:latin typeface="Courier New"/>
                          <a:cs typeface="Courier New"/>
                        </a:rPr>
                        <a:t>valor).length;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35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R="20955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600" dirty="0">
                          <a:solidFill>
                            <a:srgbClr val="295E99"/>
                          </a:solidFill>
                          <a:latin typeface="Courier New"/>
                          <a:cs typeface="Courier New"/>
                        </a:rPr>
                        <a:t>let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13970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valor</a:t>
                      </a:r>
                      <a:r>
                        <a:rPr sz="1600" dirty="0">
                          <a:solidFill>
                            <a:srgbClr val="D97100"/>
                          </a:solidFill>
                          <a:latin typeface="Courier New"/>
                          <a:cs typeface="Courier New"/>
                        </a:rPr>
                        <a:t>:</a:t>
                      </a:r>
                      <a:r>
                        <a:rPr sz="1600" spc="-70" dirty="0">
                          <a:solidFill>
                            <a:srgbClr val="D971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" dirty="0">
                          <a:latin typeface="Courier New"/>
                          <a:cs typeface="Courier New"/>
                        </a:rPr>
                        <a:t>any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13970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600" dirty="0">
                          <a:solidFill>
                            <a:srgbClr val="D97100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sz="1600" spc="-5" dirty="0">
                          <a:solidFill>
                            <a:srgbClr val="5EA702"/>
                          </a:solidFill>
                          <a:latin typeface="Courier New"/>
                          <a:cs typeface="Courier New"/>
                        </a:rPr>
                        <a:t>"Esto es un</a:t>
                      </a:r>
                      <a:r>
                        <a:rPr sz="1600" spc="-30" dirty="0">
                          <a:solidFill>
                            <a:srgbClr val="5EA702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solidFill>
                            <a:srgbClr val="5EA702"/>
                          </a:solidFill>
                          <a:latin typeface="Courier New"/>
                          <a:cs typeface="Courier New"/>
                        </a:rPr>
                        <a:t>string"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;</a:t>
                      </a:r>
                    </a:p>
                  </a:txBody>
                  <a:tcPr marL="0" marR="0" marT="13970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R="20955" algn="ctr">
                        <a:lnSpc>
                          <a:spcPts val="1900"/>
                        </a:lnSpc>
                        <a:spcBef>
                          <a:spcPts val="50"/>
                        </a:spcBef>
                      </a:pPr>
                      <a:r>
                        <a:rPr sz="1600" dirty="0">
                          <a:solidFill>
                            <a:srgbClr val="295E99"/>
                          </a:solidFill>
                          <a:latin typeface="Courier New"/>
                          <a:cs typeface="Courier New"/>
                        </a:rPr>
                        <a:t>let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900"/>
                        </a:lnSpc>
                        <a:spcBef>
                          <a:spcPts val="50"/>
                        </a:spcBef>
                      </a:pPr>
                      <a:r>
                        <a:rPr sz="1600" spc="-5" dirty="0">
                          <a:latin typeface="Courier New"/>
                          <a:cs typeface="Courier New"/>
                        </a:rPr>
                        <a:t>strLength</a:t>
                      </a:r>
                      <a:r>
                        <a:rPr sz="1600" spc="-5" dirty="0">
                          <a:solidFill>
                            <a:srgbClr val="D97100"/>
                          </a:solidFill>
                          <a:latin typeface="Courier New"/>
                          <a:cs typeface="Courier New"/>
                        </a:rPr>
                        <a:t>: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900"/>
                        </a:lnSpc>
                        <a:spcBef>
                          <a:spcPts val="50"/>
                        </a:spcBef>
                      </a:pPr>
                      <a:r>
                        <a:rPr sz="1600" spc="-5" dirty="0">
                          <a:latin typeface="Courier New"/>
                          <a:cs typeface="Courier New"/>
                        </a:rPr>
                        <a:t>number </a:t>
                      </a:r>
                      <a:r>
                        <a:rPr sz="1600" dirty="0">
                          <a:solidFill>
                            <a:srgbClr val="D97100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sz="1600" spc="-5" dirty="0">
                          <a:latin typeface="Courier New"/>
                          <a:cs typeface="Courier New"/>
                        </a:rPr>
                        <a:t>(valor as</a:t>
                      </a:r>
                      <a:r>
                        <a:rPr sz="16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string).length;</a:t>
                      </a:r>
                    </a:p>
                  </a:txBody>
                  <a:tcPr marL="0" marR="0" marT="635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257300" y="6557162"/>
            <a:ext cx="676719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3750" baseline="1111" dirty="0">
                <a:latin typeface="Arial"/>
                <a:cs typeface="Arial"/>
              </a:rPr>
              <a:t>Las dos </a:t>
            </a:r>
            <a:r>
              <a:rPr sz="3750" spc="-7" baseline="1111" dirty="0">
                <a:latin typeface="Arial"/>
                <a:cs typeface="Arial"/>
              </a:rPr>
              <a:t>formas </a:t>
            </a:r>
            <a:r>
              <a:rPr sz="3750" baseline="1111" dirty="0">
                <a:latin typeface="Arial"/>
                <a:cs typeface="Arial"/>
              </a:rPr>
              <a:t>de proceder son</a:t>
            </a:r>
            <a:r>
              <a:rPr sz="3750" spc="-44" baseline="1111" dirty="0">
                <a:latin typeface="Arial"/>
                <a:cs typeface="Arial"/>
              </a:rPr>
              <a:t> </a:t>
            </a:r>
            <a:r>
              <a:rPr sz="3750" spc="-7" baseline="1111" dirty="0">
                <a:latin typeface="Arial"/>
                <a:cs typeface="Arial"/>
              </a:rPr>
              <a:t>equivalentes.</a:t>
            </a:r>
            <a:endParaRPr sz="3750" baseline="1111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19500" y="1104900"/>
            <a:ext cx="57550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TypeScript </a:t>
            </a:r>
            <a:r>
              <a:rPr dirty="0"/>
              <a:t>-</a:t>
            </a:r>
            <a:r>
              <a:rPr spc="-65" dirty="0"/>
              <a:t> </a:t>
            </a:r>
            <a:r>
              <a:rPr dirty="0"/>
              <a:t>Funciones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300" y="2413000"/>
            <a:ext cx="9979025" cy="33528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41300" marR="39370" indent="-228600" algn="just">
              <a:lnSpc>
                <a:spcPts val="2900"/>
              </a:lnSpc>
              <a:spcBef>
                <a:spcPts val="280"/>
              </a:spcBef>
              <a:buChar char="•"/>
              <a:tabLst>
                <a:tab pos="241300" algn="l"/>
              </a:tabLst>
            </a:pPr>
            <a:r>
              <a:rPr sz="2500" dirty="0">
                <a:latin typeface="Arial"/>
                <a:cs typeface="Arial"/>
              </a:rPr>
              <a:t>En el ejemplo </a:t>
            </a:r>
            <a:r>
              <a:rPr sz="2500" spc="-5" dirty="0">
                <a:latin typeface="Arial"/>
                <a:cs typeface="Arial"/>
              </a:rPr>
              <a:t>anterior </a:t>
            </a:r>
            <a:r>
              <a:rPr sz="2500" dirty="0">
                <a:latin typeface="Arial"/>
                <a:cs typeface="Arial"/>
              </a:rPr>
              <a:t>hemos </a:t>
            </a:r>
            <a:r>
              <a:rPr sz="2500" spc="-5" dirty="0">
                <a:latin typeface="Arial"/>
                <a:cs typeface="Arial"/>
              </a:rPr>
              <a:t>visto </a:t>
            </a:r>
            <a:r>
              <a:rPr sz="2500" dirty="0">
                <a:latin typeface="Arial"/>
                <a:cs typeface="Arial"/>
              </a:rPr>
              <a:t>la </a:t>
            </a:r>
            <a:r>
              <a:rPr sz="2500" spc="-5" dirty="0">
                <a:latin typeface="Arial"/>
                <a:cs typeface="Arial"/>
              </a:rPr>
              <a:t>implementación </a:t>
            </a:r>
            <a:r>
              <a:rPr sz="2500" dirty="0">
                <a:latin typeface="Arial"/>
                <a:cs typeface="Arial"/>
              </a:rPr>
              <a:t>de una </a:t>
            </a:r>
            <a:r>
              <a:rPr sz="2500" spc="-5" dirty="0">
                <a:latin typeface="Arial"/>
                <a:cs typeface="Arial"/>
              </a:rPr>
              <a:t>función  </a:t>
            </a:r>
            <a:r>
              <a:rPr sz="2500" dirty="0">
                <a:latin typeface="Arial"/>
                <a:cs typeface="Arial"/>
              </a:rPr>
              <a:t>sencilla.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2900"/>
              </a:lnSpc>
              <a:buChar char="•"/>
              <a:tabLst>
                <a:tab pos="241300" algn="l"/>
              </a:tabLst>
            </a:pPr>
            <a:r>
              <a:rPr sz="2500" spc="-5" dirty="0">
                <a:latin typeface="Arial"/>
                <a:cs typeface="Arial"/>
              </a:rPr>
              <a:t>Observamos </a:t>
            </a:r>
            <a:r>
              <a:rPr sz="2500" dirty="0">
                <a:latin typeface="Arial"/>
                <a:cs typeface="Arial"/>
              </a:rPr>
              <a:t>como, a la hora de declarar la </a:t>
            </a:r>
            <a:r>
              <a:rPr sz="2500" spc="-5" dirty="0">
                <a:latin typeface="Arial"/>
                <a:cs typeface="Arial"/>
              </a:rPr>
              <a:t>función, especificamos </a:t>
            </a:r>
            <a:r>
              <a:rPr sz="2500" dirty="0">
                <a:latin typeface="Arial"/>
                <a:cs typeface="Arial"/>
              </a:rPr>
              <a:t>el  </a:t>
            </a:r>
            <a:r>
              <a:rPr sz="2500" spc="-5" dirty="0">
                <a:latin typeface="Arial"/>
                <a:cs typeface="Arial"/>
              </a:rPr>
              <a:t>tipo </a:t>
            </a:r>
            <a:r>
              <a:rPr sz="2500" dirty="0">
                <a:latin typeface="Arial"/>
                <a:cs typeface="Arial"/>
              </a:rPr>
              <a:t>del </a:t>
            </a:r>
            <a:r>
              <a:rPr sz="2500" spc="-5" dirty="0">
                <a:latin typeface="Arial"/>
                <a:cs typeface="Arial"/>
              </a:rPr>
              <a:t>parámetro </a:t>
            </a:r>
            <a:r>
              <a:rPr sz="2500" dirty="0">
                <a:latin typeface="Arial"/>
                <a:cs typeface="Arial"/>
              </a:rPr>
              <a:t>con el que vamos a </a:t>
            </a:r>
            <a:r>
              <a:rPr sz="2500" spc="-5" dirty="0">
                <a:latin typeface="Arial"/>
                <a:cs typeface="Arial"/>
              </a:rPr>
              <a:t>trabajar </a:t>
            </a:r>
            <a:r>
              <a:rPr sz="2500" spc="-95" dirty="0">
                <a:latin typeface="Arial"/>
                <a:cs typeface="Arial"/>
              </a:rPr>
              <a:t>y, </a:t>
            </a:r>
            <a:r>
              <a:rPr sz="2500" dirty="0">
                <a:latin typeface="Arial"/>
                <a:cs typeface="Arial"/>
              </a:rPr>
              <a:t>de igual manera, el  </a:t>
            </a:r>
            <a:r>
              <a:rPr sz="2500" spc="-5" dirty="0">
                <a:latin typeface="Arial"/>
                <a:cs typeface="Arial"/>
              </a:rPr>
              <a:t>tipo </a:t>
            </a:r>
            <a:r>
              <a:rPr sz="2500" dirty="0">
                <a:latin typeface="Arial"/>
                <a:cs typeface="Arial"/>
              </a:rPr>
              <a:t>del valor </a:t>
            </a:r>
            <a:r>
              <a:rPr sz="2500" spc="-5" dirty="0">
                <a:latin typeface="Arial"/>
                <a:cs typeface="Arial"/>
              </a:rPr>
              <a:t>devuelto </a:t>
            </a:r>
            <a:r>
              <a:rPr sz="2500" dirty="0">
                <a:latin typeface="Arial"/>
                <a:cs typeface="Arial"/>
              </a:rPr>
              <a:t>por la</a:t>
            </a:r>
            <a:r>
              <a:rPr sz="2500" spc="-5" dirty="0">
                <a:latin typeface="Arial"/>
                <a:cs typeface="Arial"/>
              </a:rPr>
              <a:t> función.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241300" marR="710565" indent="-228600">
              <a:lnSpc>
                <a:spcPts val="2900"/>
              </a:lnSpc>
              <a:buChar char="•"/>
              <a:tabLst>
                <a:tab pos="241300" algn="l"/>
              </a:tabLst>
            </a:pPr>
            <a:r>
              <a:rPr sz="2500" spc="-5" dirty="0">
                <a:latin typeface="Arial"/>
                <a:cs typeface="Arial"/>
              </a:rPr>
              <a:t>Estos tipos </a:t>
            </a:r>
            <a:r>
              <a:rPr sz="2500" dirty="0">
                <a:latin typeface="Arial"/>
                <a:cs typeface="Arial"/>
              </a:rPr>
              <a:t>serán comprobados por </a:t>
            </a:r>
            <a:r>
              <a:rPr sz="2500" b="1" dirty="0">
                <a:latin typeface="Arial"/>
                <a:cs typeface="Arial"/>
              </a:rPr>
              <a:t>tsc </a:t>
            </a:r>
            <a:r>
              <a:rPr sz="2500" dirty="0">
                <a:latin typeface="Arial"/>
                <a:cs typeface="Arial"/>
              </a:rPr>
              <a:t>cuando se </a:t>
            </a:r>
            <a:r>
              <a:rPr sz="2500" spc="-5" dirty="0">
                <a:latin typeface="Arial"/>
                <a:cs typeface="Arial"/>
              </a:rPr>
              <a:t>ejecute, </a:t>
            </a:r>
            <a:r>
              <a:rPr sz="2500" dirty="0">
                <a:latin typeface="Arial"/>
                <a:cs typeface="Arial"/>
              </a:rPr>
              <a:t>para  comprobar la </a:t>
            </a:r>
            <a:r>
              <a:rPr sz="2500" spc="-5" dirty="0">
                <a:latin typeface="Arial"/>
                <a:cs typeface="Arial"/>
              </a:rPr>
              <a:t>integridad </a:t>
            </a:r>
            <a:r>
              <a:rPr sz="2500" dirty="0">
                <a:latin typeface="Arial"/>
                <a:cs typeface="Arial"/>
              </a:rPr>
              <a:t>de la</a:t>
            </a:r>
            <a:r>
              <a:rPr sz="2500" spc="-5" dirty="0">
                <a:latin typeface="Arial"/>
                <a:cs typeface="Arial"/>
              </a:rPr>
              <a:t> función.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19500" y="1104900"/>
            <a:ext cx="57550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TypeScript </a:t>
            </a:r>
            <a:r>
              <a:rPr dirty="0"/>
              <a:t>-</a:t>
            </a:r>
            <a:r>
              <a:rPr spc="-65" dirty="0"/>
              <a:t> </a:t>
            </a:r>
            <a:r>
              <a:rPr dirty="0"/>
              <a:t>Funciones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300" y="2413000"/>
            <a:ext cx="10438765" cy="22479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41300" marR="375920" indent="-228600">
              <a:lnSpc>
                <a:spcPts val="2900"/>
              </a:lnSpc>
              <a:spcBef>
                <a:spcPts val="280"/>
              </a:spcBef>
              <a:buChar char="•"/>
              <a:tabLst>
                <a:tab pos="241300" algn="l"/>
              </a:tabLst>
            </a:pPr>
            <a:r>
              <a:rPr sz="2500" dirty="0">
                <a:latin typeface="Arial"/>
                <a:cs typeface="Arial"/>
              </a:rPr>
              <a:t>Es muy común en </a:t>
            </a:r>
            <a:r>
              <a:rPr sz="2500" spc="-5" dirty="0">
                <a:latin typeface="Arial"/>
                <a:cs typeface="Arial"/>
              </a:rPr>
              <a:t>Javascript, </a:t>
            </a:r>
            <a:r>
              <a:rPr sz="2500" dirty="0">
                <a:latin typeface="Arial"/>
                <a:cs typeface="Arial"/>
              </a:rPr>
              <a:t>el uso de </a:t>
            </a:r>
            <a:r>
              <a:rPr sz="2500" spc="-5" dirty="0">
                <a:latin typeface="Arial"/>
                <a:cs typeface="Arial"/>
              </a:rPr>
              <a:t>parámetros </a:t>
            </a:r>
            <a:r>
              <a:rPr sz="2500" dirty="0">
                <a:latin typeface="Arial"/>
                <a:cs typeface="Arial"/>
              </a:rPr>
              <a:t>opcionales </a:t>
            </a:r>
            <a:r>
              <a:rPr sz="2500" spc="-5" dirty="0">
                <a:latin typeface="Arial"/>
                <a:cs typeface="Arial"/>
              </a:rPr>
              <a:t>dentro  </a:t>
            </a:r>
            <a:r>
              <a:rPr sz="2500" dirty="0">
                <a:latin typeface="Arial"/>
                <a:cs typeface="Arial"/>
              </a:rPr>
              <a:t>de las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funciones.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2900"/>
              </a:lnSpc>
              <a:buChar char="•"/>
              <a:tabLst>
                <a:tab pos="241300" algn="l"/>
              </a:tabLst>
            </a:pPr>
            <a:r>
              <a:rPr sz="2500" spc="-5" dirty="0">
                <a:latin typeface="Arial"/>
                <a:cs typeface="Arial"/>
              </a:rPr>
              <a:t>Mediante </a:t>
            </a:r>
            <a:r>
              <a:rPr sz="2500" dirty="0">
                <a:latin typeface="Arial"/>
                <a:cs typeface="Arial"/>
              </a:rPr>
              <a:t>el uso de </a:t>
            </a:r>
            <a:r>
              <a:rPr sz="2500" b="1" dirty="0">
                <a:latin typeface="Arial"/>
                <a:cs typeface="Arial"/>
              </a:rPr>
              <a:t>? </a:t>
            </a:r>
            <a:r>
              <a:rPr sz="2500" dirty="0">
                <a:latin typeface="Arial"/>
                <a:cs typeface="Arial"/>
              </a:rPr>
              <a:t>podemos indicar qué </a:t>
            </a:r>
            <a:r>
              <a:rPr sz="2500" spc="-5" dirty="0">
                <a:latin typeface="Arial"/>
                <a:cs typeface="Arial"/>
              </a:rPr>
              <a:t>parámetros </a:t>
            </a:r>
            <a:r>
              <a:rPr sz="2500" dirty="0">
                <a:latin typeface="Arial"/>
                <a:cs typeface="Arial"/>
              </a:rPr>
              <a:t>serán opcionales  en </a:t>
            </a:r>
            <a:r>
              <a:rPr sz="2500" spc="-5" dirty="0">
                <a:latin typeface="Arial"/>
                <a:cs typeface="Arial"/>
              </a:rPr>
              <a:t>nuestras funciones </a:t>
            </a:r>
            <a:r>
              <a:rPr sz="2500" dirty="0">
                <a:latin typeface="Arial"/>
                <a:cs typeface="Arial"/>
              </a:rPr>
              <a:t>y de </a:t>
            </a:r>
            <a:r>
              <a:rPr sz="2500" spc="-5" dirty="0">
                <a:latin typeface="Arial"/>
                <a:cs typeface="Arial"/>
              </a:rPr>
              <a:t>esta </a:t>
            </a:r>
            <a:r>
              <a:rPr sz="2500" dirty="0">
                <a:latin typeface="Arial"/>
                <a:cs typeface="Arial"/>
              </a:rPr>
              <a:t>manera, avisaremos al compilador de  </a:t>
            </a:r>
            <a:r>
              <a:rPr sz="2500" spc="-5" dirty="0">
                <a:latin typeface="Arial"/>
                <a:cs typeface="Arial"/>
              </a:rPr>
              <a:t>este </a:t>
            </a:r>
            <a:r>
              <a:rPr sz="2500" dirty="0">
                <a:latin typeface="Arial"/>
                <a:cs typeface="Arial"/>
              </a:rPr>
              <a:t>hecho.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19400" y="5336540"/>
            <a:ext cx="7219950" cy="2692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6540" marR="5080" indent="-244475">
              <a:lnSpc>
                <a:spcPct val="109400"/>
              </a:lnSpc>
              <a:spcBef>
                <a:spcPts val="100"/>
              </a:spcBef>
            </a:pP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function </a:t>
            </a:r>
            <a:r>
              <a:rPr sz="1600" spc="-5" dirty="0">
                <a:latin typeface="Courier New"/>
                <a:cs typeface="Courier New"/>
              </a:rPr>
              <a:t>mandarMensaje(mensaje</a:t>
            </a:r>
            <a:r>
              <a:rPr sz="1600" spc="-5" dirty="0">
                <a:solidFill>
                  <a:srgbClr val="D97100"/>
                </a:solidFill>
                <a:latin typeface="Courier New"/>
                <a:cs typeface="Courier New"/>
              </a:rPr>
              <a:t>: </a:t>
            </a:r>
            <a:r>
              <a:rPr sz="1600" spc="-5" dirty="0">
                <a:latin typeface="Courier New"/>
                <a:cs typeface="Courier New"/>
              </a:rPr>
              <a:t>string, </a:t>
            </a:r>
            <a:r>
              <a:rPr sz="1600" dirty="0">
                <a:latin typeface="Courier New"/>
                <a:cs typeface="Courier New"/>
              </a:rPr>
              <a:t>esDebug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?: </a:t>
            </a: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boolean</a:t>
            </a:r>
            <a:r>
              <a:rPr sz="1600" dirty="0">
                <a:latin typeface="Courier New"/>
                <a:cs typeface="Courier New"/>
              </a:rPr>
              <a:t>){  </a:t>
            </a: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if</a:t>
            </a:r>
            <a:r>
              <a:rPr sz="1600" spc="-5" dirty="0">
                <a:solidFill>
                  <a:srgbClr val="295E9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(esDebug){</a:t>
            </a:r>
          </a:p>
          <a:p>
            <a:pPr marL="500380">
              <a:lnSpc>
                <a:spcPct val="100000"/>
              </a:lnSpc>
              <a:spcBef>
                <a:spcPts val="180"/>
              </a:spcBef>
            </a:pPr>
            <a:r>
              <a:rPr sz="1600" spc="-5" dirty="0">
                <a:latin typeface="Courier New"/>
                <a:cs typeface="Courier New"/>
              </a:rPr>
              <a:t>console.log (</a:t>
            </a:r>
            <a:r>
              <a:rPr sz="1600" spc="-5" dirty="0">
                <a:solidFill>
                  <a:srgbClr val="5EA702"/>
                </a:solidFill>
                <a:latin typeface="Courier New"/>
                <a:cs typeface="Courier New"/>
              </a:rPr>
              <a:t>"DEBUG: </a:t>
            </a:r>
            <a:r>
              <a:rPr sz="1600" dirty="0">
                <a:solidFill>
                  <a:srgbClr val="5EA702"/>
                </a:solidFill>
                <a:latin typeface="Courier New"/>
                <a:cs typeface="Courier New"/>
              </a:rPr>
              <a:t>" 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+</a:t>
            </a:r>
            <a:r>
              <a:rPr sz="1600" spc="-15" dirty="0">
                <a:solidFill>
                  <a:srgbClr val="D971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mensaje);</a:t>
            </a:r>
          </a:p>
          <a:p>
            <a:pPr marL="256540">
              <a:lnSpc>
                <a:spcPct val="100000"/>
              </a:lnSpc>
              <a:spcBef>
                <a:spcPts val="180"/>
              </a:spcBef>
            </a:pPr>
            <a:r>
              <a:rPr sz="1600" dirty="0">
                <a:latin typeface="Courier New"/>
                <a:cs typeface="Courier New"/>
              </a:rPr>
              <a:t>}</a:t>
            </a: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else</a:t>
            </a:r>
            <a:r>
              <a:rPr sz="1600" dirty="0">
                <a:latin typeface="Courier New"/>
                <a:cs typeface="Courier New"/>
              </a:rPr>
              <a:t>{</a:t>
            </a:r>
          </a:p>
          <a:p>
            <a:pPr marL="500380">
              <a:lnSpc>
                <a:spcPct val="100000"/>
              </a:lnSpc>
              <a:spcBef>
                <a:spcPts val="180"/>
              </a:spcBef>
            </a:pPr>
            <a:r>
              <a:rPr sz="1600" spc="-5" dirty="0">
                <a:latin typeface="Courier New"/>
                <a:cs typeface="Courier New"/>
              </a:rPr>
              <a:t>console.log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(mensaje);</a:t>
            </a:r>
          </a:p>
          <a:p>
            <a:pPr marL="256540">
              <a:lnSpc>
                <a:spcPct val="100000"/>
              </a:lnSpc>
              <a:spcBef>
                <a:spcPts val="180"/>
              </a:spcBef>
            </a:pPr>
            <a:r>
              <a:rPr sz="1600" dirty="0">
                <a:latin typeface="Courier New"/>
                <a:cs typeface="Courier New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600" dirty="0">
                <a:latin typeface="Courier New"/>
                <a:cs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2700" marR="3296920">
              <a:lnSpc>
                <a:spcPct val="109400"/>
              </a:lnSpc>
              <a:spcBef>
                <a:spcPts val="5"/>
              </a:spcBef>
            </a:pPr>
            <a:r>
              <a:rPr sz="1600" spc="-5" dirty="0">
                <a:latin typeface="Courier New"/>
                <a:cs typeface="Courier New"/>
              </a:rPr>
              <a:t>mandarMensaje(</a:t>
            </a:r>
            <a:r>
              <a:rPr sz="1600" spc="-5" dirty="0">
                <a:solidFill>
                  <a:srgbClr val="5EA702"/>
                </a:solidFill>
                <a:latin typeface="Courier New"/>
                <a:cs typeface="Courier New"/>
              </a:rPr>
              <a:t>"Hola </a:t>
            </a:r>
            <a:r>
              <a:rPr sz="1600" dirty="0">
                <a:solidFill>
                  <a:srgbClr val="5EA702"/>
                </a:solidFill>
                <a:latin typeface="Courier New"/>
                <a:cs typeface="Courier New"/>
              </a:rPr>
              <a:t>Mundo"</a:t>
            </a:r>
            <a:r>
              <a:rPr sz="1600" dirty="0">
                <a:latin typeface="Courier New"/>
                <a:cs typeface="Courier New"/>
              </a:rPr>
              <a:t>);  </a:t>
            </a:r>
            <a:r>
              <a:rPr sz="1600" spc="-5" dirty="0">
                <a:latin typeface="Courier New"/>
                <a:cs typeface="Courier New"/>
              </a:rPr>
              <a:t>mandarMensaje(</a:t>
            </a:r>
            <a:r>
              <a:rPr sz="1600" spc="-5" dirty="0">
                <a:solidFill>
                  <a:srgbClr val="5EA702"/>
                </a:solidFill>
                <a:latin typeface="Courier New"/>
                <a:cs typeface="Courier New"/>
              </a:rPr>
              <a:t>"probando"</a:t>
            </a:r>
            <a:r>
              <a:rPr sz="1600" spc="-5" dirty="0">
                <a:latin typeface="Courier New"/>
                <a:cs typeface="Courier New"/>
              </a:rPr>
              <a:t>,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true</a:t>
            </a:r>
            <a:r>
              <a:rPr sz="1600" dirty="0">
                <a:latin typeface="Courier New"/>
                <a:cs typeface="Courier New"/>
              </a:rPr>
              <a:t>);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0300" y="1104900"/>
            <a:ext cx="56718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TypeScript </a:t>
            </a:r>
            <a:r>
              <a:rPr dirty="0"/>
              <a:t>-</a:t>
            </a:r>
            <a:r>
              <a:rPr spc="-45" dirty="0"/>
              <a:t> </a:t>
            </a:r>
            <a:r>
              <a:rPr spc="30" dirty="0"/>
              <a:t>Interfaces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300" y="2895600"/>
            <a:ext cx="10438765" cy="33528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41300" marR="22860" indent="-228600">
              <a:lnSpc>
                <a:spcPts val="2900"/>
              </a:lnSpc>
              <a:spcBef>
                <a:spcPts val="280"/>
              </a:spcBef>
              <a:buChar char="•"/>
              <a:tabLst>
                <a:tab pos="241300" algn="l"/>
              </a:tabLst>
            </a:pPr>
            <a:r>
              <a:rPr sz="2500" dirty="0">
                <a:latin typeface="Arial"/>
                <a:cs typeface="Arial"/>
              </a:rPr>
              <a:t>Las </a:t>
            </a:r>
            <a:r>
              <a:rPr sz="2500" spc="-5" dirty="0">
                <a:latin typeface="Arial"/>
                <a:cs typeface="Arial"/>
              </a:rPr>
              <a:t>interfaces definen </a:t>
            </a:r>
            <a:r>
              <a:rPr sz="2500" dirty="0">
                <a:latin typeface="Arial"/>
                <a:cs typeface="Arial"/>
              </a:rPr>
              <a:t>descripciones </a:t>
            </a:r>
            <a:r>
              <a:rPr sz="2500" spc="-5" dirty="0">
                <a:latin typeface="Arial"/>
                <a:cs typeface="Arial"/>
              </a:rPr>
              <a:t>abstractas </a:t>
            </a:r>
            <a:r>
              <a:rPr sz="2500" dirty="0">
                <a:latin typeface="Arial"/>
                <a:cs typeface="Arial"/>
              </a:rPr>
              <a:t>de </a:t>
            </a:r>
            <a:r>
              <a:rPr sz="2500" spc="-5" dirty="0">
                <a:latin typeface="Arial"/>
                <a:cs typeface="Arial"/>
              </a:rPr>
              <a:t>diferentes elementos  </a:t>
            </a:r>
            <a:r>
              <a:rPr sz="2500" dirty="0">
                <a:latin typeface="Arial"/>
                <a:cs typeface="Arial"/>
              </a:rPr>
              <a:t>y pueden ser usadas para </a:t>
            </a:r>
            <a:r>
              <a:rPr sz="2500" spc="-5" dirty="0">
                <a:latin typeface="Arial"/>
                <a:cs typeface="Arial"/>
              </a:rPr>
              <a:t>representar </a:t>
            </a:r>
            <a:r>
              <a:rPr sz="2500" dirty="0">
                <a:latin typeface="Arial"/>
                <a:cs typeface="Arial"/>
              </a:rPr>
              <a:t>cualquier </a:t>
            </a:r>
            <a:r>
              <a:rPr sz="2500" spc="-5" dirty="0">
                <a:latin typeface="Arial"/>
                <a:cs typeface="Arial"/>
              </a:rPr>
              <a:t>objeto </a:t>
            </a:r>
            <a:r>
              <a:rPr sz="2500" dirty="0">
                <a:latin typeface="Arial"/>
                <a:cs typeface="Arial"/>
              </a:rPr>
              <a:t>no </a:t>
            </a:r>
            <a:r>
              <a:rPr sz="2500" spc="-5" dirty="0">
                <a:latin typeface="Arial"/>
                <a:cs typeface="Arial"/>
              </a:rPr>
              <a:t>primitivo </a:t>
            </a:r>
            <a:r>
              <a:rPr sz="2500" dirty="0">
                <a:latin typeface="Arial"/>
                <a:cs typeface="Arial"/>
              </a:rPr>
              <a:t>de  </a:t>
            </a:r>
            <a:r>
              <a:rPr sz="2500" spc="-5" dirty="0">
                <a:latin typeface="Arial"/>
                <a:cs typeface="Arial"/>
              </a:rPr>
              <a:t>Javascript.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241300" marR="93980" indent="-228600">
              <a:lnSpc>
                <a:spcPts val="2900"/>
              </a:lnSpc>
              <a:buChar char="•"/>
              <a:tabLst>
                <a:tab pos="241300" algn="l"/>
              </a:tabLst>
            </a:pPr>
            <a:r>
              <a:rPr sz="2500" spc="-5" dirty="0">
                <a:latin typeface="Arial"/>
                <a:cs typeface="Arial"/>
              </a:rPr>
              <a:t>Dentro </a:t>
            </a:r>
            <a:r>
              <a:rPr sz="2500" dirty="0">
                <a:latin typeface="Arial"/>
                <a:cs typeface="Arial"/>
              </a:rPr>
              <a:t>de </a:t>
            </a:r>
            <a:r>
              <a:rPr sz="2500" spc="-5" dirty="0">
                <a:latin typeface="Arial"/>
                <a:cs typeface="Arial"/>
              </a:rPr>
              <a:t>estas interfaces definimos </a:t>
            </a:r>
            <a:r>
              <a:rPr sz="2500" dirty="0">
                <a:latin typeface="Arial"/>
                <a:cs typeface="Arial"/>
              </a:rPr>
              <a:t>cómo son las declaraciones de los  </a:t>
            </a:r>
            <a:r>
              <a:rPr sz="2500" spc="-5" dirty="0">
                <a:latin typeface="Arial"/>
                <a:cs typeface="Arial"/>
              </a:rPr>
              <a:t>métodos </a:t>
            </a:r>
            <a:r>
              <a:rPr sz="2500" dirty="0">
                <a:latin typeface="Arial"/>
                <a:cs typeface="Arial"/>
              </a:rPr>
              <a:t>que </a:t>
            </a:r>
            <a:r>
              <a:rPr sz="2500" spc="-5" dirty="0">
                <a:latin typeface="Arial"/>
                <a:cs typeface="Arial"/>
              </a:rPr>
              <a:t>forman parte </a:t>
            </a:r>
            <a:r>
              <a:rPr sz="2500" dirty="0">
                <a:latin typeface="Arial"/>
                <a:cs typeface="Arial"/>
              </a:rPr>
              <a:t>de la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misma.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2900"/>
              </a:lnSpc>
              <a:buChar char="•"/>
              <a:tabLst>
                <a:tab pos="241300" algn="l"/>
              </a:tabLst>
            </a:pPr>
            <a:r>
              <a:rPr sz="2500" dirty="0">
                <a:latin typeface="Arial"/>
                <a:cs typeface="Arial"/>
              </a:rPr>
              <a:t>Los </a:t>
            </a:r>
            <a:r>
              <a:rPr sz="2500" spc="-5" dirty="0">
                <a:latin typeface="Arial"/>
                <a:cs typeface="Arial"/>
              </a:rPr>
              <a:t>elementos </a:t>
            </a:r>
            <a:r>
              <a:rPr sz="2500" dirty="0">
                <a:latin typeface="Arial"/>
                <a:cs typeface="Arial"/>
              </a:rPr>
              <a:t>que </a:t>
            </a:r>
            <a:r>
              <a:rPr sz="2500" spc="-5" dirty="0">
                <a:latin typeface="Arial"/>
                <a:cs typeface="Arial"/>
              </a:rPr>
              <a:t>implementan </a:t>
            </a:r>
            <a:r>
              <a:rPr sz="2500" dirty="0">
                <a:latin typeface="Arial"/>
                <a:cs typeface="Arial"/>
              </a:rPr>
              <a:t>dichas </a:t>
            </a:r>
            <a:r>
              <a:rPr sz="2500" spc="-5" dirty="0">
                <a:latin typeface="Arial"/>
                <a:cs typeface="Arial"/>
              </a:rPr>
              <a:t>interfaces </a:t>
            </a:r>
            <a:r>
              <a:rPr sz="2500" dirty="0">
                <a:latin typeface="Arial"/>
                <a:cs typeface="Arial"/>
              </a:rPr>
              <a:t>serán los encargados  de </a:t>
            </a:r>
            <a:r>
              <a:rPr sz="2500" spc="-5" dirty="0">
                <a:latin typeface="Arial"/>
                <a:cs typeface="Arial"/>
              </a:rPr>
              <a:t>implementar </a:t>
            </a:r>
            <a:r>
              <a:rPr sz="2500" dirty="0">
                <a:latin typeface="Arial"/>
                <a:cs typeface="Arial"/>
              </a:rPr>
              <a:t>dichas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funciones.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0300" y="1104900"/>
            <a:ext cx="56718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TypeScript </a:t>
            </a:r>
            <a:r>
              <a:rPr dirty="0"/>
              <a:t>-</a:t>
            </a:r>
            <a:r>
              <a:rPr spc="-45" dirty="0"/>
              <a:t> </a:t>
            </a:r>
            <a:r>
              <a:rPr spc="30" dirty="0"/>
              <a:t>Interfaces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300" y="2705100"/>
            <a:ext cx="929259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2500" spc="-30" dirty="0">
                <a:latin typeface="Arial"/>
                <a:cs typeface="Arial"/>
              </a:rPr>
              <a:t>Vemos </a:t>
            </a:r>
            <a:r>
              <a:rPr sz="2500" dirty="0">
                <a:latin typeface="Arial"/>
                <a:cs typeface="Arial"/>
              </a:rPr>
              <a:t>un ejemplo de una </a:t>
            </a:r>
            <a:r>
              <a:rPr sz="2500" spc="-5" dirty="0">
                <a:latin typeface="Arial"/>
                <a:cs typeface="Arial"/>
              </a:rPr>
              <a:t>interfaz </a:t>
            </a:r>
            <a:r>
              <a:rPr sz="2500" dirty="0">
                <a:latin typeface="Arial"/>
                <a:cs typeface="Arial"/>
              </a:rPr>
              <a:t>que </a:t>
            </a:r>
            <a:r>
              <a:rPr sz="2500" spc="-5" dirty="0">
                <a:latin typeface="Arial"/>
                <a:cs typeface="Arial"/>
              </a:rPr>
              <a:t>define </a:t>
            </a:r>
            <a:r>
              <a:rPr sz="2500" dirty="0">
                <a:latin typeface="Arial"/>
                <a:cs typeface="Arial"/>
              </a:rPr>
              <a:t>una única</a:t>
            </a:r>
            <a:r>
              <a:rPr sz="2500" spc="3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función.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30810">
              <a:lnSpc>
                <a:spcPct val="100000"/>
              </a:lnSpc>
              <a:spcBef>
                <a:spcPts val="280"/>
              </a:spcBef>
            </a:pPr>
            <a:r>
              <a:rPr dirty="0">
                <a:solidFill>
                  <a:srgbClr val="295E99"/>
                </a:solidFill>
              </a:rPr>
              <a:t>interface </a:t>
            </a:r>
            <a:r>
              <a:rPr spc="-5" dirty="0"/>
              <a:t>Callback</a:t>
            </a:r>
            <a:r>
              <a:rPr spc="-10" dirty="0"/>
              <a:t> </a:t>
            </a:r>
            <a:r>
              <a:rPr dirty="0"/>
              <a:t>{</a:t>
            </a:r>
          </a:p>
          <a:p>
            <a:pPr marL="374650">
              <a:lnSpc>
                <a:spcPct val="100000"/>
              </a:lnSpc>
              <a:spcBef>
                <a:spcPts val="180"/>
              </a:spcBef>
            </a:pPr>
            <a:r>
              <a:rPr dirty="0"/>
              <a:t>(error</a:t>
            </a:r>
            <a:r>
              <a:rPr dirty="0">
                <a:solidFill>
                  <a:srgbClr val="D97100"/>
                </a:solidFill>
              </a:rPr>
              <a:t>: </a:t>
            </a:r>
            <a:r>
              <a:rPr spc="-5" dirty="0">
                <a:solidFill>
                  <a:srgbClr val="295E99"/>
                </a:solidFill>
              </a:rPr>
              <a:t>Error</a:t>
            </a:r>
            <a:r>
              <a:rPr spc="-5" dirty="0"/>
              <a:t>, </a:t>
            </a:r>
            <a:r>
              <a:rPr dirty="0"/>
              <a:t>data</a:t>
            </a:r>
            <a:r>
              <a:rPr dirty="0">
                <a:solidFill>
                  <a:srgbClr val="D97100"/>
                </a:solidFill>
              </a:rPr>
              <a:t>: </a:t>
            </a:r>
            <a:r>
              <a:rPr dirty="0"/>
              <a:t>any)</a:t>
            </a:r>
            <a:r>
              <a:rPr dirty="0">
                <a:solidFill>
                  <a:srgbClr val="D97100"/>
                </a:solidFill>
              </a:rPr>
              <a:t>:</a:t>
            </a:r>
            <a:r>
              <a:rPr spc="-15" dirty="0">
                <a:solidFill>
                  <a:srgbClr val="D97100"/>
                </a:solidFill>
              </a:rPr>
              <a:t> </a:t>
            </a:r>
            <a:r>
              <a:rPr dirty="0">
                <a:solidFill>
                  <a:srgbClr val="295E99"/>
                </a:solidFill>
              </a:rPr>
              <a:t>void</a:t>
            </a:r>
            <a:r>
              <a:rPr dirty="0"/>
              <a:t>;</a:t>
            </a:r>
          </a:p>
          <a:p>
            <a:pPr marL="130810">
              <a:lnSpc>
                <a:spcPct val="100000"/>
              </a:lnSpc>
              <a:spcBef>
                <a:spcPts val="180"/>
              </a:spcBef>
            </a:pPr>
            <a:r>
              <a:rPr dirty="0"/>
              <a:t>}</a:t>
            </a:r>
          </a:p>
          <a:p>
            <a:pPr marL="118110">
              <a:lnSpc>
                <a:spcPct val="100000"/>
              </a:lnSpc>
              <a:spcBef>
                <a:spcPts val="25"/>
              </a:spcBef>
            </a:pPr>
            <a:endParaRPr sz="1800">
              <a:latin typeface="Times New Roman"/>
              <a:cs typeface="Times New Roman"/>
            </a:endParaRPr>
          </a:p>
          <a:p>
            <a:pPr marL="374650" marR="1955800" indent="-244475">
              <a:lnSpc>
                <a:spcPct val="109400"/>
              </a:lnSpc>
              <a:spcBef>
                <a:spcPts val="5"/>
              </a:spcBef>
            </a:pPr>
            <a:r>
              <a:rPr dirty="0">
                <a:solidFill>
                  <a:srgbClr val="295E99"/>
                </a:solidFill>
              </a:rPr>
              <a:t>function </a:t>
            </a:r>
            <a:r>
              <a:rPr dirty="0"/>
              <a:t>callServer(callback</a:t>
            </a:r>
            <a:r>
              <a:rPr dirty="0">
                <a:solidFill>
                  <a:srgbClr val="D97100"/>
                </a:solidFill>
              </a:rPr>
              <a:t>: </a:t>
            </a:r>
            <a:r>
              <a:rPr spc="-5" dirty="0"/>
              <a:t>Callback)</a:t>
            </a:r>
            <a:r>
              <a:rPr spc="-100" dirty="0"/>
              <a:t> </a:t>
            </a:r>
            <a:r>
              <a:rPr dirty="0"/>
              <a:t>{  </a:t>
            </a:r>
            <a:r>
              <a:rPr spc="-5" dirty="0"/>
              <a:t>callback(</a:t>
            </a:r>
            <a:r>
              <a:rPr spc="-5" dirty="0">
                <a:solidFill>
                  <a:srgbClr val="295E99"/>
                </a:solidFill>
              </a:rPr>
              <a:t>null</a:t>
            </a:r>
            <a:r>
              <a:rPr spc="-5" dirty="0"/>
              <a:t>,</a:t>
            </a:r>
            <a:r>
              <a:rPr dirty="0"/>
              <a:t> </a:t>
            </a:r>
            <a:r>
              <a:rPr spc="-5" dirty="0">
                <a:solidFill>
                  <a:srgbClr val="5EA702"/>
                </a:solidFill>
              </a:rPr>
              <a:t>'hola'</a:t>
            </a:r>
            <a:r>
              <a:rPr spc="-5" dirty="0"/>
              <a:t>);</a:t>
            </a:r>
          </a:p>
          <a:p>
            <a:pPr marL="130810">
              <a:lnSpc>
                <a:spcPct val="100000"/>
              </a:lnSpc>
              <a:spcBef>
                <a:spcPts val="180"/>
              </a:spcBef>
            </a:pPr>
            <a:r>
              <a:rPr dirty="0"/>
              <a:t>}</a:t>
            </a:r>
          </a:p>
          <a:p>
            <a:pPr marL="118110">
              <a:lnSpc>
                <a:spcPct val="100000"/>
              </a:lnSpc>
              <a:spcBef>
                <a:spcPts val="25"/>
              </a:spcBef>
            </a:pPr>
            <a:endParaRPr sz="1800">
              <a:latin typeface="Times New Roman"/>
              <a:cs typeface="Times New Roman"/>
            </a:endParaRPr>
          </a:p>
          <a:p>
            <a:pPr marL="130810" marR="5080">
              <a:lnSpc>
                <a:spcPct val="109400"/>
              </a:lnSpc>
              <a:spcBef>
                <a:spcPts val="5"/>
              </a:spcBef>
            </a:pPr>
            <a:r>
              <a:rPr spc="-5" dirty="0"/>
              <a:t>callServer((error, data) </a:t>
            </a:r>
            <a:r>
              <a:rPr dirty="0">
                <a:solidFill>
                  <a:srgbClr val="D97100"/>
                </a:solidFill>
              </a:rPr>
              <a:t>=&gt; </a:t>
            </a:r>
            <a:r>
              <a:rPr spc="-5" dirty="0"/>
              <a:t>console.log(data)); </a:t>
            </a:r>
            <a:r>
              <a:rPr spc="-5" dirty="0">
                <a:solidFill>
                  <a:srgbClr val="A16C00"/>
                </a:solidFill>
              </a:rPr>
              <a:t>// </a:t>
            </a:r>
            <a:r>
              <a:rPr dirty="0">
                <a:solidFill>
                  <a:srgbClr val="A16C00"/>
                </a:solidFill>
              </a:rPr>
              <a:t>'hola'  </a:t>
            </a:r>
            <a:r>
              <a:rPr spc="-5" dirty="0"/>
              <a:t>callServer(</a:t>
            </a:r>
            <a:r>
              <a:rPr spc="-5" dirty="0">
                <a:solidFill>
                  <a:srgbClr val="5EA702"/>
                </a:solidFill>
              </a:rPr>
              <a:t>'hi'</a:t>
            </a:r>
            <a:r>
              <a:rPr spc="-5" dirty="0"/>
              <a:t>); </a:t>
            </a:r>
            <a:r>
              <a:rPr spc="-5" dirty="0">
                <a:solidFill>
                  <a:srgbClr val="A16C00"/>
                </a:solidFill>
              </a:rPr>
              <a:t>// Error de </a:t>
            </a:r>
            <a:r>
              <a:rPr dirty="0">
                <a:solidFill>
                  <a:srgbClr val="A16C00"/>
                </a:solidFill>
              </a:rPr>
              <a:t>compilación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0300" y="1104900"/>
            <a:ext cx="56718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TypeScript </a:t>
            </a:r>
            <a:r>
              <a:rPr dirty="0"/>
              <a:t>-</a:t>
            </a:r>
            <a:r>
              <a:rPr spc="-45" dirty="0"/>
              <a:t> </a:t>
            </a:r>
            <a:r>
              <a:rPr spc="30" dirty="0"/>
              <a:t>Interfaces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300" y="2336800"/>
            <a:ext cx="10262235" cy="11430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41300" marR="5080" indent="-228600">
              <a:lnSpc>
                <a:spcPts val="2900"/>
              </a:lnSpc>
              <a:spcBef>
                <a:spcPts val="280"/>
              </a:spcBef>
              <a:buChar char="•"/>
              <a:tabLst>
                <a:tab pos="241300" algn="l"/>
              </a:tabLst>
            </a:pPr>
            <a:r>
              <a:rPr sz="2500" spc="-5" dirty="0">
                <a:latin typeface="Arial"/>
                <a:cs typeface="Arial"/>
              </a:rPr>
              <a:t>Este </a:t>
            </a:r>
            <a:r>
              <a:rPr sz="2500" dirty="0">
                <a:latin typeface="Arial"/>
                <a:cs typeface="Arial"/>
              </a:rPr>
              <a:t>ejemplo </a:t>
            </a:r>
            <a:r>
              <a:rPr sz="2500" spc="-5" dirty="0">
                <a:latin typeface="Arial"/>
                <a:cs typeface="Arial"/>
              </a:rPr>
              <a:t>también </a:t>
            </a:r>
            <a:r>
              <a:rPr sz="2500" dirty="0">
                <a:latin typeface="Arial"/>
                <a:cs typeface="Arial"/>
              </a:rPr>
              <a:t>podemos usarlo para </a:t>
            </a:r>
            <a:r>
              <a:rPr sz="2500" spc="-5" dirty="0">
                <a:latin typeface="Arial"/>
                <a:cs typeface="Arial"/>
              </a:rPr>
              <a:t>trabajar </a:t>
            </a:r>
            <a:r>
              <a:rPr sz="2500" dirty="0">
                <a:latin typeface="Arial"/>
                <a:cs typeface="Arial"/>
              </a:rPr>
              <a:t>con sobrecarga de  </a:t>
            </a:r>
            <a:r>
              <a:rPr sz="2500" spc="-5" dirty="0">
                <a:latin typeface="Arial"/>
                <a:cs typeface="Arial"/>
              </a:rPr>
              <a:t>funciones, definiendo dentro </a:t>
            </a:r>
            <a:r>
              <a:rPr sz="2500" dirty="0">
                <a:latin typeface="Arial"/>
                <a:cs typeface="Arial"/>
              </a:rPr>
              <a:t>de la </a:t>
            </a:r>
            <a:r>
              <a:rPr sz="2500" spc="-5" dirty="0">
                <a:latin typeface="Arial"/>
                <a:cs typeface="Arial"/>
              </a:rPr>
              <a:t>interfaz </a:t>
            </a:r>
            <a:r>
              <a:rPr sz="2500" dirty="0">
                <a:latin typeface="Arial"/>
                <a:cs typeface="Arial"/>
              </a:rPr>
              <a:t>las </a:t>
            </a:r>
            <a:r>
              <a:rPr sz="2500" spc="-5" dirty="0">
                <a:latin typeface="Arial"/>
                <a:cs typeface="Arial"/>
              </a:rPr>
              <a:t>diferentes </a:t>
            </a:r>
            <a:r>
              <a:rPr sz="2500" dirty="0">
                <a:latin typeface="Arial"/>
                <a:cs typeface="Arial"/>
              </a:rPr>
              <a:t>posibilidades  que</a:t>
            </a:r>
            <a:r>
              <a:rPr sz="2500" spc="-5" dirty="0">
                <a:latin typeface="Arial"/>
                <a:cs typeface="Arial"/>
              </a:rPr>
              <a:t> tenemos: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33800" y="3914140"/>
            <a:ext cx="5391150" cy="40842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6540" marR="1955800" indent="-244475">
              <a:lnSpc>
                <a:spcPct val="109400"/>
              </a:lnSpc>
              <a:spcBef>
                <a:spcPts val="100"/>
              </a:spcBef>
            </a:pP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interface </a:t>
            </a:r>
            <a:r>
              <a:rPr sz="1600" dirty="0">
                <a:latin typeface="Courier New"/>
                <a:cs typeface="Courier New"/>
              </a:rPr>
              <a:t>MostrarMensaje{  </a:t>
            </a:r>
            <a:endParaRPr lang="es-ES_tradnl" sz="1600" dirty="0">
              <a:latin typeface="Courier New"/>
              <a:cs typeface="Courier New"/>
            </a:endParaRPr>
          </a:p>
          <a:p>
            <a:pPr marL="256540" marR="1955800" indent="-244475">
              <a:lnSpc>
                <a:spcPct val="109400"/>
              </a:lnSpc>
              <a:spcBef>
                <a:spcPts val="100"/>
              </a:spcBef>
            </a:pPr>
            <a:r>
              <a:rPr lang="es-ES_tradnl" sz="1600" dirty="0">
                <a:latin typeface="Courier New"/>
                <a:cs typeface="Courier New"/>
              </a:rPr>
              <a:t>	</a:t>
            </a:r>
            <a:r>
              <a:rPr sz="1600" dirty="0">
                <a:latin typeface="Courier New"/>
                <a:cs typeface="Courier New"/>
              </a:rPr>
              <a:t>(mensaje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: </a:t>
            </a:r>
            <a:r>
              <a:rPr sz="1600" dirty="0">
                <a:latin typeface="Courier New"/>
                <a:cs typeface="Courier New"/>
              </a:rPr>
              <a:t>string)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: </a:t>
            </a: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void</a:t>
            </a:r>
            <a:r>
              <a:rPr sz="1600" dirty="0">
                <a:latin typeface="Courier New"/>
                <a:cs typeface="Courier New"/>
              </a:rPr>
              <a:t>;  (mensaje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: </a:t>
            </a:r>
            <a:r>
              <a:rPr sz="1600" dirty="0">
                <a:latin typeface="Courier New"/>
                <a:cs typeface="Courier New"/>
              </a:rPr>
              <a:t>string[])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:</a:t>
            </a:r>
            <a:r>
              <a:rPr sz="1600" spc="-100" dirty="0">
                <a:solidFill>
                  <a:srgbClr val="D971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void</a:t>
            </a:r>
            <a:r>
              <a:rPr sz="1600" dirty="0">
                <a:latin typeface="Courier New"/>
                <a:cs typeface="Courier New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600" dirty="0">
                <a:latin typeface="Courier New"/>
                <a:cs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256540" marR="5080" indent="-244475">
              <a:lnSpc>
                <a:spcPct val="109400"/>
              </a:lnSpc>
              <a:spcBef>
                <a:spcPts val="5"/>
              </a:spcBef>
            </a:pP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let </a:t>
            </a:r>
            <a:r>
              <a:rPr sz="1600" dirty="0">
                <a:latin typeface="Courier New"/>
                <a:cs typeface="Courier New"/>
              </a:rPr>
              <a:t>mostrar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: </a:t>
            </a:r>
            <a:r>
              <a:rPr sz="1600" spc="-5" dirty="0">
                <a:latin typeface="Courier New"/>
                <a:cs typeface="Courier New"/>
              </a:rPr>
              <a:t>MostrarMensaje 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= </a:t>
            </a:r>
            <a:r>
              <a:rPr sz="1600" spc="-5" dirty="0">
                <a:latin typeface="Courier New"/>
                <a:cs typeface="Courier New"/>
              </a:rPr>
              <a:t>(mensaje) 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=&gt; </a:t>
            </a:r>
            <a:r>
              <a:rPr sz="1600" dirty="0">
                <a:latin typeface="Courier New"/>
                <a:cs typeface="Courier New"/>
              </a:rPr>
              <a:t>{  </a:t>
            </a: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if</a:t>
            </a:r>
            <a:r>
              <a:rPr sz="1600" spc="-10" dirty="0">
                <a:solidFill>
                  <a:srgbClr val="295E9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(</a:t>
            </a: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Array</a:t>
            </a:r>
            <a:r>
              <a:rPr sz="1600" dirty="0">
                <a:latin typeface="Courier New"/>
                <a:cs typeface="Courier New"/>
              </a:rPr>
              <a:t>.isArray(mensaje)){</a:t>
            </a:r>
          </a:p>
          <a:p>
            <a:pPr marL="500380">
              <a:lnSpc>
                <a:spcPct val="100000"/>
              </a:lnSpc>
              <a:spcBef>
                <a:spcPts val="180"/>
              </a:spcBef>
            </a:pPr>
            <a:r>
              <a:rPr sz="1600" spc="-5" dirty="0">
                <a:latin typeface="Courier New"/>
                <a:cs typeface="Courier New"/>
              </a:rPr>
              <a:t>console.log </a:t>
            </a:r>
            <a:r>
              <a:rPr sz="1600" dirty="0">
                <a:latin typeface="Courier New"/>
                <a:cs typeface="Courier New"/>
              </a:rPr>
              <a:t>(mensaje.join(</a:t>
            </a:r>
            <a:r>
              <a:rPr sz="1600" dirty="0">
                <a:solidFill>
                  <a:srgbClr val="5EA702"/>
                </a:solidFill>
                <a:latin typeface="Courier New"/>
                <a:cs typeface="Courier New"/>
              </a:rPr>
              <a:t>'</a:t>
            </a:r>
            <a:r>
              <a:rPr sz="1600" spc="-25" dirty="0">
                <a:solidFill>
                  <a:srgbClr val="5EA702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5EA702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latin typeface="Courier New"/>
                <a:cs typeface="Courier New"/>
              </a:rPr>
              <a:t>));</a:t>
            </a:r>
          </a:p>
          <a:p>
            <a:pPr marL="256540">
              <a:lnSpc>
                <a:spcPct val="100000"/>
              </a:lnSpc>
              <a:spcBef>
                <a:spcPts val="180"/>
              </a:spcBef>
            </a:pPr>
            <a:r>
              <a:rPr sz="1600" dirty="0">
                <a:latin typeface="Courier New"/>
                <a:cs typeface="Courier New"/>
              </a:rPr>
              <a:t>}</a:t>
            </a: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else</a:t>
            </a:r>
            <a:r>
              <a:rPr sz="1600" dirty="0">
                <a:latin typeface="Courier New"/>
                <a:cs typeface="Courier New"/>
              </a:rPr>
              <a:t>{</a:t>
            </a:r>
          </a:p>
          <a:p>
            <a:pPr marL="500380">
              <a:lnSpc>
                <a:spcPct val="100000"/>
              </a:lnSpc>
              <a:spcBef>
                <a:spcPts val="180"/>
              </a:spcBef>
            </a:pPr>
            <a:r>
              <a:rPr sz="1600" spc="-5" dirty="0">
                <a:latin typeface="Courier New"/>
                <a:cs typeface="Courier New"/>
              </a:rPr>
              <a:t>console.log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(mensaje);</a:t>
            </a:r>
          </a:p>
          <a:p>
            <a:pPr marL="256540">
              <a:lnSpc>
                <a:spcPct val="100000"/>
              </a:lnSpc>
              <a:spcBef>
                <a:spcPts val="180"/>
              </a:spcBef>
            </a:pPr>
            <a:r>
              <a:rPr sz="1600" dirty="0">
                <a:latin typeface="Courier New"/>
                <a:cs typeface="Courier New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600" dirty="0">
                <a:latin typeface="Courier New"/>
                <a:cs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2700" marR="2565400">
              <a:lnSpc>
                <a:spcPct val="109400"/>
              </a:lnSpc>
            </a:pPr>
            <a:r>
              <a:rPr sz="1600" spc="-5" dirty="0">
                <a:latin typeface="Courier New"/>
                <a:cs typeface="Courier New"/>
              </a:rPr>
              <a:t>mostrar(</a:t>
            </a:r>
            <a:r>
              <a:rPr sz="1600" spc="-5" dirty="0">
                <a:solidFill>
                  <a:srgbClr val="5EA702"/>
                </a:solidFill>
                <a:latin typeface="Courier New"/>
                <a:cs typeface="Courier New"/>
              </a:rPr>
              <a:t>"Hola </a:t>
            </a:r>
            <a:r>
              <a:rPr sz="1600" dirty="0">
                <a:solidFill>
                  <a:srgbClr val="5EA702"/>
                </a:solidFill>
                <a:latin typeface="Courier New"/>
                <a:cs typeface="Courier New"/>
              </a:rPr>
              <a:t>Mundo"</a:t>
            </a:r>
            <a:r>
              <a:rPr sz="1600" dirty="0">
                <a:latin typeface="Courier New"/>
                <a:cs typeface="Courier New"/>
              </a:rPr>
              <a:t>);  </a:t>
            </a:r>
            <a:r>
              <a:rPr sz="1600" spc="-5" dirty="0">
                <a:latin typeface="Courier New"/>
                <a:cs typeface="Courier New"/>
              </a:rPr>
              <a:t>mostrar([</a:t>
            </a:r>
            <a:r>
              <a:rPr sz="1600" spc="-5" dirty="0">
                <a:solidFill>
                  <a:srgbClr val="5EA702"/>
                </a:solidFill>
                <a:latin typeface="Courier New"/>
                <a:cs typeface="Courier New"/>
              </a:rPr>
              <a:t>"3"</a:t>
            </a:r>
            <a:r>
              <a:rPr sz="1600" spc="-5" dirty="0">
                <a:latin typeface="Courier New"/>
                <a:cs typeface="Courier New"/>
              </a:rPr>
              <a:t>,</a:t>
            </a:r>
            <a:r>
              <a:rPr sz="1600" spc="-5" dirty="0">
                <a:solidFill>
                  <a:srgbClr val="5EA702"/>
                </a:solidFill>
                <a:latin typeface="Courier New"/>
                <a:cs typeface="Courier New"/>
              </a:rPr>
              <a:t>"5"</a:t>
            </a:r>
            <a:r>
              <a:rPr sz="1600" spc="-5" dirty="0">
                <a:latin typeface="Courier New"/>
                <a:cs typeface="Courier New"/>
              </a:rPr>
              <a:t>,</a:t>
            </a:r>
            <a:r>
              <a:rPr sz="1600" spc="-5" dirty="0">
                <a:solidFill>
                  <a:srgbClr val="5EA702"/>
                </a:solidFill>
                <a:latin typeface="Courier New"/>
                <a:cs typeface="Courier New"/>
              </a:rPr>
              <a:t>"6"</a:t>
            </a:r>
            <a:r>
              <a:rPr sz="1600" spc="-5" dirty="0">
                <a:latin typeface="Courier New"/>
                <a:cs typeface="Courier New"/>
              </a:rPr>
              <a:t>]);</a:t>
            </a:r>
            <a:endParaRPr sz="16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0300" y="1104900"/>
            <a:ext cx="56718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TypeScript </a:t>
            </a:r>
            <a:r>
              <a:rPr dirty="0"/>
              <a:t>-</a:t>
            </a:r>
            <a:r>
              <a:rPr spc="-45" dirty="0"/>
              <a:t> </a:t>
            </a:r>
            <a:r>
              <a:rPr spc="30" dirty="0"/>
              <a:t>Interfaces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300" y="2514600"/>
            <a:ext cx="9484995" cy="7747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41300" marR="5080" indent="-228600">
              <a:lnSpc>
                <a:spcPts val="2900"/>
              </a:lnSpc>
              <a:spcBef>
                <a:spcPts val="280"/>
              </a:spcBef>
              <a:buChar char="•"/>
              <a:tabLst>
                <a:tab pos="241300" algn="l"/>
              </a:tabLst>
            </a:pPr>
            <a:r>
              <a:rPr sz="2500" dirty="0">
                <a:latin typeface="Arial"/>
                <a:cs typeface="Arial"/>
              </a:rPr>
              <a:t>Si quisiéramos </a:t>
            </a:r>
            <a:r>
              <a:rPr sz="2500" spc="-5" dirty="0">
                <a:latin typeface="Arial"/>
                <a:cs typeface="Arial"/>
              </a:rPr>
              <a:t>definir </a:t>
            </a:r>
            <a:r>
              <a:rPr sz="2500" dirty="0">
                <a:latin typeface="Arial"/>
                <a:cs typeface="Arial"/>
              </a:rPr>
              <a:t>una </a:t>
            </a:r>
            <a:r>
              <a:rPr sz="2500" spc="-5" dirty="0">
                <a:latin typeface="Arial"/>
                <a:cs typeface="Arial"/>
              </a:rPr>
              <a:t>interfaz </a:t>
            </a:r>
            <a:r>
              <a:rPr sz="2500" dirty="0">
                <a:latin typeface="Arial"/>
                <a:cs typeface="Arial"/>
              </a:rPr>
              <a:t>para un </a:t>
            </a:r>
            <a:r>
              <a:rPr sz="2500" spc="-5" dirty="0">
                <a:latin typeface="Arial"/>
                <a:cs typeface="Arial"/>
              </a:rPr>
              <a:t>objeto literal, </a:t>
            </a:r>
            <a:r>
              <a:rPr sz="2500" dirty="0">
                <a:latin typeface="Arial"/>
                <a:cs typeface="Arial"/>
              </a:rPr>
              <a:t>podemos  hacerlo de la </a:t>
            </a:r>
            <a:r>
              <a:rPr sz="2500" spc="-5" dirty="0">
                <a:latin typeface="Arial"/>
                <a:cs typeface="Arial"/>
              </a:rPr>
              <a:t>siguiente </a:t>
            </a:r>
            <a:r>
              <a:rPr sz="2500" dirty="0">
                <a:latin typeface="Arial"/>
                <a:cs typeface="Arial"/>
              </a:rPr>
              <a:t>manera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07000" y="4231640"/>
            <a:ext cx="2464435" cy="2425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6540" marR="248920" indent="-244475">
              <a:lnSpc>
                <a:spcPct val="109400"/>
              </a:lnSpc>
              <a:spcBef>
                <a:spcPts val="100"/>
              </a:spcBef>
            </a:pP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interface </a:t>
            </a:r>
            <a:r>
              <a:rPr sz="1600" spc="-5" dirty="0">
                <a:latin typeface="Courier New"/>
                <a:cs typeface="Courier New"/>
              </a:rPr>
              <a:t>Action</a:t>
            </a:r>
            <a:r>
              <a:rPr sz="1600" spc="-10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{  type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:</a:t>
            </a:r>
            <a:r>
              <a:rPr sz="1600" spc="-25" dirty="0">
                <a:solidFill>
                  <a:srgbClr val="D971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string;</a:t>
            </a: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600" dirty="0">
                <a:latin typeface="Courier New"/>
                <a:cs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256540" marR="370840" indent="-244475">
              <a:lnSpc>
                <a:spcPct val="109400"/>
              </a:lnSpc>
              <a:spcBef>
                <a:spcPts val="5"/>
              </a:spcBef>
            </a:pP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let </a:t>
            </a:r>
            <a:r>
              <a:rPr sz="1600" dirty="0">
                <a:latin typeface="Courier New"/>
                <a:cs typeface="Courier New"/>
              </a:rPr>
              <a:t>a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: </a:t>
            </a:r>
            <a:r>
              <a:rPr sz="1600" spc="-5" dirty="0">
                <a:latin typeface="Courier New"/>
                <a:cs typeface="Courier New"/>
              </a:rPr>
              <a:t>Action 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=</a:t>
            </a:r>
            <a:r>
              <a:rPr sz="1600" spc="-90" dirty="0">
                <a:solidFill>
                  <a:srgbClr val="D971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{  type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:</a:t>
            </a:r>
            <a:r>
              <a:rPr sz="1600" spc="-100" dirty="0">
                <a:solidFill>
                  <a:srgbClr val="D971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5EA702"/>
                </a:solidFill>
                <a:latin typeface="Courier New"/>
                <a:cs typeface="Courier New"/>
              </a:rPr>
              <a:t>'literal'</a:t>
            </a:r>
            <a:endParaRPr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600" dirty="0">
                <a:latin typeface="Courier New"/>
                <a:cs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ourier New"/>
                <a:cs typeface="Courier New"/>
              </a:rPr>
              <a:t>console.log(a.type);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9300" y="1104900"/>
            <a:ext cx="64274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TypeScript </a:t>
            </a:r>
            <a:r>
              <a:rPr dirty="0"/>
              <a:t>-</a:t>
            </a:r>
            <a:r>
              <a:rPr spc="-45" dirty="0"/>
              <a:t> </a:t>
            </a:r>
            <a:r>
              <a:rPr spc="35" dirty="0"/>
              <a:t>Decoradores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300" y="3086100"/>
            <a:ext cx="10067290" cy="40894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41300" marR="269240" indent="-228600">
              <a:lnSpc>
                <a:spcPts val="2900"/>
              </a:lnSpc>
              <a:spcBef>
                <a:spcPts val="280"/>
              </a:spcBef>
              <a:buChar char="•"/>
              <a:tabLst>
                <a:tab pos="241300" algn="l"/>
              </a:tabLst>
            </a:pPr>
            <a:r>
              <a:rPr sz="2500" dirty="0">
                <a:latin typeface="Arial"/>
                <a:cs typeface="Arial"/>
              </a:rPr>
              <a:t>Los decoradores </a:t>
            </a:r>
            <a:r>
              <a:rPr sz="2500" spc="-5" dirty="0">
                <a:latin typeface="Arial"/>
                <a:cs typeface="Arial"/>
              </a:rPr>
              <a:t>estaban planificados </a:t>
            </a:r>
            <a:r>
              <a:rPr sz="2500" dirty="0">
                <a:latin typeface="Arial"/>
                <a:cs typeface="Arial"/>
              </a:rPr>
              <a:t>para usarse en una versión  </a:t>
            </a:r>
            <a:r>
              <a:rPr sz="2500" spc="-5" dirty="0">
                <a:latin typeface="Arial"/>
                <a:cs typeface="Arial"/>
              </a:rPr>
              <a:t>posterior </a:t>
            </a:r>
            <a:r>
              <a:rPr sz="2500" dirty="0">
                <a:latin typeface="Arial"/>
                <a:cs typeface="Arial"/>
              </a:rPr>
              <a:t>de </a:t>
            </a:r>
            <a:r>
              <a:rPr sz="2500" spc="-5" dirty="0">
                <a:latin typeface="Arial"/>
                <a:cs typeface="Arial"/>
              </a:rPr>
              <a:t>Javascript, </a:t>
            </a:r>
            <a:r>
              <a:rPr sz="2500" dirty="0">
                <a:latin typeface="Arial"/>
                <a:cs typeface="Arial"/>
              </a:rPr>
              <a:t>pero los desarrolladores de Angular</a:t>
            </a:r>
            <a:r>
              <a:rPr sz="2500" spc="-14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querían  </a:t>
            </a:r>
            <a:r>
              <a:rPr sz="2500" dirty="0">
                <a:latin typeface="Arial"/>
                <a:cs typeface="Arial"/>
              </a:rPr>
              <a:t>usarlos y los han incluido en</a:t>
            </a:r>
            <a:r>
              <a:rPr sz="2500" spc="-70" dirty="0">
                <a:latin typeface="Arial"/>
                <a:cs typeface="Arial"/>
              </a:rPr>
              <a:t> </a:t>
            </a:r>
            <a:r>
              <a:rPr sz="2500" spc="-15" dirty="0">
                <a:latin typeface="Arial"/>
                <a:cs typeface="Arial"/>
              </a:rPr>
              <a:t>TypeScript.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241300" marR="158115" indent="-228600">
              <a:lnSpc>
                <a:spcPts val="2900"/>
              </a:lnSpc>
              <a:buChar char="•"/>
              <a:tabLst>
                <a:tab pos="241300" algn="l"/>
              </a:tabLst>
            </a:pPr>
            <a:r>
              <a:rPr sz="2500" dirty="0">
                <a:latin typeface="Arial"/>
                <a:cs typeface="Arial"/>
              </a:rPr>
              <a:t>Los decoradores son </a:t>
            </a:r>
            <a:r>
              <a:rPr sz="2500" spc="-5" dirty="0">
                <a:latin typeface="Arial"/>
                <a:cs typeface="Arial"/>
              </a:rPr>
              <a:t>funciones </a:t>
            </a:r>
            <a:r>
              <a:rPr sz="2500" dirty="0">
                <a:latin typeface="Arial"/>
                <a:cs typeface="Arial"/>
              </a:rPr>
              <a:t>declaradas a </a:t>
            </a:r>
            <a:r>
              <a:rPr sz="2500" spc="-5" dirty="0">
                <a:latin typeface="Arial"/>
                <a:cs typeface="Arial"/>
              </a:rPr>
              <a:t>través </a:t>
            </a:r>
            <a:r>
              <a:rPr sz="2500" dirty="0">
                <a:latin typeface="Arial"/>
                <a:cs typeface="Arial"/>
              </a:rPr>
              <a:t>del </a:t>
            </a:r>
            <a:r>
              <a:rPr sz="2500" spc="-5" dirty="0">
                <a:latin typeface="Arial"/>
                <a:cs typeface="Arial"/>
              </a:rPr>
              <a:t>símbolo </a:t>
            </a:r>
            <a:r>
              <a:rPr sz="2500" dirty="0">
                <a:latin typeface="Arial"/>
                <a:cs typeface="Arial"/>
              </a:rPr>
              <a:t>@ e  </a:t>
            </a:r>
            <a:r>
              <a:rPr sz="2500" spc="-5" dirty="0">
                <a:latin typeface="Arial"/>
                <a:cs typeface="Arial"/>
              </a:rPr>
              <a:t>inmediatamente </a:t>
            </a:r>
            <a:r>
              <a:rPr sz="2500" dirty="0">
                <a:latin typeface="Arial"/>
                <a:cs typeface="Arial"/>
              </a:rPr>
              <a:t>seguidas por una clase, un </a:t>
            </a:r>
            <a:r>
              <a:rPr sz="2500" spc="-5" dirty="0">
                <a:latin typeface="Arial"/>
                <a:cs typeface="Arial"/>
              </a:rPr>
              <a:t>parámetro </a:t>
            </a:r>
            <a:r>
              <a:rPr sz="2500" dirty="0">
                <a:latin typeface="Arial"/>
                <a:cs typeface="Arial"/>
              </a:rPr>
              <a:t>o un</a:t>
            </a:r>
            <a:r>
              <a:rPr sz="2500" spc="2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método.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241300" marR="427990" indent="-228600">
              <a:lnSpc>
                <a:spcPts val="2900"/>
              </a:lnSpc>
              <a:buChar char="•"/>
              <a:tabLst>
                <a:tab pos="241300" algn="l"/>
              </a:tabLst>
            </a:pPr>
            <a:r>
              <a:rPr sz="2500" spc="-5" dirty="0">
                <a:latin typeface="Arial"/>
                <a:cs typeface="Arial"/>
              </a:rPr>
              <a:t>Existen </a:t>
            </a:r>
            <a:r>
              <a:rPr sz="2500" dirty="0">
                <a:latin typeface="Arial"/>
                <a:cs typeface="Arial"/>
              </a:rPr>
              <a:t>4 </a:t>
            </a:r>
            <a:r>
              <a:rPr sz="2500" spc="-5" dirty="0">
                <a:latin typeface="Arial"/>
                <a:cs typeface="Arial"/>
              </a:rPr>
              <a:t>elementos diferentes </a:t>
            </a:r>
            <a:r>
              <a:rPr sz="2500" dirty="0">
                <a:latin typeface="Arial"/>
                <a:cs typeface="Arial"/>
              </a:rPr>
              <a:t>que pueden ser </a:t>
            </a:r>
            <a:r>
              <a:rPr sz="2500" i="1" dirty="0">
                <a:latin typeface="Arial"/>
                <a:cs typeface="Arial"/>
              </a:rPr>
              <a:t>decorados </a:t>
            </a:r>
            <a:r>
              <a:rPr sz="2500" dirty="0">
                <a:latin typeface="Arial"/>
                <a:cs typeface="Arial"/>
              </a:rPr>
              <a:t>(clases,  </a:t>
            </a:r>
            <a:r>
              <a:rPr sz="2500" spc="-5" dirty="0">
                <a:latin typeface="Arial"/>
                <a:cs typeface="Arial"/>
              </a:rPr>
              <a:t>parámetros, métodos </a:t>
            </a:r>
            <a:r>
              <a:rPr sz="2500" dirty="0">
                <a:latin typeface="Arial"/>
                <a:cs typeface="Arial"/>
              </a:rPr>
              <a:t>y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propiedades)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23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har char="•"/>
              <a:tabLst>
                <a:tab pos="241300" algn="l"/>
                <a:tab pos="3488690" algn="l"/>
              </a:tabLst>
            </a:pPr>
            <a:r>
              <a:rPr sz="2500" dirty="0">
                <a:latin typeface="Arial"/>
                <a:cs typeface="Arial"/>
              </a:rPr>
              <a:t>Por lo </a:t>
            </a:r>
            <a:r>
              <a:rPr sz="2500" spc="-5" dirty="0">
                <a:latin typeface="Arial"/>
                <a:cs typeface="Arial"/>
              </a:rPr>
              <a:t>tanto,</a:t>
            </a:r>
            <a:r>
              <a:rPr sz="2500" spc="1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existen</a:t>
            </a:r>
            <a:r>
              <a:rPr sz="2500" spc="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4	</a:t>
            </a:r>
            <a:r>
              <a:rPr sz="2500" spc="-5" dirty="0">
                <a:latin typeface="Arial"/>
                <a:cs typeface="Arial"/>
              </a:rPr>
              <a:t>formas diferentes </a:t>
            </a:r>
            <a:r>
              <a:rPr sz="2500" dirty="0">
                <a:latin typeface="Arial"/>
                <a:cs typeface="Arial"/>
              </a:rPr>
              <a:t>de declarar los</a:t>
            </a:r>
            <a:r>
              <a:rPr sz="2500" spc="-4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decoradores.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9300" y="1104900"/>
            <a:ext cx="64274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TypeScript </a:t>
            </a:r>
            <a:r>
              <a:rPr dirty="0"/>
              <a:t>-</a:t>
            </a:r>
            <a:r>
              <a:rPr spc="-45" dirty="0"/>
              <a:t> </a:t>
            </a:r>
            <a:r>
              <a:rPr spc="35" dirty="0"/>
              <a:t>Decoradores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300" y="2908300"/>
            <a:ext cx="10107295" cy="44577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41300" marR="1703705" indent="-228600">
              <a:lnSpc>
                <a:spcPts val="2900"/>
              </a:lnSpc>
              <a:spcBef>
                <a:spcPts val="280"/>
              </a:spcBef>
              <a:buChar char="•"/>
              <a:tabLst>
                <a:tab pos="241300" algn="l"/>
              </a:tabLst>
            </a:pPr>
            <a:r>
              <a:rPr sz="2500" b="1" spc="-5" dirty="0">
                <a:latin typeface="Arial"/>
                <a:cs typeface="Arial"/>
              </a:rPr>
              <a:t>class: </a:t>
            </a:r>
            <a:r>
              <a:rPr sz="2500" i="1" dirty="0">
                <a:latin typeface="Arial"/>
                <a:cs typeface="Arial"/>
              </a:rPr>
              <a:t>declare </a:t>
            </a:r>
            <a:r>
              <a:rPr sz="2500" i="1" spc="-5" dirty="0">
                <a:latin typeface="Arial"/>
                <a:cs typeface="Arial"/>
              </a:rPr>
              <a:t>type ClassDecorator </a:t>
            </a:r>
            <a:r>
              <a:rPr sz="2500" i="1" dirty="0">
                <a:latin typeface="Arial"/>
                <a:cs typeface="Arial"/>
              </a:rPr>
              <a:t>= </a:t>
            </a:r>
            <a:r>
              <a:rPr sz="2500" i="1" spc="-5" dirty="0">
                <a:latin typeface="Arial"/>
                <a:cs typeface="Arial"/>
              </a:rPr>
              <a:t>&lt;TFunction extends  Function&gt;(target: TFunction)=&gt; TFunction </a:t>
            </a:r>
            <a:r>
              <a:rPr sz="2500" i="1" dirty="0">
                <a:latin typeface="Arial"/>
                <a:cs typeface="Arial"/>
              </a:rPr>
              <a:t>|</a:t>
            </a:r>
            <a:r>
              <a:rPr sz="2500" i="1" spc="10" dirty="0">
                <a:latin typeface="Arial"/>
                <a:cs typeface="Arial"/>
              </a:rPr>
              <a:t> </a:t>
            </a:r>
            <a:r>
              <a:rPr sz="2500" i="1" dirty="0">
                <a:latin typeface="Arial"/>
                <a:cs typeface="Arial"/>
              </a:rPr>
              <a:t>void;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241300" marR="1501775" indent="-228600">
              <a:lnSpc>
                <a:spcPts val="2900"/>
              </a:lnSpc>
              <a:buChar char="•"/>
              <a:tabLst>
                <a:tab pos="241300" algn="l"/>
              </a:tabLst>
            </a:pPr>
            <a:r>
              <a:rPr sz="2500" b="1" spc="-5" dirty="0">
                <a:latin typeface="Arial"/>
                <a:cs typeface="Arial"/>
              </a:rPr>
              <a:t>property: </a:t>
            </a:r>
            <a:r>
              <a:rPr sz="2500" dirty="0">
                <a:latin typeface="Arial"/>
                <a:cs typeface="Arial"/>
              </a:rPr>
              <a:t>declare </a:t>
            </a:r>
            <a:r>
              <a:rPr sz="2500" spc="-5" dirty="0">
                <a:latin typeface="Arial"/>
                <a:cs typeface="Arial"/>
              </a:rPr>
              <a:t>type PropertyDecorator </a:t>
            </a:r>
            <a:r>
              <a:rPr sz="2500" dirty="0">
                <a:latin typeface="Arial"/>
                <a:cs typeface="Arial"/>
              </a:rPr>
              <a:t>= </a:t>
            </a:r>
            <a:r>
              <a:rPr sz="2500" spc="-5" dirty="0">
                <a:latin typeface="Arial"/>
                <a:cs typeface="Arial"/>
              </a:rPr>
              <a:t>(target: Object,  propertyKey: string </a:t>
            </a:r>
            <a:r>
              <a:rPr sz="2500" dirty="0">
                <a:latin typeface="Arial"/>
                <a:cs typeface="Arial"/>
              </a:rPr>
              <a:t>|symbol) =&gt;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void;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2900"/>
              </a:lnSpc>
              <a:buChar char="•"/>
              <a:tabLst>
                <a:tab pos="241300" algn="l"/>
              </a:tabLst>
            </a:pPr>
            <a:r>
              <a:rPr sz="2500" b="1" spc="-5" dirty="0">
                <a:latin typeface="Arial"/>
                <a:cs typeface="Arial"/>
              </a:rPr>
              <a:t>method: </a:t>
            </a:r>
            <a:r>
              <a:rPr sz="2500" dirty="0">
                <a:latin typeface="Arial"/>
                <a:cs typeface="Arial"/>
              </a:rPr>
              <a:t>declare </a:t>
            </a:r>
            <a:r>
              <a:rPr sz="2500" spc="-5" dirty="0">
                <a:latin typeface="Arial"/>
                <a:cs typeface="Arial"/>
              </a:rPr>
              <a:t>type MethodDecorator </a:t>
            </a:r>
            <a:r>
              <a:rPr sz="2500" dirty="0">
                <a:latin typeface="Arial"/>
                <a:cs typeface="Arial"/>
              </a:rPr>
              <a:t>= </a:t>
            </a:r>
            <a:r>
              <a:rPr sz="2500" spc="-5" dirty="0">
                <a:latin typeface="Arial"/>
                <a:cs typeface="Arial"/>
              </a:rPr>
              <a:t>&lt;T&gt;(target: Object,  propertyKey: string </a:t>
            </a:r>
            <a:r>
              <a:rPr sz="2500" dirty="0">
                <a:latin typeface="Arial"/>
                <a:cs typeface="Arial"/>
              </a:rPr>
              <a:t>| symbol, </a:t>
            </a:r>
            <a:r>
              <a:rPr sz="2500" spc="-5" dirty="0">
                <a:latin typeface="Arial"/>
                <a:cs typeface="Arial"/>
              </a:rPr>
              <a:t>descriptor:</a:t>
            </a:r>
            <a:r>
              <a:rPr sz="2500" spc="90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TypedPropertyDescriptor&lt;T&gt;)</a:t>
            </a:r>
            <a:endParaRPr sz="2500">
              <a:latin typeface="Arial"/>
              <a:cs typeface="Arial"/>
            </a:endParaRPr>
          </a:p>
          <a:p>
            <a:pPr marL="241300">
              <a:lnSpc>
                <a:spcPts val="2820"/>
              </a:lnSpc>
            </a:pPr>
            <a:r>
              <a:rPr sz="2500" dirty="0">
                <a:latin typeface="Arial"/>
                <a:cs typeface="Arial"/>
              </a:rPr>
              <a:t>=&gt; </a:t>
            </a:r>
            <a:r>
              <a:rPr sz="2500" spc="-10" dirty="0">
                <a:latin typeface="Arial"/>
                <a:cs typeface="Arial"/>
              </a:rPr>
              <a:t>TypedPropertyDescriptor&lt;T&gt; </a:t>
            </a:r>
            <a:r>
              <a:rPr sz="2500" dirty="0">
                <a:latin typeface="Arial"/>
                <a:cs typeface="Arial"/>
              </a:rPr>
              <a:t>|</a:t>
            </a:r>
            <a:r>
              <a:rPr sz="2500" spc="-3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void;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50">
              <a:latin typeface="Times New Roman"/>
              <a:cs typeface="Times New Roman"/>
            </a:endParaRPr>
          </a:p>
          <a:p>
            <a:pPr marL="241300" marR="972819" indent="-228600">
              <a:lnSpc>
                <a:spcPts val="2900"/>
              </a:lnSpc>
              <a:buChar char="•"/>
              <a:tabLst>
                <a:tab pos="241300" algn="l"/>
              </a:tabLst>
            </a:pPr>
            <a:r>
              <a:rPr sz="2500" b="1" spc="-5" dirty="0">
                <a:latin typeface="Arial"/>
                <a:cs typeface="Arial"/>
              </a:rPr>
              <a:t>parameter: </a:t>
            </a:r>
            <a:r>
              <a:rPr sz="2500" dirty="0">
                <a:latin typeface="Arial"/>
                <a:cs typeface="Arial"/>
              </a:rPr>
              <a:t>declare </a:t>
            </a:r>
            <a:r>
              <a:rPr sz="2500" spc="-5" dirty="0">
                <a:latin typeface="Arial"/>
                <a:cs typeface="Arial"/>
              </a:rPr>
              <a:t>type ParameterDecorator </a:t>
            </a:r>
            <a:r>
              <a:rPr sz="2500" dirty="0">
                <a:latin typeface="Arial"/>
                <a:cs typeface="Arial"/>
              </a:rPr>
              <a:t>= </a:t>
            </a:r>
            <a:r>
              <a:rPr sz="2500" spc="-5" dirty="0">
                <a:latin typeface="Arial"/>
                <a:cs typeface="Arial"/>
              </a:rPr>
              <a:t>(target: Object,  propertyKey: string </a:t>
            </a:r>
            <a:r>
              <a:rPr sz="2500" dirty="0">
                <a:latin typeface="Arial"/>
                <a:cs typeface="Arial"/>
              </a:rPr>
              <a:t>|symbol, </a:t>
            </a:r>
            <a:r>
              <a:rPr sz="2500" spc="-5" dirty="0">
                <a:latin typeface="Arial"/>
                <a:cs typeface="Arial"/>
              </a:rPr>
              <a:t>parameterIndex: </a:t>
            </a:r>
            <a:r>
              <a:rPr sz="2500" dirty="0">
                <a:latin typeface="Arial"/>
                <a:cs typeface="Arial"/>
              </a:rPr>
              <a:t>number) =&gt;</a:t>
            </a:r>
            <a:r>
              <a:rPr sz="2500" spc="3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void;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9300" y="1104900"/>
            <a:ext cx="64274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TypeScript </a:t>
            </a:r>
            <a:r>
              <a:rPr dirty="0"/>
              <a:t>-</a:t>
            </a:r>
            <a:r>
              <a:rPr spc="-45" dirty="0"/>
              <a:t> </a:t>
            </a:r>
            <a:r>
              <a:rPr spc="35" dirty="0"/>
              <a:t>Decoradores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300" y="2565400"/>
            <a:ext cx="9907905" cy="7747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41300" marR="5080" indent="-228600">
              <a:lnSpc>
                <a:spcPts val="2900"/>
              </a:lnSpc>
              <a:spcBef>
                <a:spcPts val="280"/>
              </a:spcBef>
              <a:buChar char="•"/>
              <a:tabLst>
                <a:tab pos="241300" algn="l"/>
              </a:tabLst>
            </a:pPr>
            <a:r>
              <a:rPr sz="2500" dirty="0">
                <a:latin typeface="Arial"/>
                <a:cs typeface="Arial"/>
              </a:rPr>
              <a:t>Los decoradores podemos aplicarlos sobre las </a:t>
            </a:r>
            <a:r>
              <a:rPr sz="2500" b="1" dirty="0">
                <a:latin typeface="Arial"/>
                <a:cs typeface="Arial"/>
              </a:rPr>
              <a:t>propiedades de</a:t>
            </a:r>
            <a:r>
              <a:rPr sz="2500" b="1" spc="-130" dirty="0">
                <a:latin typeface="Arial"/>
                <a:cs typeface="Arial"/>
              </a:rPr>
              <a:t> </a:t>
            </a:r>
            <a:r>
              <a:rPr sz="2500" b="1" dirty="0">
                <a:latin typeface="Arial"/>
                <a:cs typeface="Arial"/>
              </a:rPr>
              <a:t>una  </a:t>
            </a:r>
            <a:r>
              <a:rPr sz="2500" b="1" spc="-5" dirty="0">
                <a:latin typeface="Arial"/>
                <a:cs typeface="Arial"/>
              </a:rPr>
              <a:t>clase</a:t>
            </a:r>
            <a:r>
              <a:rPr sz="2500" spc="-5" dirty="0">
                <a:latin typeface="Arial"/>
                <a:cs typeface="Arial"/>
              </a:rPr>
              <a:t>.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73300" y="3812540"/>
            <a:ext cx="6122670" cy="42926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function </a:t>
            </a:r>
            <a:r>
              <a:rPr sz="1600" dirty="0">
                <a:latin typeface="Courier New"/>
                <a:cs typeface="Courier New"/>
              </a:rPr>
              <a:t>Override(label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: </a:t>
            </a:r>
            <a:r>
              <a:rPr sz="1600" spc="-5" dirty="0">
                <a:latin typeface="Courier New"/>
                <a:cs typeface="Courier New"/>
              </a:rPr>
              <a:t>string)</a:t>
            </a:r>
            <a:r>
              <a:rPr sz="1600" spc="-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{</a:t>
            </a:r>
          </a:p>
          <a:p>
            <a:pPr marL="500380" marR="492125" indent="-244475">
              <a:lnSpc>
                <a:spcPct val="109400"/>
              </a:lnSpc>
            </a:pP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return function </a:t>
            </a:r>
            <a:r>
              <a:rPr sz="1600" spc="-5" dirty="0">
                <a:latin typeface="Courier New"/>
                <a:cs typeface="Courier New"/>
              </a:rPr>
              <a:t>(target</a:t>
            </a:r>
            <a:r>
              <a:rPr sz="1600" spc="-5" dirty="0">
                <a:solidFill>
                  <a:srgbClr val="D97100"/>
                </a:solidFill>
                <a:latin typeface="Courier New"/>
                <a:cs typeface="Courier New"/>
              </a:rPr>
              <a:t>: </a:t>
            </a:r>
            <a:r>
              <a:rPr sz="1600" spc="-5" dirty="0">
                <a:latin typeface="Courier New"/>
                <a:cs typeface="Courier New"/>
              </a:rPr>
              <a:t>any, </a:t>
            </a:r>
            <a:r>
              <a:rPr sz="1600" dirty="0">
                <a:latin typeface="Courier New"/>
                <a:cs typeface="Courier New"/>
              </a:rPr>
              <a:t>key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: </a:t>
            </a:r>
            <a:r>
              <a:rPr sz="1600" spc="-5" dirty="0">
                <a:latin typeface="Courier New"/>
                <a:cs typeface="Courier New"/>
              </a:rPr>
              <a:t>string) </a:t>
            </a:r>
            <a:r>
              <a:rPr sz="1600" dirty="0">
                <a:latin typeface="Courier New"/>
                <a:cs typeface="Courier New"/>
              </a:rPr>
              <a:t>{  </a:t>
            </a:r>
            <a:r>
              <a:rPr sz="1600" spc="-5" dirty="0">
                <a:solidFill>
                  <a:srgbClr val="295E99"/>
                </a:solidFill>
                <a:latin typeface="Courier New"/>
                <a:cs typeface="Courier New"/>
              </a:rPr>
              <a:t>Object</a:t>
            </a:r>
            <a:r>
              <a:rPr sz="1600" spc="-5" dirty="0">
                <a:latin typeface="Courier New"/>
                <a:cs typeface="Courier New"/>
              </a:rPr>
              <a:t>.defineProperty(target, key,</a:t>
            </a:r>
            <a:r>
              <a:rPr sz="1600" spc="-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{</a:t>
            </a:r>
          </a:p>
          <a:p>
            <a:pPr marL="744220" marR="2931160">
              <a:lnSpc>
                <a:spcPct val="109400"/>
              </a:lnSpc>
            </a:pPr>
            <a:r>
              <a:rPr sz="1600" spc="-5" dirty="0">
                <a:latin typeface="Courier New"/>
                <a:cs typeface="Courier New"/>
              </a:rPr>
              <a:t>configurable</a:t>
            </a:r>
            <a:r>
              <a:rPr sz="1600" spc="-5" dirty="0">
                <a:solidFill>
                  <a:srgbClr val="D97100"/>
                </a:solidFill>
                <a:latin typeface="Courier New"/>
                <a:cs typeface="Courier New"/>
              </a:rPr>
              <a:t>:</a:t>
            </a:r>
            <a:r>
              <a:rPr sz="1600" spc="-40" dirty="0">
                <a:solidFill>
                  <a:srgbClr val="D971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false</a:t>
            </a:r>
            <a:r>
              <a:rPr sz="1600" dirty="0">
                <a:latin typeface="Courier New"/>
                <a:cs typeface="Courier New"/>
              </a:rPr>
              <a:t>,  get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: </a:t>
            </a:r>
            <a:r>
              <a:rPr sz="1600" spc="-5" dirty="0">
                <a:latin typeface="Courier New"/>
                <a:cs typeface="Courier New"/>
              </a:rPr>
              <a:t>() 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=&gt;</a:t>
            </a:r>
            <a:r>
              <a:rPr sz="1600" spc="-40" dirty="0">
                <a:solidFill>
                  <a:srgbClr val="D971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label</a:t>
            </a:r>
          </a:p>
          <a:p>
            <a:pPr marR="4747260" algn="ctr">
              <a:lnSpc>
                <a:spcPct val="100000"/>
              </a:lnSpc>
              <a:spcBef>
                <a:spcPts val="180"/>
              </a:spcBef>
            </a:pPr>
            <a:r>
              <a:rPr sz="1600" dirty="0">
                <a:latin typeface="Courier New"/>
                <a:cs typeface="Courier New"/>
              </a:rPr>
              <a:t>});</a:t>
            </a:r>
          </a:p>
          <a:p>
            <a:pPr marL="256540">
              <a:lnSpc>
                <a:spcPct val="100000"/>
              </a:lnSpc>
              <a:spcBef>
                <a:spcPts val="180"/>
              </a:spcBef>
            </a:pPr>
            <a:r>
              <a:rPr sz="1600" dirty="0">
                <a:latin typeface="Courier New"/>
                <a:cs typeface="Courier New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600" dirty="0">
                <a:latin typeface="Courier New"/>
                <a:cs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class </a:t>
            </a:r>
            <a:r>
              <a:rPr sz="1600" spc="-5" dirty="0">
                <a:latin typeface="Courier New"/>
                <a:cs typeface="Courier New"/>
              </a:rPr>
              <a:t>Test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{</a:t>
            </a:r>
          </a:p>
          <a:p>
            <a:pPr marL="256540" marR="5080">
              <a:lnSpc>
                <a:spcPct val="109400"/>
              </a:lnSpc>
            </a:pPr>
            <a:r>
              <a:rPr sz="1600" spc="-5" dirty="0">
                <a:solidFill>
                  <a:srgbClr val="B51700"/>
                </a:solidFill>
                <a:latin typeface="Courier New"/>
                <a:cs typeface="Courier New"/>
              </a:rPr>
              <a:t>@</a:t>
            </a:r>
            <a:r>
              <a:rPr sz="1600" spc="-5" dirty="0">
                <a:latin typeface="Courier New"/>
                <a:cs typeface="Courier New"/>
              </a:rPr>
              <a:t>Override(</a:t>
            </a:r>
            <a:r>
              <a:rPr sz="1600" spc="-5" dirty="0">
                <a:solidFill>
                  <a:srgbClr val="5EA702"/>
                </a:solidFill>
                <a:latin typeface="Courier New"/>
                <a:cs typeface="Courier New"/>
              </a:rPr>
              <a:t>'test'</a:t>
            </a:r>
            <a:r>
              <a:rPr sz="1600" spc="-5" dirty="0">
                <a:latin typeface="Courier New"/>
                <a:cs typeface="Courier New"/>
              </a:rPr>
              <a:t>) </a:t>
            </a:r>
            <a:r>
              <a:rPr sz="1600" spc="-5" dirty="0">
                <a:solidFill>
                  <a:srgbClr val="A16C00"/>
                </a:solidFill>
                <a:latin typeface="Courier New"/>
                <a:cs typeface="Courier New"/>
              </a:rPr>
              <a:t>// llama </a:t>
            </a:r>
            <a:r>
              <a:rPr sz="1600" dirty="0">
                <a:solidFill>
                  <a:srgbClr val="A16C00"/>
                </a:solidFill>
                <a:latin typeface="Courier New"/>
                <a:cs typeface="Courier New"/>
              </a:rPr>
              <a:t>a </a:t>
            </a:r>
            <a:r>
              <a:rPr sz="1600" spc="-5" dirty="0">
                <a:solidFill>
                  <a:srgbClr val="A16C00"/>
                </a:solidFill>
                <a:latin typeface="Courier New"/>
                <a:cs typeface="Courier New"/>
              </a:rPr>
              <a:t>la función </a:t>
            </a:r>
            <a:r>
              <a:rPr sz="1600" dirty="0">
                <a:solidFill>
                  <a:srgbClr val="A16C00"/>
                </a:solidFill>
                <a:latin typeface="Courier New"/>
                <a:cs typeface="Courier New"/>
              </a:rPr>
              <a:t>Override  </a:t>
            </a:r>
            <a:r>
              <a:rPr sz="1600" dirty="0">
                <a:latin typeface="Courier New"/>
                <a:cs typeface="Courier New"/>
              </a:rPr>
              <a:t>name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: </a:t>
            </a:r>
            <a:r>
              <a:rPr sz="1600" spc="-5" dirty="0">
                <a:latin typeface="Courier New"/>
                <a:cs typeface="Courier New"/>
              </a:rPr>
              <a:t>string 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=</a:t>
            </a:r>
            <a:r>
              <a:rPr sz="1600" spc="-5" dirty="0">
                <a:solidFill>
                  <a:srgbClr val="D97100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5EA702"/>
                </a:solidFill>
                <a:latin typeface="Courier New"/>
                <a:cs typeface="Courier New"/>
              </a:rPr>
              <a:t>'pat'</a:t>
            </a:r>
            <a:r>
              <a:rPr sz="1600" spc="-5" dirty="0">
                <a:latin typeface="Courier New"/>
                <a:cs typeface="Courier New"/>
              </a:rPr>
              <a:t>;</a:t>
            </a:r>
            <a:endParaRPr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600" dirty="0">
                <a:latin typeface="Courier New"/>
                <a:cs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2700" marR="2443480">
              <a:lnSpc>
                <a:spcPct val="109400"/>
              </a:lnSpc>
            </a:pP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let </a:t>
            </a:r>
            <a:r>
              <a:rPr sz="1600" dirty="0">
                <a:latin typeface="Courier New"/>
                <a:cs typeface="Courier New"/>
              </a:rPr>
              <a:t>t 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= </a:t>
            </a: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new </a:t>
            </a:r>
            <a:r>
              <a:rPr sz="1600" dirty="0">
                <a:latin typeface="Courier New"/>
                <a:cs typeface="Courier New"/>
              </a:rPr>
              <a:t>Test();  </a:t>
            </a:r>
            <a:r>
              <a:rPr sz="1600" spc="-5" dirty="0">
                <a:latin typeface="Courier New"/>
                <a:cs typeface="Courier New"/>
              </a:rPr>
              <a:t>console.log(t.name); </a:t>
            </a:r>
            <a:r>
              <a:rPr sz="1600" spc="-5" dirty="0">
                <a:solidFill>
                  <a:srgbClr val="A16C00"/>
                </a:solidFill>
                <a:latin typeface="Courier New"/>
                <a:cs typeface="Courier New"/>
              </a:rPr>
              <a:t>//</a:t>
            </a:r>
            <a:r>
              <a:rPr sz="1600" spc="-85" dirty="0">
                <a:solidFill>
                  <a:srgbClr val="A16C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A16C00"/>
                </a:solidFill>
                <a:latin typeface="Courier New"/>
                <a:cs typeface="Courier New"/>
              </a:rPr>
              <a:t>'test'</a:t>
            </a:r>
            <a:endParaRPr sz="16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9300" y="1104900"/>
            <a:ext cx="64274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TypeScript </a:t>
            </a:r>
            <a:r>
              <a:rPr dirty="0"/>
              <a:t>-</a:t>
            </a:r>
            <a:r>
              <a:rPr spc="-45" dirty="0"/>
              <a:t> </a:t>
            </a:r>
            <a:r>
              <a:rPr spc="35" dirty="0"/>
              <a:t>Decoradores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300" y="2501900"/>
            <a:ext cx="10032365" cy="33528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41300" marR="198755" indent="-228600">
              <a:lnSpc>
                <a:spcPts val="2900"/>
              </a:lnSpc>
              <a:spcBef>
                <a:spcPts val="280"/>
              </a:spcBef>
              <a:buChar char="•"/>
              <a:tabLst>
                <a:tab pos="241300" algn="l"/>
              </a:tabLst>
            </a:pPr>
            <a:r>
              <a:rPr sz="2500" dirty="0">
                <a:latin typeface="Arial"/>
                <a:cs typeface="Arial"/>
              </a:rPr>
              <a:t>En el caso </a:t>
            </a:r>
            <a:r>
              <a:rPr sz="2500" spc="-20" dirty="0">
                <a:latin typeface="Arial"/>
                <a:cs typeface="Arial"/>
              </a:rPr>
              <a:t>anterior, </a:t>
            </a:r>
            <a:r>
              <a:rPr sz="2500" dirty="0">
                <a:latin typeface="Arial"/>
                <a:cs typeface="Arial"/>
              </a:rPr>
              <a:t>el decorador </a:t>
            </a:r>
            <a:r>
              <a:rPr sz="2500" spc="-5" dirty="0">
                <a:latin typeface="Arial"/>
                <a:cs typeface="Arial"/>
              </a:rPr>
              <a:t>Override </a:t>
            </a:r>
            <a:r>
              <a:rPr sz="2500" dirty="0">
                <a:latin typeface="Arial"/>
                <a:cs typeface="Arial"/>
              </a:rPr>
              <a:t>es una </a:t>
            </a:r>
            <a:r>
              <a:rPr sz="2500" spc="-5" dirty="0">
                <a:latin typeface="Arial"/>
                <a:cs typeface="Arial"/>
              </a:rPr>
              <a:t>función </a:t>
            </a:r>
            <a:r>
              <a:rPr sz="2500" dirty="0">
                <a:latin typeface="Arial"/>
                <a:cs typeface="Arial"/>
              </a:rPr>
              <a:t>que se  encarga de </a:t>
            </a:r>
            <a:r>
              <a:rPr sz="2500" spc="-5" dirty="0">
                <a:latin typeface="Arial"/>
                <a:cs typeface="Arial"/>
              </a:rPr>
              <a:t>modificar </a:t>
            </a:r>
            <a:r>
              <a:rPr sz="2500" dirty="0">
                <a:latin typeface="Arial"/>
                <a:cs typeface="Arial"/>
              </a:rPr>
              <a:t>el valor de la propiedad sobre la cual se</a:t>
            </a:r>
            <a:r>
              <a:rPr sz="2500" spc="-6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aplica  </a:t>
            </a:r>
            <a:r>
              <a:rPr sz="2500" spc="-5" dirty="0">
                <a:latin typeface="Arial"/>
                <a:cs typeface="Arial"/>
              </a:rPr>
              <a:t>(target).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2900"/>
              </a:lnSpc>
              <a:buChar char="•"/>
              <a:tabLst>
                <a:tab pos="241300" algn="l"/>
              </a:tabLst>
            </a:pPr>
            <a:r>
              <a:rPr sz="2500" dirty="0">
                <a:latin typeface="Arial"/>
                <a:cs typeface="Arial"/>
              </a:rPr>
              <a:t>El valor que asignamos, es el que </a:t>
            </a:r>
            <a:r>
              <a:rPr sz="2500" spc="-5" dirty="0">
                <a:latin typeface="Arial"/>
                <a:cs typeface="Arial"/>
              </a:rPr>
              <a:t>estamos </a:t>
            </a:r>
            <a:r>
              <a:rPr sz="2500" dirty="0">
                <a:latin typeface="Arial"/>
                <a:cs typeface="Arial"/>
              </a:rPr>
              <a:t>pasando por </a:t>
            </a:r>
            <a:r>
              <a:rPr sz="2500" spc="-5" dirty="0">
                <a:latin typeface="Arial"/>
                <a:cs typeface="Arial"/>
              </a:rPr>
              <a:t>parámetro</a:t>
            </a:r>
            <a:r>
              <a:rPr sz="2500" spc="-5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al  </a:t>
            </a:r>
            <a:r>
              <a:rPr sz="2500" spc="-5" dirty="0">
                <a:latin typeface="Arial"/>
                <a:cs typeface="Arial"/>
              </a:rPr>
              <a:t>método </a:t>
            </a:r>
            <a:r>
              <a:rPr sz="2500" dirty="0">
                <a:latin typeface="Arial"/>
                <a:cs typeface="Arial"/>
              </a:rPr>
              <a:t>(label).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241300" marR="869315" indent="-228600">
              <a:lnSpc>
                <a:spcPts val="2900"/>
              </a:lnSpc>
              <a:buChar char="•"/>
              <a:tabLst>
                <a:tab pos="241300" algn="l"/>
              </a:tabLst>
            </a:pPr>
            <a:r>
              <a:rPr sz="2500" dirty="0">
                <a:latin typeface="Arial"/>
                <a:cs typeface="Arial"/>
              </a:rPr>
              <a:t>Para poder </a:t>
            </a:r>
            <a:r>
              <a:rPr sz="2500" spc="-5" dirty="0">
                <a:latin typeface="Arial"/>
                <a:cs typeface="Arial"/>
              </a:rPr>
              <a:t>ejecutar </a:t>
            </a:r>
            <a:r>
              <a:rPr sz="2500" dirty="0">
                <a:latin typeface="Arial"/>
                <a:cs typeface="Arial"/>
              </a:rPr>
              <a:t>dicho ejemplo, </a:t>
            </a:r>
            <a:r>
              <a:rPr sz="2500" spc="-5" dirty="0">
                <a:latin typeface="Arial"/>
                <a:cs typeface="Arial"/>
              </a:rPr>
              <a:t>tenemos </a:t>
            </a:r>
            <a:r>
              <a:rPr sz="2500" dirty="0">
                <a:latin typeface="Arial"/>
                <a:cs typeface="Arial"/>
              </a:rPr>
              <a:t>que hacerlo con</a:t>
            </a:r>
            <a:r>
              <a:rPr sz="2500" spc="-4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el  </a:t>
            </a:r>
            <a:r>
              <a:rPr sz="2500" spc="-5" dirty="0">
                <a:latin typeface="Arial"/>
                <a:cs typeface="Arial"/>
              </a:rPr>
              <a:t>modificador </a:t>
            </a:r>
            <a:r>
              <a:rPr sz="2500" i="1" spc="-5" dirty="0">
                <a:latin typeface="Arial"/>
                <a:cs typeface="Arial"/>
              </a:rPr>
              <a:t>—experimentalDecorators.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9300" y="1104900"/>
            <a:ext cx="64274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TypeScript </a:t>
            </a:r>
            <a:r>
              <a:rPr dirty="0"/>
              <a:t>-</a:t>
            </a:r>
            <a:r>
              <a:rPr spc="-45" dirty="0"/>
              <a:t> </a:t>
            </a:r>
            <a:r>
              <a:rPr spc="35" dirty="0"/>
              <a:t>Decoradores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300" y="2197100"/>
            <a:ext cx="10456545" cy="7747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41300" marR="5080" indent="-228600">
              <a:lnSpc>
                <a:spcPts val="2900"/>
              </a:lnSpc>
              <a:spcBef>
                <a:spcPts val="280"/>
              </a:spcBef>
              <a:buChar char="•"/>
              <a:tabLst>
                <a:tab pos="241300" algn="l"/>
              </a:tabLst>
            </a:pPr>
            <a:r>
              <a:rPr sz="2500" dirty="0">
                <a:latin typeface="Arial"/>
                <a:cs typeface="Arial"/>
              </a:rPr>
              <a:t>Podemos incluso crear decoradores, los cuales no </a:t>
            </a:r>
            <a:r>
              <a:rPr sz="2500" spc="-5" dirty="0">
                <a:latin typeface="Arial"/>
                <a:cs typeface="Arial"/>
              </a:rPr>
              <a:t>necesiten </a:t>
            </a:r>
            <a:r>
              <a:rPr sz="2500" dirty="0">
                <a:latin typeface="Arial"/>
                <a:cs typeface="Arial"/>
              </a:rPr>
              <a:t>ningún</a:t>
            </a:r>
            <a:r>
              <a:rPr sz="2500" spc="-6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tipo  </a:t>
            </a:r>
            <a:r>
              <a:rPr sz="2500" dirty="0">
                <a:latin typeface="Arial"/>
                <a:cs typeface="Arial"/>
              </a:rPr>
              <a:t>de </a:t>
            </a:r>
            <a:r>
              <a:rPr sz="2500" spc="-5" dirty="0">
                <a:latin typeface="Arial"/>
                <a:cs typeface="Arial"/>
              </a:rPr>
              <a:t>parámetro </a:t>
            </a:r>
            <a:r>
              <a:rPr sz="2500" dirty="0">
                <a:latin typeface="Arial"/>
                <a:cs typeface="Arial"/>
              </a:rPr>
              <a:t>para poder realizar sus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funciones.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97200" y="3810000"/>
            <a:ext cx="7098030" cy="3280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6540" marR="5080" indent="-244475">
              <a:lnSpc>
                <a:spcPct val="109400"/>
              </a:lnSpc>
              <a:spcBef>
                <a:spcPts val="100"/>
              </a:spcBef>
            </a:pP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function </a:t>
            </a:r>
            <a:r>
              <a:rPr sz="1600" spc="-5" dirty="0">
                <a:latin typeface="Courier New"/>
                <a:cs typeface="Courier New"/>
              </a:rPr>
              <a:t>ReadOnly(target</a:t>
            </a:r>
            <a:r>
              <a:rPr sz="1600" spc="-5" dirty="0">
                <a:solidFill>
                  <a:srgbClr val="D97100"/>
                </a:solidFill>
                <a:latin typeface="Courier New"/>
                <a:cs typeface="Courier New"/>
              </a:rPr>
              <a:t>: </a:t>
            </a:r>
            <a:r>
              <a:rPr sz="1600" spc="-5" dirty="0">
                <a:latin typeface="Courier New"/>
                <a:cs typeface="Courier New"/>
              </a:rPr>
              <a:t>any, </a:t>
            </a:r>
            <a:r>
              <a:rPr sz="1600" dirty="0">
                <a:latin typeface="Courier New"/>
                <a:cs typeface="Courier New"/>
              </a:rPr>
              <a:t>key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: </a:t>
            </a:r>
            <a:r>
              <a:rPr sz="1600" spc="-5" dirty="0">
                <a:latin typeface="Courier New"/>
                <a:cs typeface="Courier New"/>
              </a:rPr>
              <a:t>string) </a:t>
            </a:r>
            <a:r>
              <a:rPr sz="1600" dirty="0">
                <a:latin typeface="Courier New"/>
                <a:cs typeface="Courier New"/>
              </a:rPr>
              <a:t>{  </a:t>
            </a:r>
            <a:endParaRPr lang="es-ES_tradnl" sz="1600" dirty="0">
              <a:latin typeface="Courier New"/>
              <a:cs typeface="Courier New"/>
            </a:endParaRPr>
          </a:p>
          <a:p>
            <a:pPr marL="256540" marR="5080" indent="-244475">
              <a:lnSpc>
                <a:spcPct val="109400"/>
              </a:lnSpc>
              <a:spcBef>
                <a:spcPts val="100"/>
              </a:spcBef>
            </a:pPr>
            <a:r>
              <a:rPr lang="es-ES_tradnl" sz="1600" spc="-5" dirty="0">
                <a:solidFill>
                  <a:srgbClr val="295E99"/>
                </a:solidFill>
                <a:latin typeface="Courier New"/>
                <a:cs typeface="Courier New"/>
              </a:rPr>
              <a:t>	</a:t>
            </a:r>
            <a:r>
              <a:rPr sz="1600" spc="-5" dirty="0">
                <a:solidFill>
                  <a:srgbClr val="295E99"/>
                </a:solidFill>
                <a:latin typeface="Courier New"/>
                <a:cs typeface="Courier New"/>
              </a:rPr>
              <a:t>Object</a:t>
            </a:r>
            <a:r>
              <a:rPr sz="1600" spc="-5" dirty="0">
                <a:latin typeface="Courier New"/>
                <a:cs typeface="Courier New"/>
              </a:rPr>
              <a:t>.defineProperty(target, key, </a:t>
            </a:r>
            <a:r>
              <a:rPr sz="1600" dirty="0">
                <a:latin typeface="Courier New"/>
                <a:cs typeface="Courier New"/>
              </a:rPr>
              <a:t>{ writable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: </a:t>
            </a: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false</a:t>
            </a:r>
            <a:r>
              <a:rPr sz="1600" spc="-65" dirty="0">
                <a:solidFill>
                  <a:srgbClr val="295E9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});</a:t>
            </a: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600" dirty="0">
                <a:latin typeface="Courier New"/>
                <a:cs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256540" marR="5004435" indent="-244475">
              <a:lnSpc>
                <a:spcPct val="109400"/>
              </a:lnSpc>
              <a:spcBef>
                <a:spcPts val="5"/>
              </a:spcBef>
            </a:pP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class </a:t>
            </a:r>
            <a:r>
              <a:rPr sz="1600" spc="-5" dirty="0">
                <a:latin typeface="Courier New"/>
                <a:cs typeface="Courier New"/>
              </a:rPr>
              <a:t>Test </a:t>
            </a:r>
            <a:r>
              <a:rPr sz="1600" dirty="0">
                <a:latin typeface="Courier New"/>
                <a:cs typeface="Courier New"/>
              </a:rPr>
              <a:t>{  </a:t>
            </a:r>
            <a:endParaRPr lang="es-ES_tradnl" sz="1600" dirty="0">
              <a:latin typeface="Courier New"/>
              <a:cs typeface="Courier New"/>
            </a:endParaRPr>
          </a:p>
          <a:p>
            <a:pPr marL="256540" marR="5004435" indent="-244475">
              <a:lnSpc>
                <a:spcPct val="109400"/>
              </a:lnSpc>
              <a:spcBef>
                <a:spcPts val="5"/>
              </a:spcBef>
            </a:pPr>
            <a:r>
              <a:rPr lang="es-ES_tradnl" sz="1600" spc="-5" dirty="0">
                <a:solidFill>
                  <a:srgbClr val="B51700"/>
                </a:solidFill>
                <a:latin typeface="Courier New"/>
                <a:cs typeface="Courier New"/>
              </a:rPr>
              <a:t>	</a:t>
            </a:r>
            <a:r>
              <a:rPr sz="1600" spc="-5" dirty="0">
                <a:solidFill>
                  <a:srgbClr val="B51700"/>
                </a:solidFill>
                <a:latin typeface="Courier New"/>
                <a:cs typeface="Courier New"/>
              </a:rPr>
              <a:t>@</a:t>
            </a:r>
            <a:r>
              <a:rPr sz="1600" spc="-5" dirty="0">
                <a:latin typeface="Courier New"/>
                <a:cs typeface="Courier New"/>
              </a:rPr>
              <a:t>ReadOnly </a:t>
            </a:r>
            <a:r>
              <a:rPr sz="1600" spc="-5" dirty="0">
                <a:solidFill>
                  <a:srgbClr val="A16C00"/>
                </a:solidFill>
                <a:latin typeface="Courier New"/>
                <a:cs typeface="Courier New"/>
              </a:rPr>
              <a:t>//</a:t>
            </a:r>
            <a:r>
              <a:rPr sz="1600" spc="-85" dirty="0">
                <a:solidFill>
                  <a:srgbClr val="A16C00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A16C00"/>
                </a:solidFill>
                <a:latin typeface="Courier New"/>
                <a:cs typeface="Courier New"/>
              </a:rPr>
              <a:t>no  </a:t>
            </a:r>
            <a:r>
              <a:rPr sz="1600" dirty="0">
                <a:latin typeface="Courier New"/>
                <a:cs typeface="Courier New"/>
              </a:rPr>
              <a:t>name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:</a:t>
            </a:r>
            <a:r>
              <a:rPr sz="1600" spc="-35" dirty="0">
                <a:solidFill>
                  <a:srgbClr val="D971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string;</a:t>
            </a: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600" dirty="0">
                <a:latin typeface="Courier New"/>
                <a:cs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2700" marR="4516755">
              <a:lnSpc>
                <a:spcPct val="109400"/>
              </a:lnSpc>
            </a:pP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const </a:t>
            </a:r>
            <a:r>
              <a:rPr sz="1600" dirty="0">
                <a:latin typeface="Courier New"/>
                <a:cs typeface="Courier New"/>
              </a:rPr>
              <a:t>t 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= </a:t>
            </a: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new</a:t>
            </a:r>
            <a:r>
              <a:rPr sz="1600" spc="-100" dirty="0">
                <a:solidFill>
                  <a:srgbClr val="295E9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Test();  </a:t>
            </a:r>
            <a:r>
              <a:rPr sz="1600" spc="-5" dirty="0">
                <a:latin typeface="Courier New"/>
                <a:cs typeface="Courier New"/>
              </a:rPr>
              <a:t>t.name 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=</a:t>
            </a:r>
            <a:r>
              <a:rPr sz="1600" spc="-20" dirty="0">
                <a:solidFill>
                  <a:srgbClr val="D971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5EA702"/>
                </a:solidFill>
                <a:latin typeface="Courier New"/>
                <a:cs typeface="Courier New"/>
              </a:rPr>
              <a:t>'jan'</a:t>
            </a:r>
            <a:r>
              <a:rPr sz="1600" dirty="0">
                <a:latin typeface="Courier New"/>
                <a:cs typeface="Courier New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600" spc="-5" dirty="0">
                <a:latin typeface="Courier New"/>
                <a:cs typeface="Courier New"/>
              </a:rPr>
              <a:t>console.log(t.name); </a:t>
            </a:r>
            <a:r>
              <a:rPr sz="1600" spc="-5" dirty="0">
                <a:solidFill>
                  <a:srgbClr val="A16C00"/>
                </a:solidFill>
                <a:latin typeface="Courier New"/>
                <a:cs typeface="Courier New"/>
              </a:rPr>
              <a:t>//</a:t>
            </a:r>
            <a:r>
              <a:rPr sz="1600" spc="-10" dirty="0">
                <a:solidFill>
                  <a:srgbClr val="A16C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A16C00"/>
                </a:solidFill>
                <a:latin typeface="Courier New"/>
                <a:cs typeface="Courier New"/>
              </a:rPr>
              <a:t>'undefined'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7300" y="7825575"/>
            <a:ext cx="9521190" cy="77279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241300" marR="5080" indent="-228600">
              <a:lnSpc>
                <a:spcPts val="2880"/>
              </a:lnSpc>
              <a:spcBef>
                <a:spcPts val="295"/>
              </a:spcBef>
              <a:buChar char="•"/>
              <a:tabLst>
                <a:tab pos="241300" algn="l"/>
              </a:tabLst>
            </a:pPr>
            <a:r>
              <a:rPr sz="2500" dirty="0">
                <a:latin typeface="Arial"/>
                <a:cs typeface="Arial"/>
              </a:rPr>
              <a:t>En </a:t>
            </a:r>
            <a:r>
              <a:rPr sz="2500" spc="-5" dirty="0">
                <a:latin typeface="Arial"/>
                <a:cs typeface="Arial"/>
              </a:rPr>
              <a:t>este </a:t>
            </a:r>
            <a:r>
              <a:rPr sz="2500" dirty="0">
                <a:latin typeface="Arial"/>
                <a:cs typeface="Arial"/>
              </a:rPr>
              <a:t>caso, se </a:t>
            </a:r>
            <a:r>
              <a:rPr sz="2500" spc="-5" dirty="0">
                <a:latin typeface="Arial"/>
                <a:cs typeface="Arial"/>
              </a:rPr>
              <a:t>define </a:t>
            </a:r>
            <a:r>
              <a:rPr sz="2500" dirty="0">
                <a:latin typeface="Arial"/>
                <a:cs typeface="Arial"/>
              </a:rPr>
              <a:t>la propiedad como de sólo </a:t>
            </a:r>
            <a:r>
              <a:rPr sz="2500" spc="-5" dirty="0">
                <a:latin typeface="Arial"/>
                <a:cs typeface="Arial"/>
              </a:rPr>
              <a:t>lectura </a:t>
            </a:r>
            <a:r>
              <a:rPr sz="2500" dirty="0">
                <a:latin typeface="Arial"/>
                <a:cs typeface="Arial"/>
              </a:rPr>
              <a:t>y no se  puede </a:t>
            </a:r>
            <a:r>
              <a:rPr sz="2500" spc="-5" dirty="0">
                <a:latin typeface="Arial"/>
                <a:cs typeface="Arial"/>
              </a:rPr>
              <a:t>modificar </a:t>
            </a:r>
            <a:r>
              <a:rPr sz="2500" dirty="0">
                <a:latin typeface="Arial"/>
                <a:cs typeface="Arial"/>
              </a:rPr>
              <a:t>una vez creada la </a:t>
            </a:r>
            <a:r>
              <a:rPr sz="2500" spc="-5" dirty="0">
                <a:latin typeface="Arial"/>
                <a:cs typeface="Arial"/>
              </a:rPr>
              <a:t>instancia </a:t>
            </a:r>
            <a:r>
              <a:rPr sz="2500" dirty="0">
                <a:latin typeface="Arial"/>
                <a:cs typeface="Arial"/>
              </a:rPr>
              <a:t>de la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clase.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9300" y="1104900"/>
            <a:ext cx="64274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TypeScript </a:t>
            </a:r>
            <a:r>
              <a:rPr dirty="0"/>
              <a:t>-</a:t>
            </a:r>
            <a:r>
              <a:rPr spc="-45" dirty="0"/>
              <a:t> </a:t>
            </a:r>
            <a:r>
              <a:rPr spc="35" dirty="0"/>
              <a:t>Decoradores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300" y="2492450"/>
            <a:ext cx="10191115" cy="187642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41300" marR="5080" indent="-228600">
              <a:lnSpc>
                <a:spcPts val="2870"/>
              </a:lnSpc>
              <a:spcBef>
                <a:spcPts val="300"/>
              </a:spcBef>
              <a:buChar char="•"/>
              <a:tabLst>
                <a:tab pos="241300" algn="l"/>
              </a:tabLst>
            </a:pPr>
            <a:r>
              <a:rPr sz="3750" baseline="1111" dirty="0">
                <a:latin typeface="Arial"/>
                <a:cs typeface="Arial"/>
              </a:rPr>
              <a:t>Si aplicamos un decorador sobre una clase, el </a:t>
            </a:r>
            <a:r>
              <a:rPr sz="3750" i="1" spc="-7" baseline="1111" dirty="0">
                <a:latin typeface="Arial"/>
                <a:cs typeface="Arial"/>
              </a:rPr>
              <a:t>target </a:t>
            </a:r>
            <a:r>
              <a:rPr sz="3750" baseline="1111" dirty="0">
                <a:latin typeface="Arial"/>
                <a:cs typeface="Arial"/>
              </a:rPr>
              <a:t>que usemos</a:t>
            </a:r>
            <a:r>
              <a:rPr sz="3750" spc="-157" baseline="1111" dirty="0">
                <a:latin typeface="Arial"/>
                <a:cs typeface="Arial"/>
              </a:rPr>
              <a:t> </a:t>
            </a:r>
            <a:r>
              <a:rPr sz="3750" baseline="1111" dirty="0">
                <a:latin typeface="Arial"/>
                <a:cs typeface="Arial"/>
              </a:rPr>
              <a:t>será </a:t>
            </a:r>
            <a:r>
              <a:rPr sz="2500" dirty="0">
                <a:latin typeface="Arial"/>
                <a:cs typeface="Arial"/>
              </a:rPr>
              <a:t> la propia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clase.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2550">
              <a:latin typeface="Times New Roman"/>
              <a:cs typeface="Times New Roman"/>
            </a:endParaRPr>
          </a:p>
          <a:p>
            <a:pPr marL="241300" marR="73660" indent="-228600">
              <a:lnSpc>
                <a:spcPts val="2870"/>
              </a:lnSpc>
              <a:buChar char="•"/>
              <a:tabLst>
                <a:tab pos="241300" algn="l"/>
              </a:tabLst>
            </a:pPr>
            <a:r>
              <a:rPr sz="3750" baseline="1111" dirty="0">
                <a:latin typeface="Arial"/>
                <a:cs typeface="Arial"/>
              </a:rPr>
              <a:t>La ejecución de la </a:t>
            </a:r>
            <a:r>
              <a:rPr sz="3750" spc="-7" baseline="1111" dirty="0">
                <a:latin typeface="Arial"/>
                <a:cs typeface="Arial"/>
              </a:rPr>
              <a:t>función representada </a:t>
            </a:r>
            <a:r>
              <a:rPr sz="3750" baseline="1111" dirty="0">
                <a:latin typeface="Arial"/>
                <a:cs typeface="Arial"/>
              </a:rPr>
              <a:t>por el decorador se producirá </a:t>
            </a:r>
            <a:r>
              <a:rPr sz="2500" dirty="0">
                <a:latin typeface="Arial"/>
                <a:cs typeface="Arial"/>
              </a:rPr>
              <a:t> cada vez que se cree una </a:t>
            </a:r>
            <a:r>
              <a:rPr sz="2500" spc="-5" dirty="0">
                <a:latin typeface="Arial"/>
                <a:cs typeface="Arial"/>
              </a:rPr>
              <a:t>instancia </a:t>
            </a:r>
            <a:r>
              <a:rPr sz="2500" dirty="0">
                <a:latin typeface="Arial"/>
                <a:cs typeface="Arial"/>
              </a:rPr>
              <a:t>de la clase</a:t>
            </a:r>
            <a:r>
              <a:rPr sz="2500" spc="-2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decorada.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9300" y="1104900"/>
            <a:ext cx="64274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TypeScript </a:t>
            </a:r>
            <a:r>
              <a:rPr dirty="0"/>
              <a:t>-</a:t>
            </a:r>
            <a:r>
              <a:rPr spc="-45" dirty="0"/>
              <a:t> </a:t>
            </a:r>
            <a:r>
              <a:rPr spc="35" dirty="0"/>
              <a:t>Decoradores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300" y="2721050"/>
            <a:ext cx="10350500" cy="77152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41300" marR="5080" indent="-228600">
              <a:lnSpc>
                <a:spcPts val="2870"/>
              </a:lnSpc>
              <a:spcBef>
                <a:spcPts val="300"/>
              </a:spcBef>
              <a:buChar char="•"/>
              <a:tabLst>
                <a:tab pos="241300" algn="l"/>
              </a:tabLst>
            </a:pPr>
            <a:r>
              <a:rPr sz="3750" baseline="1111" dirty="0">
                <a:latin typeface="Arial"/>
                <a:cs typeface="Arial"/>
              </a:rPr>
              <a:t>En el </a:t>
            </a:r>
            <a:r>
              <a:rPr sz="3750" spc="-7" baseline="1111" dirty="0">
                <a:latin typeface="Arial"/>
                <a:cs typeface="Arial"/>
              </a:rPr>
              <a:t>siguiente </a:t>
            </a:r>
            <a:r>
              <a:rPr sz="3750" baseline="1111" dirty="0">
                <a:latin typeface="Arial"/>
                <a:cs typeface="Arial"/>
              </a:rPr>
              <a:t>ejemplo vemos cómo aplicar un decorador sobre uno</a:t>
            </a:r>
            <a:r>
              <a:rPr sz="3750" spc="-104" baseline="1111" dirty="0">
                <a:latin typeface="Arial"/>
                <a:cs typeface="Arial"/>
              </a:rPr>
              <a:t> </a:t>
            </a:r>
            <a:r>
              <a:rPr sz="3750" baseline="1111" dirty="0">
                <a:latin typeface="Arial"/>
                <a:cs typeface="Arial"/>
              </a:rPr>
              <a:t>de </a:t>
            </a:r>
            <a:r>
              <a:rPr sz="2500" dirty="0">
                <a:latin typeface="Arial"/>
                <a:cs typeface="Arial"/>
              </a:rPr>
              <a:t> los </a:t>
            </a:r>
            <a:r>
              <a:rPr sz="2500" spc="-5" dirty="0">
                <a:latin typeface="Arial"/>
                <a:cs typeface="Arial"/>
              </a:rPr>
              <a:t>parámetros </a:t>
            </a:r>
            <a:r>
              <a:rPr sz="2500" dirty="0">
                <a:latin typeface="Arial"/>
                <a:cs typeface="Arial"/>
              </a:rPr>
              <a:t>de un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método.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49400" y="4371340"/>
            <a:ext cx="9780905" cy="29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6540" marR="5080" indent="-244475">
              <a:lnSpc>
                <a:spcPct val="109400"/>
              </a:lnSpc>
              <a:spcBef>
                <a:spcPts val="100"/>
              </a:spcBef>
            </a:pP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function </a:t>
            </a:r>
            <a:r>
              <a:rPr sz="1600" spc="-5" dirty="0">
                <a:latin typeface="Courier New"/>
                <a:cs typeface="Courier New"/>
              </a:rPr>
              <a:t>logPosition(target</a:t>
            </a:r>
            <a:r>
              <a:rPr sz="1600" spc="-5" dirty="0">
                <a:solidFill>
                  <a:srgbClr val="D97100"/>
                </a:solidFill>
                <a:latin typeface="Courier New"/>
                <a:cs typeface="Courier New"/>
              </a:rPr>
              <a:t>: </a:t>
            </a:r>
            <a:r>
              <a:rPr sz="1600" spc="-5" dirty="0">
                <a:latin typeface="Courier New"/>
                <a:cs typeface="Courier New"/>
              </a:rPr>
              <a:t>any, </a:t>
            </a:r>
            <a:r>
              <a:rPr sz="1600" dirty="0">
                <a:latin typeface="Courier New"/>
                <a:cs typeface="Courier New"/>
              </a:rPr>
              <a:t>propertyKey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: </a:t>
            </a:r>
            <a:r>
              <a:rPr sz="1600" spc="-5" dirty="0">
                <a:latin typeface="Courier New"/>
                <a:cs typeface="Courier New"/>
              </a:rPr>
              <a:t>string, </a:t>
            </a:r>
            <a:r>
              <a:rPr sz="1600" dirty="0">
                <a:latin typeface="Courier New"/>
                <a:cs typeface="Courier New"/>
              </a:rPr>
              <a:t>parameterIndex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: </a:t>
            </a:r>
            <a:r>
              <a:rPr sz="1600" spc="-5" dirty="0">
                <a:latin typeface="Courier New"/>
                <a:cs typeface="Courier New"/>
              </a:rPr>
              <a:t>number) </a:t>
            </a:r>
            <a:r>
              <a:rPr sz="1600" dirty="0">
                <a:latin typeface="Courier New"/>
                <a:cs typeface="Courier New"/>
              </a:rPr>
              <a:t>{  console.log(parameterIndex);</a:t>
            </a: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600" dirty="0">
                <a:latin typeface="Courier New"/>
                <a:cs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class </a:t>
            </a:r>
            <a:r>
              <a:rPr sz="1600" spc="-5" dirty="0">
                <a:latin typeface="Courier New"/>
                <a:cs typeface="Courier New"/>
              </a:rPr>
              <a:t>Cow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{</a:t>
            </a:r>
          </a:p>
          <a:p>
            <a:pPr marL="500380" marR="4516120" indent="-244475">
              <a:lnSpc>
                <a:spcPct val="109400"/>
              </a:lnSpc>
            </a:pPr>
            <a:r>
              <a:rPr sz="1600" dirty="0">
                <a:latin typeface="Courier New"/>
                <a:cs typeface="Courier New"/>
              </a:rPr>
              <a:t>say(b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: </a:t>
            </a:r>
            <a:r>
              <a:rPr sz="1600" spc="-5" dirty="0">
                <a:latin typeface="Courier New"/>
                <a:cs typeface="Courier New"/>
              </a:rPr>
              <a:t>string, </a:t>
            </a:r>
            <a:r>
              <a:rPr sz="1600" spc="-5" dirty="0">
                <a:solidFill>
                  <a:srgbClr val="B51700"/>
                </a:solidFill>
                <a:latin typeface="Courier New"/>
                <a:cs typeface="Courier New"/>
              </a:rPr>
              <a:t>@</a:t>
            </a:r>
            <a:r>
              <a:rPr sz="1600" spc="-5" dirty="0">
                <a:latin typeface="Courier New"/>
                <a:cs typeface="Courier New"/>
              </a:rPr>
              <a:t>logPosition </a:t>
            </a:r>
            <a:r>
              <a:rPr sz="1600" dirty="0">
                <a:latin typeface="Courier New"/>
                <a:cs typeface="Courier New"/>
              </a:rPr>
              <a:t>c</a:t>
            </a:r>
            <a:r>
              <a:rPr sz="1600" dirty="0">
                <a:solidFill>
                  <a:srgbClr val="D97100"/>
                </a:solidFill>
                <a:latin typeface="Courier New"/>
                <a:cs typeface="Courier New"/>
              </a:rPr>
              <a:t>: </a:t>
            </a:r>
            <a:r>
              <a:rPr sz="1600" spc="-5" dirty="0">
                <a:solidFill>
                  <a:srgbClr val="295E99"/>
                </a:solidFill>
                <a:latin typeface="Courier New"/>
                <a:cs typeface="Courier New"/>
              </a:rPr>
              <a:t>boolean</a:t>
            </a:r>
            <a:r>
              <a:rPr sz="1600" spc="-5" dirty="0">
                <a:latin typeface="Courier New"/>
                <a:cs typeface="Courier New"/>
              </a:rPr>
              <a:t>) </a:t>
            </a:r>
            <a:r>
              <a:rPr sz="1600" dirty="0">
                <a:latin typeface="Courier New"/>
                <a:cs typeface="Courier New"/>
              </a:rPr>
              <a:t>{  console.log(b);</a:t>
            </a:r>
          </a:p>
          <a:p>
            <a:pPr marL="256540">
              <a:lnSpc>
                <a:spcPct val="100000"/>
              </a:lnSpc>
              <a:spcBef>
                <a:spcPts val="180"/>
              </a:spcBef>
            </a:pPr>
            <a:r>
              <a:rPr sz="1600" dirty="0">
                <a:latin typeface="Courier New"/>
                <a:cs typeface="Courier New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600" dirty="0">
                <a:latin typeface="Courier New"/>
                <a:cs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new </a:t>
            </a:r>
            <a:r>
              <a:rPr sz="1600" dirty="0">
                <a:latin typeface="Courier New"/>
                <a:cs typeface="Courier New"/>
              </a:rPr>
              <a:t>Cow().say(</a:t>
            </a:r>
            <a:r>
              <a:rPr sz="1600" dirty="0">
                <a:solidFill>
                  <a:srgbClr val="5EA702"/>
                </a:solidFill>
                <a:latin typeface="Courier New"/>
                <a:cs typeface="Courier New"/>
              </a:rPr>
              <a:t>'hello'</a:t>
            </a:r>
            <a:r>
              <a:rPr sz="1600" dirty="0">
                <a:latin typeface="Courier New"/>
                <a:cs typeface="Courier New"/>
              </a:rPr>
              <a:t>,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95E99"/>
                </a:solidFill>
                <a:latin typeface="Courier New"/>
                <a:cs typeface="Courier New"/>
              </a:rPr>
              <a:t>false</a:t>
            </a:r>
            <a:r>
              <a:rPr sz="1600" dirty="0">
                <a:latin typeface="Courier New"/>
                <a:cs typeface="Courier New"/>
              </a:rPr>
              <a:t>);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A8A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2544</TotalTime>
  <Words>2722</Words>
  <Application>Microsoft Macintosh PowerPoint</Application>
  <PresentationFormat>Personalizado</PresentationFormat>
  <Paragraphs>341</Paragraphs>
  <Slides>36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1" baseType="lpstr">
      <vt:lpstr>Arial</vt:lpstr>
      <vt:lpstr>Calibri</vt:lpstr>
      <vt:lpstr>Courier New</vt:lpstr>
      <vt:lpstr>Times New Roman</vt:lpstr>
      <vt:lpstr>Office Theme</vt:lpstr>
      <vt:lpstr>TypeScript</vt:lpstr>
      <vt:lpstr>TypeScript</vt:lpstr>
      <vt:lpstr>TypeScript</vt:lpstr>
      <vt:lpstr>TypeScript - TSC</vt:lpstr>
      <vt:lpstr>TypeScript - TSC</vt:lpstr>
      <vt:lpstr>TypeScript - TSC</vt:lpstr>
      <vt:lpstr>TypeScript - TSC</vt:lpstr>
      <vt:lpstr>TypeScript - TSC</vt:lpstr>
      <vt:lpstr>TypeScript - TSC</vt:lpstr>
      <vt:lpstr>TypeScript - TSC</vt:lpstr>
      <vt:lpstr>TypeScript - Types</vt:lpstr>
      <vt:lpstr>TypeScript - Types</vt:lpstr>
      <vt:lpstr>TypeScript - Types</vt:lpstr>
      <vt:lpstr>TypeScript - Types</vt:lpstr>
      <vt:lpstr>TypeScript - Types</vt:lpstr>
      <vt:lpstr>TypeScript - Types</vt:lpstr>
      <vt:lpstr>TypeScript - Types</vt:lpstr>
      <vt:lpstr>TypeScript - Types</vt:lpstr>
      <vt:lpstr>TypeScript - Types</vt:lpstr>
      <vt:lpstr>TypeScript - Types</vt:lpstr>
      <vt:lpstr>TypeScript - Types</vt:lpstr>
      <vt:lpstr>TypeScript - Types</vt:lpstr>
      <vt:lpstr>TypeScript - Types</vt:lpstr>
      <vt:lpstr>TypeScript - Funciones</vt:lpstr>
      <vt:lpstr>TypeScript - Funciones</vt:lpstr>
      <vt:lpstr>TypeScript - Interfaces</vt:lpstr>
      <vt:lpstr>TypeScript - Interfaces</vt:lpstr>
      <vt:lpstr>TypeScript - Interfaces</vt:lpstr>
      <vt:lpstr>TypeScript - Interfaces</vt:lpstr>
      <vt:lpstr>TypeScript - Decoradores</vt:lpstr>
      <vt:lpstr>TypeScript - Decoradores</vt:lpstr>
      <vt:lpstr>TypeScript - Decoradores</vt:lpstr>
      <vt:lpstr>TypeScript - Decoradores</vt:lpstr>
      <vt:lpstr>TypeScript - Decoradores</vt:lpstr>
      <vt:lpstr>TypeScript - Decoradores</vt:lpstr>
      <vt:lpstr>TypeScript - Decoradores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3 Introducción a TypeScript</dc:title>
  <cp:lastModifiedBy>Microsoft Office User</cp:lastModifiedBy>
  <cp:revision>13</cp:revision>
  <dcterms:created xsi:type="dcterms:W3CDTF">2018-10-08T07:44:04Z</dcterms:created>
  <dcterms:modified xsi:type="dcterms:W3CDTF">2021-03-01T11:41:08Z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2018-10-08T00:00:00Z</vt:filetime>
  </property>
</Properties>
</file>